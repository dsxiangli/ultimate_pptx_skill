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s01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A">
              <a:alpha val="100000"/>
            </a:srgbClr>
          </a:solidFill>
          <a:ln w="9525">
            <a:solidFill>
              <a:srgbClr val="EEF2E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01_grid_h_118"/>
          <p:cNvSpPr/>
          <p:nvPr/>
        </p:nvSpPr>
        <p:spPr>
          <a:xfrm>
            <a:off x="762000" y="1123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s01_grid_h_222"/>
          <p:cNvSpPr/>
          <p:nvPr/>
        </p:nvSpPr>
        <p:spPr>
          <a:xfrm>
            <a:off x="762000" y="21145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s01_grid_h_326"/>
          <p:cNvSpPr/>
          <p:nvPr/>
        </p:nvSpPr>
        <p:spPr>
          <a:xfrm>
            <a:off x="762000" y="31051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s01_grid_h_43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s01_grid_h_534"/>
          <p:cNvSpPr/>
          <p:nvPr/>
        </p:nvSpPr>
        <p:spPr>
          <a:xfrm>
            <a:off x="762000" y="50863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s01_grid_h_638"/>
          <p:cNvSpPr/>
          <p:nvPr/>
        </p:nvSpPr>
        <p:spPr>
          <a:xfrm>
            <a:off x="762000" y="6076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s01_grid_v_1040"/>
          <p:cNvSpPr/>
          <p:nvPr/>
        </p:nvSpPr>
        <p:spPr>
          <a:xfrm>
            <a:off x="990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s01_grid_v_1200"/>
          <p:cNvSpPr/>
          <p:nvPr/>
        </p:nvSpPr>
        <p:spPr>
          <a:xfrm>
            <a:off x="1143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s01_grid_v_240"/>
          <p:cNvSpPr/>
          <p:nvPr/>
        </p:nvSpPr>
        <p:spPr>
          <a:xfrm>
            <a:off x="228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s01_grid_v_400"/>
          <p:cNvSpPr/>
          <p:nvPr/>
        </p:nvSpPr>
        <p:spPr>
          <a:xfrm>
            <a:off x="381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s01_grid_v_560"/>
          <p:cNvSpPr/>
          <p:nvPr/>
        </p:nvSpPr>
        <p:spPr>
          <a:xfrm>
            <a:off x="5334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s01_grid_v_720"/>
          <p:cNvSpPr/>
          <p:nvPr/>
        </p:nvSpPr>
        <p:spPr>
          <a:xfrm>
            <a:off x="6858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s01_grid_v_80"/>
          <p:cNvSpPr/>
          <p:nvPr/>
        </p:nvSpPr>
        <p:spPr>
          <a:xfrm>
            <a:off x="76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01_grid_v_880"/>
          <p:cNvSpPr/>
          <p:nvPr/>
        </p:nvSpPr>
        <p:spPr>
          <a:xfrm>
            <a:off x="838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s01_route_primary"/>
          <p:cNvSpPr/>
          <p:nvPr/>
        </p:nvSpPr>
        <p:spPr>
          <a:xfrm>
            <a:off x="914400" y="2381250"/>
            <a:ext cx="5562600" cy="57150"/>
          </a:xfrm>
          <a:prstGeom prst="rect">
            <a:avLst/>
          </a:prstGeom>
          <a:solidFill>
            <a:srgbClr val="173B67">
              <a:alpha val="52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s01_route_secondary"/>
          <p:cNvSpPr/>
          <p:nvPr/>
        </p:nvSpPr>
        <p:spPr>
          <a:xfrm>
            <a:off x="1695450" y="5067300"/>
            <a:ext cx="4476750" cy="476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s01_node_1"/>
          <p:cNvSpPr/>
          <p:nvPr/>
        </p:nvSpPr>
        <p:spPr>
          <a:xfrm>
            <a:off x="6743700" y="2381250"/>
            <a:ext cx="95250" cy="95250"/>
          </a:xfrm>
          <a:prstGeom prst="rect">
            <a:avLst/>
          </a:prstGeom>
          <a:solidFill>
            <a:srgbClr val="173B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s01_node_2"/>
          <p:cNvSpPr/>
          <p:nvPr/>
        </p:nvSpPr>
        <p:spPr>
          <a:xfrm>
            <a:off x="6705600" y="5067300"/>
            <a:ext cx="95250" cy="95250"/>
          </a:xfrm>
          <a:prstGeom prst="rect">
            <a:avLst/>
          </a:prstGeom>
          <a:solidFill>
            <a:srgbClr val="23624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s01_node_3"/>
          <p:cNvSpPr/>
          <p:nvPr/>
        </p:nvSpPr>
        <p:spPr>
          <a:xfrm>
            <a:off x="11049000" y="2381250"/>
            <a:ext cx="95250" cy="95250"/>
          </a:xfrm>
          <a:prstGeom prst="rect">
            <a:avLst/>
          </a:prstGeom>
          <a:solidFill>
            <a:srgbClr val="8C5A2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s01_zone_bottom"/>
          <p:cNvSpPr/>
          <p:nvPr/>
        </p:nvSpPr>
        <p:spPr>
          <a:xfrm>
            <a:off x="838200" y="3905250"/>
            <a:ext cx="5810250" cy="1466850"/>
          </a:xfrm>
          <a:prstGeom prst="rect">
            <a:avLst/>
          </a:prstGeom>
          <a:solidFill>
            <a:srgbClr val="D3DED4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s01_zone_left"/>
          <p:cNvSpPr/>
          <p:nvPr/>
        </p:nvSpPr>
        <p:spPr>
          <a:xfrm>
            <a:off x="762000" y="2114550"/>
            <a:ext cx="5943600" cy="1428750"/>
          </a:xfrm>
          <a:prstGeom prst="rect">
            <a:avLst/>
          </a:prstGeom>
          <a:solidFill>
            <a:srgbClr val="E1E8D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s01_zone_right"/>
          <p:cNvSpPr/>
          <p:nvPr/>
        </p:nvSpPr>
        <p:spPr>
          <a:xfrm>
            <a:off x="6896100" y="2114550"/>
            <a:ext cx="4572000" cy="3200400"/>
          </a:xfrm>
          <a:prstGeom prst="rect">
            <a:avLst/>
          </a:prstGeom>
          <a:solidFill>
            <a:srgbClr val="FBFCF7">
              <a:alpha val="96000"/>
            </a:srgbClr>
          </a:solidFill>
          <a:ln w="9525">
            <a:solidFill>
              <a:srgbClr val="72857B">
                <a:alpha val="2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s01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34E48"/>
                </a:solidFill>
                <a:latin typeface="Aptos"/>
              </a:rPr>
              <a:t>MARKET ATLAS / ZONE-01</a:t>
            </a:r>
          </a:p>
        </p:txBody>
      </p:sp>
      <p:sp>
        <p:nvSpPr>
          <p:cNvPr id="26" name="ls01_legend_1"/>
          <p:cNvSpPr txBox="1"/>
          <p:nvPr/>
        </p:nvSpPr>
        <p:spPr>
          <a:xfrm>
            <a:off x="7067550" y="19621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334E48"/>
                </a:solidFill>
                <a:latin typeface="Aptos"/>
              </a:rPr>
              <a:t>SIGNAL FIELD</a:t>
            </a:r>
          </a:p>
        </p:txBody>
      </p:sp>
      <p:sp>
        <p:nvSpPr>
          <p:cNvPr id="27" name="ls01_legend_2"/>
          <p:cNvSpPr txBox="1"/>
          <p:nvPr/>
        </p:nvSpPr>
        <p:spPr>
          <a:xfrm>
            <a:off x="914400" y="38290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23624D"/>
                </a:solidFill>
                <a:latin typeface="Aptos"/>
              </a:rPr>
              <a:t>ALLOCATION ROUTE</a:t>
            </a:r>
          </a:p>
        </p:txBody>
      </p:sp>
      <p:sp>
        <p:nvSpPr>
          <p:cNvPr id="28" name="ls01_kicker"/>
          <p:cNvSpPr txBox="1"/>
          <p:nvPr/>
        </p:nvSpPr>
        <p:spPr>
          <a:xfrm>
            <a:off x="781050" y="74295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 Display"/>
              </a:rPr>
              <a:t>投委会策略 / 2026Q3 / visual-language-demo</a:t>
            </a:r>
          </a:p>
        </p:txBody>
      </p:sp>
      <p:sp>
        <p:nvSpPr>
          <p:cNvPr id="29" name="ls01_title"/>
          <p:cNvSpPr txBox="1"/>
          <p:nvPr/>
        </p:nvSpPr>
        <p:spPr>
          <a:xfrm>
            <a:off x="781050" y="933450"/>
            <a:ext cx="609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E2723"/>
                </a:solidFill>
                <a:latin typeface="Aptos Display"/>
              </a:rPr>
              <a:t>三季度资产配置建议：从防守确定性转向有纪律的风险再配置</a:t>
            </a:r>
          </a:p>
        </p:txBody>
      </p:sp>
      <p:sp>
        <p:nvSpPr>
          <p:cNvPr id="30" name="ls01_subtitle"/>
          <p:cNvSpPr txBox="1"/>
          <p:nvPr/>
        </p:nvSpPr>
        <p:spPr>
          <a:xfrm>
            <a:off x="800100" y="169545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E48"/>
                </a:solidFill>
                <a:latin typeface="Aptos"/>
              </a:rPr>
              <a:t>模拟真实用户输入的15页端到端 benchmark deck</a:t>
            </a:r>
          </a:p>
        </p:txBody>
      </p:sp>
      <p:sp>
        <p:nvSpPr>
          <p:cNvPr id="31" name="ls01_body_1"/>
          <p:cNvSpPr txBox="1"/>
          <p:nvPr/>
        </p:nvSpPr>
        <p:spPr>
          <a:xfrm>
            <a:off x="838200" y="2114550"/>
            <a:ext cx="4762500" cy="410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核心判断：宏观尾部风险下降，但盈利确认仍需等待；组合从纯防守转向结构性风险再配置。</a:t>
            </a:r>
          </a:p>
        </p:txBody>
      </p:sp>
      <p:sp>
        <p:nvSpPr>
          <p:cNvPr id="32" name="ls01_body_2"/>
          <p:cNvSpPr txBox="1"/>
          <p:nvPr/>
        </p:nvSpPr>
        <p:spPr>
          <a:xfrm>
            <a:off x="838200" y="2601468"/>
            <a:ext cx="4762500" cy="410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目标：在不突破回撤预算的前提下，提高权益与商品对组合弹性的贡献。</a:t>
            </a:r>
          </a:p>
        </p:txBody>
      </p:sp>
      <p:sp>
        <p:nvSpPr>
          <p:cNvPr id="33" name="ls01_metric_1_chip"/>
          <p:cNvSpPr/>
          <p:nvPr/>
        </p:nvSpPr>
        <p:spPr>
          <a:xfrm>
            <a:off x="71247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23624D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s01_metric_1_label"/>
          <p:cNvSpPr txBox="1"/>
          <p:nvPr/>
        </p:nvSpPr>
        <p:spPr>
          <a:xfrm>
            <a:off x="72390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组合目标波动</a:t>
            </a:r>
          </a:p>
        </p:txBody>
      </p:sp>
      <p:sp>
        <p:nvSpPr>
          <p:cNvPr id="35" name="ls01_metric_1_value"/>
          <p:cNvSpPr txBox="1"/>
          <p:nvPr/>
        </p:nvSpPr>
        <p:spPr>
          <a:xfrm>
            <a:off x="72390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6.8%</a:t>
            </a:r>
          </a:p>
        </p:txBody>
      </p:sp>
      <p:sp>
        <p:nvSpPr>
          <p:cNvPr id="36" name="ls01_metric_1_delta"/>
          <p:cNvSpPr txBox="1"/>
          <p:nvPr/>
        </p:nvSpPr>
        <p:spPr>
          <a:xfrm>
            <a:off x="72390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23624D"/>
                </a:solidFill>
                <a:latin typeface="Arial Narrow"/>
              </a:rPr>
              <a:t>年化预算</a:t>
            </a:r>
          </a:p>
        </p:txBody>
      </p:sp>
      <p:sp>
        <p:nvSpPr>
          <p:cNvPr id="37" name="ls01_metric_2_chip"/>
          <p:cNvSpPr/>
          <p:nvPr/>
        </p:nvSpPr>
        <p:spPr>
          <a:xfrm>
            <a:off x="86106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8C5A2B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s01_metric_2_label"/>
          <p:cNvSpPr txBox="1"/>
          <p:nvPr/>
        </p:nvSpPr>
        <p:spPr>
          <a:xfrm>
            <a:off x="87249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最大回撤预算</a:t>
            </a:r>
          </a:p>
        </p:txBody>
      </p:sp>
      <p:sp>
        <p:nvSpPr>
          <p:cNvPr id="39" name="ls01_metric_2_value"/>
          <p:cNvSpPr txBox="1"/>
          <p:nvPr/>
        </p:nvSpPr>
        <p:spPr>
          <a:xfrm>
            <a:off x="87249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4.5%</a:t>
            </a:r>
          </a:p>
        </p:txBody>
      </p:sp>
      <p:sp>
        <p:nvSpPr>
          <p:cNvPr id="40" name="ls01_metric_2_delta"/>
          <p:cNvSpPr txBox="1"/>
          <p:nvPr/>
        </p:nvSpPr>
        <p:spPr>
          <a:xfrm>
            <a:off x="87249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8C5A2B"/>
                </a:solidFill>
                <a:latin typeface="Arial Narrow"/>
              </a:rPr>
              <a:t>硬约束</a:t>
            </a:r>
          </a:p>
        </p:txBody>
      </p:sp>
      <p:sp>
        <p:nvSpPr>
          <p:cNvPr id="41" name="ls01_metric_3_chip"/>
          <p:cNvSpPr/>
          <p:nvPr/>
        </p:nvSpPr>
        <p:spPr>
          <a:xfrm>
            <a:off x="100965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173B67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s01_allocation_route_spine"/>
          <p:cNvSpPr/>
          <p:nvPr/>
        </p:nvSpPr>
        <p:spPr>
          <a:xfrm>
            <a:off x="1409700" y="4400550"/>
            <a:ext cx="3733800" cy="28575"/>
          </a:xfrm>
          <a:prstGeom prst="rect">
            <a:avLst/>
          </a:prstGeom>
          <a:solidFill>
            <a:srgbClr val="23624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s01_metric_3_label"/>
          <p:cNvSpPr txBox="1"/>
          <p:nvPr/>
        </p:nvSpPr>
        <p:spPr>
          <a:xfrm>
            <a:off x="102108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权益风险预算</a:t>
            </a:r>
          </a:p>
        </p:txBody>
      </p:sp>
      <p:sp>
        <p:nvSpPr>
          <p:cNvPr id="44" name="ls01_right_field_head"/>
          <p:cNvSpPr txBox="1"/>
          <p:nvPr/>
        </p:nvSpPr>
        <p:spPr>
          <a:xfrm>
            <a:off x="7124700" y="3257550"/>
            <a:ext cx="3143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BUDGET CORRIDOR / DECISION MAP</a:t>
            </a:r>
          </a:p>
        </p:txBody>
      </p:sp>
      <p:sp>
        <p:nvSpPr>
          <p:cNvPr id="45" name="ls01_corridor_band_1"/>
          <p:cNvSpPr/>
          <p:nvPr/>
        </p:nvSpPr>
        <p:spPr>
          <a:xfrm>
            <a:off x="7124700" y="3543300"/>
            <a:ext cx="3695700" cy="171450"/>
          </a:xfrm>
          <a:prstGeom prst="roundRect">
            <a:avLst/>
          </a:prstGeom>
          <a:solidFill>
            <a:srgbClr val="8C5A2B">
              <a:alpha val="16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s01_metric_3_value"/>
          <p:cNvSpPr txBox="1"/>
          <p:nvPr/>
        </p:nvSpPr>
        <p:spPr>
          <a:xfrm>
            <a:off x="102108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44%</a:t>
            </a:r>
          </a:p>
        </p:txBody>
      </p:sp>
      <p:sp>
        <p:nvSpPr>
          <p:cNvPr id="47" name="ls01_corridor_band_2"/>
          <p:cNvSpPr/>
          <p:nvPr/>
        </p:nvSpPr>
        <p:spPr>
          <a:xfrm>
            <a:off x="7124700" y="3867150"/>
            <a:ext cx="3695700" cy="171450"/>
          </a:xfrm>
          <a:prstGeom prst="roundRect">
            <a:avLst/>
          </a:prstGeom>
          <a:solidFill>
            <a:srgbClr val="23624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s01_metric_3_delta"/>
          <p:cNvSpPr txBox="1"/>
          <p:nvPr/>
        </p:nvSpPr>
        <p:spPr>
          <a:xfrm>
            <a:off x="102108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173B67"/>
                </a:solidFill>
                <a:latin typeface="Arial Narrow"/>
              </a:rPr>
              <a:t>逐步提升</a:t>
            </a:r>
          </a:p>
        </p:txBody>
      </p:sp>
      <p:sp>
        <p:nvSpPr>
          <p:cNvPr id="49" name="ls01_allocation_stop_1"/>
          <p:cNvSpPr/>
          <p:nvPr/>
        </p:nvSpPr>
        <p:spPr>
          <a:xfrm>
            <a:off x="135255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23624D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s01_corridor_band_3"/>
          <p:cNvSpPr/>
          <p:nvPr/>
        </p:nvSpPr>
        <p:spPr>
          <a:xfrm>
            <a:off x="7124700" y="4191000"/>
            <a:ext cx="3695700" cy="171450"/>
          </a:xfrm>
          <a:prstGeom prst="roundRect">
            <a:avLst/>
          </a:prstGeom>
          <a:solidFill>
            <a:srgbClr val="173B67">
              <a:alpha val="23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s01_allocation_stop_2"/>
          <p:cNvSpPr/>
          <p:nvPr/>
        </p:nvSpPr>
        <p:spPr>
          <a:xfrm>
            <a:off x="316230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173B67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s01_allocation_stop_3"/>
          <p:cNvSpPr/>
          <p:nvPr/>
        </p:nvSpPr>
        <p:spPr>
          <a:xfrm>
            <a:off x="497205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23624D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s01_corridor_band_1_label"/>
          <p:cNvSpPr txBox="1"/>
          <p:nvPr/>
        </p:nvSpPr>
        <p:spPr>
          <a:xfrm>
            <a:off x="7219950" y="35718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0E2723"/>
                </a:solidFill>
                <a:latin typeface="Aptos"/>
              </a:rPr>
              <a:t>DEFENSIVE</a:t>
            </a:r>
          </a:p>
        </p:txBody>
      </p:sp>
      <p:sp>
        <p:nvSpPr>
          <p:cNvPr id="54" name="ls01_corridor_band_2_label"/>
          <p:cNvSpPr txBox="1"/>
          <p:nvPr/>
        </p:nvSpPr>
        <p:spPr>
          <a:xfrm>
            <a:off x="7219950" y="389572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0E2723"/>
                </a:solidFill>
                <a:latin typeface="Aptos"/>
              </a:rPr>
              <a:t>NEUTRAL+</a:t>
            </a:r>
          </a:p>
        </p:txBody>
      </p:sp>
      <p:sp>
        <p:nvSpPr>
          <p:cNvPr id="55" name="ls01_allocation_stop_1_label"/>
          <p:cNvSpPr txBox="1"/>
          <p:nvPr/>
        </p:nvSpPr>
        <p:spPr>
          <a:xfrm>
            <a:off x="114300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DEF</a:t>
            </a:r>
          </a:p>
        </p:txBody>
      </p:sp>
      <p:sp>
        <p:nvSpPr>
          <p:cNvPr id="56" name="ls01_corridor_band_3_label"/>
          <p:cNvSpPr txBox="1"/>
          <p:nvPr/>
        </p:nvSpPr>
        <p:spPr>
          <a:xfrm>
            <a:off x="7219950" y="42195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0E2723"/>
                </a:solidFill>
                <a:latin typeface="Aptos"/>
              </a:rPr>
              <a:t>RISK ADD</a:t>
            </a:r>
          </a:p>
        </p:txBody>
      </p:sp>
      <p:sp>
        <p:nvSpPr>
          <p:cNvPr id="57" name="ls01_allocation_stop_2_label"/>
          <p:cNvSpPr txBox="1"/>
          <p:nvPr/>
        </p:nvSpPr>
        <p:spPr>
          <a:xfrm>
            <a:off x="295275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RISK</a:t>
            </a:r>
          </a:p>
        </p:txBody>
      </p:sp>
      <p:sp>
        <p:nvSpPr>
          <p:cNvPr id="58" name="ls01_allocation_stop_3_label"/>
          <p:cNvSpPr txBox="1"/>
          <p:nvPr/>
        </p:nvSpPr>
        <p:spPr>
          <a:xfrm>
            <a:off x="476250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HEDGE</a:t>
            </a:r>
          </a:p>
        </p:txBody>
      </p:sp>
      <p:sp>
        <p:nvSpPr>
          <p:cNvPr id="59" name="ls01_decision_route_1"/>
          <p:cNvSpPr/>
          <p:nvPr/>
        </p:nvSpPr>
        <p:spPr>
          <a:xfrm>
            <a:off x="8496300" y="4048125"/>
            <a:ext cx="819150" cy="28575"/>
          </a:xfrm>
          <a:prstGeom prst="rect">
            <a:avLst/>
          </a:prstGeom>
          <a:solidFill>
            <a:srgbClr val="23624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s01_decision_route_2"/>
          <p:cNvSpPr/>
          <p:nvPr/>
        </p:nvSpPr>
        <p:spPr>
          <a:xfrm>
            <a:off x="9410700" y="3905250"/>
            <a:ext cx="819150" cy="28575"/>
          </a:xfrm>
          <a:prstGeom prst="rect">
            <a:avLst/>
          </a:prstGeom>
          <a:solidFill>
            <a:srgbClr val="23624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s01_decision_node_1"/>
          <p:cNvSpPr/>
          <p:nvPr/>
        </p:nvSpPr>
        <p:spPr>
          <a:xfrm>
            <a:off x="8420100" y="4000500"/>
            <a:ext cx="133350" cy="133350"/>
          </a:xfrm>
          <a:prstGeom prst="ellipse">
            <a:avLst/>
          </a:prstGeom>
          <a:solidFill>
            <a:srgbClr val="23624D">
              <a:alpha val="94000"/>
            </a:srgbClr>
          </a:solidFill>
          <a:ln w="9525">
            <a:solidFill>
              <a:srgbClr val="EEF2E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s01_decision_node_2"/>
          <p:cNvSpPr/>
          <p:nvPr/>
        </p:nvSpPr>
        <p:spPr>
          <a:xfrm>
            <a:off x="9334500" y="3857625"/>
            <a:ext cx="133350" cy="133350"/>
          </a:xfrm>
          <a:prstGeom prst="ellipse">
            <a:avLst/>
          </a:prstGeom>
          <a:solidFill>
            <a:srgbClr val="23624D">
              <a:alpha val="94000"/>
            </a:srgbClr>
          </a:solidFill>
          <a:ln w="9525">
            <a:solidFill>
              <a:srgbClr val="EEF2E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s01_decision_node_3"/>
          <p:cNvSpPr/>
          <p:nvPr/>
        </p:nvSpPr>
        <p:spPr>
          <a:xfrm>
            <a:off x="10248900" y="3714750"/>
            <a:ext cx="133350" cy="133350"/>
          </a:xfrm>
          <a:prstGeom prst="ellipse">
            <a:avLst/>
          </a:prstGeom>
          <a:solidFill>
            <a:srgbClr val="173B67">
              <a:alpha val="94000"/>
            </a:srgbClr>
          </a:solidFill>
          <a:ln w="9525">
            <a:solidFill>
              <a:srgbClr val="EEF2E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s01_decision_rule_1_key"/>
          <p:cNvSpPr txBox="1"/>
          <p:nvPr/>
        </p:nvSpPr>
        <p:spPr>
          <a:xfrm>
            <a:off x="7124700" y="4648200"/>
            <a:ext cx="723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Trigger</a:t>
            </a:r>
          </a:p>
        </p:txBody>
      </p:sp>
      <p:sp>
        <p:nvSpPr>
          <p:cNvPr id="65" name="ls01_decision_rule_2_key"/>
          <p:cNvSpPr txBox="1"/>
          <p:nvPr/>
        </p:nvSpPr>
        <p:spPr>
          <a:xfrm>
            <a:off x="7124700" y="4857750"/>
            <a:ext cx="723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Budget</a:t>
            </a:r>
          </a:p>
        </p:txBody>
      </p:sp>
      <p:sp>
        <p:nvSpPr>
          <p:cNvPr id="66" name="ls01_decision_rule_3_key"/>
          <p:cNvSpPr txBox="1"/>
          <p:nvPr/>
        </p:nvSpPr>
        <p:spPr>
          <a:xfrm>
            <a:off x="7124700" y="5067300"/>
            <a:ext cx="723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Action</a:t>
            </a:r>
          </a:p>
        </p:txBody>
      </p:sp>
      <p:sp>
        <p:nvSpPr>
          <p:cNvPr id="67" name="ls01_decision_rule_1_val"/>
          <p:cNvSpPr txBox="1"/>
          <p:nvPr/>
        </p:nvSpPr>
        <p:spPr>
          <a:xfrm>
            <a:off x="7905750" y="464820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年化预算</a:t>
            </a:r>
          </a:p>
        </p:txBody>
      </p:sp>
      <p:sp>
        <p:nvSpPr>
          <p:cNvPr id="68" name="ls01_decision_rule_2_val"/>
          <p:cNvSpPr txBox="1"/>
          <p:nvPr/>
        </p:nvSpPr>
        <p:spPr>
          <a:xfrm>
            <a:off x="7905750" y="48577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44%</a:t>
            </a:r>
          </a:p>
        </p:txBody>
      </p:sp>
      <p:sp>
        <p:nvSpPr>
          <p:cNvPr id="69" name="ls01_decision_rule_3_val"/>
          <p:cNvSpPr txBox="1"/>
          <p:nvPr/>
        </p:nvSpPr>
        <p:spPr>
          <a:xfrm>
            <a:off x="7905750" y="506730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纪律性加风险 / 保留回撤保护</a:t>
            </a:r>
          </a:p>
        </p:txBody>
      </p:sp>
      <p:sp>
        <p:nvSpPr>
          <p:cNvPr id="70" name="ls01_footer_mask"/>
          <p:cNvSpPr/>
          <p:nvPr/>
        </p:nvSpPr>
        <p:spPr>
          <a:xfrm>
            <a:off x="762000" y="5905500"/>
            <a:ext cx="10668000" cy="323850"/>
          </a:xfrm>
          <a:prstGeom prst="rect">
            <a:avLst/>
          </a:prstGeom>
          <a:solidFill>
            <a:srgbClr val="EEF2E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s01_source_band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s01_risk_note"/>
          <p:cNvSpPr txBox="1"/>
          <p:nvPr/>
        </p:nvSpPr>
        <p:spPr>
          <a:xfrm>
            <a:off x="838200" y="6000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s02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A">
              <a:alpha val="100000"/>
            </a:srgbClr>
          </a:solidFill>
          <a:ln w="9525">
            <a:solidFill>
              <a:srgbClr val="EEF2E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02_grid_h_118"/>
          <p:cNvSpPr/>
          <p:nvPr/>
        </p:nvSpPr>
        <p:spPr>
          <a:xfrm>
            <a:off x="762000" y="1123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s02_grid_h_222"/>
          <p:cNvSpPr/>
          <p:nvPr/>
        </p:nvSpPr>
        <p:spPr>
          <a:xfrm>
            <a:off x="762000" y="21145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s02_grid_h_326"/>
          <p:cNvSpPr/>
          <p:nvPr/>
        </p:nvSpPr>
        <p:spPr>
          <a:xfrm>
            <a:off x="762000" y="31051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s02_grid_h_43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s02_grid_h_534"/>
          <p:cNvSpPr/>
          <p:nvPr/>
        </p:nvSpPr>
        <p:spPr>
          <a:xfrm>
            <a:off x="762000" y="50863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s02_grid_h_638"/>
          <p:cNvSpPr/>
          <p:nvPr/>
        </p:nvSpPr>
        <p:spPr>
          <a:xfrm>
            <a:off x="762000" y="6076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s02_grid_v_1040"/>
          <p:cNvSpPr/>
          <p:nvPr/>
        </p:nvSpPr>
        <p:spPr>
          <a:xfrm>
            <a:off x="990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s02_grid_v_1200"/>
          <p:cNvSpPr/>
          <p:nvPr/>
        </p:nvSpPr>
        <p:spPr>
          <a:xfrm>
            <a:off x="1143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s02_grid_v_240"/>
          <p:cNvSpPr/>
          <p:nvPr/>
        </p:nvSpPr>
        <p:spPr>
          <a:xfrm>
            <a:off x="228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s02_grid_v_400"/>
          <p:cNvSpPr/>
          <p:nvPr/>
        </p:nvSpPr>
        <p:spPr>
          <a:xfrm>
            <a:off x="381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s02_grid_v_560"/>
          <p:cNvSpPr/>
          <p:nvPr/>
        </p:nvSpPr>
        <p:spPr>
          <a:xfrm>
            <a:off x="5334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s02_grid_v_720"/>
          <p:cNvSpPr/>
          <p:nvPr/>
        </p:nvSpPr>
        <p:spPr>
          <a:xfrm>
            <a:off x="6858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s02_grid_v_80"/>
          <p:cNvSpPr/>
          <p:nvPr/>
        </p:nvSpPr>
        <p:spPr>
          <a:xfrm>
            <a:off x="76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02_grid_v_880"/>
          <p:cNvSpPr/>
          <p:nvPr/>
        </p:nvSpPr>
        <p:spPr>
          <a:xfrm>
            <a:off x="838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s02_zone_bottom"/>
          <p:cNvSpPr/>
          <p:nvPr/>
        </p:nvSpPr>
        <p:spPr>
          <a:xfrm>
            <a:off x="838200" y="3752850"/>
            <a:ext cx="5810250" cy="1847850"/>
          </a:xfrm>
          <a:prstGeom prst="rect">
            <a:avLst/>
          </a:prstGeom>
          <a:solidFill>
            <a:srgbClr val="D3DED4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s02_zone_left"/>
          <p:cNvSpPr/>
          <p:nvPr/>
        </p:nvSpPr>
        <p:spPr>
          <a:xfrm>
            <a:off x="762000" y="2114550"/>
            <a:ext cx="5943600" cy="1428750"/>
          </a:xfrm>
          <a:prstGeom prst="rect">
            <a:avLst/>
          </a:prstGeom>
          <a:solidFill>
            <a:srgbClr val="E1E8D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s02_zone_right"/>
          <p:cNvSpPr/>
          <p:nvPr/>
        </p:nvSpPr>
        <p:spPr>
          <a:xfrm>
            <a:off x="6896100" y="2114550"/>
            <a:ext cx="4572000" cy="3200400"/>
          </a:xfrm>
          <a:prstGeom prst="rect">
            <a:avLst/>
          </a:prstGeom>
          <a:solidFill>
            <a:srgbClr val="FBFCF7">
              <a:alpha val="96000"/>
            </a:srgbClr>
          </a:solidFill>
          <a:ln w="9525">
            <a:solidFill>
              <a:srgbClr val="72857B">
                <a:alpha val="2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s02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34E48"/>
                </a:solidFill>
                <a:latin typeface="Aptos"/>
              </a:rPr>
              <a:t>MARKET ATLAS / ZONE-02</a:t>
            </a:r>
          </a:p>
        </p:txBody>
      </p:sp>
      <p:sp>
        <p:nvSpPr>
          <p:cNvPr id="21" name="ls02_legend_1"/>
          <p:cNvSpPr txBox="1"/>
          <p:nvPr/>
        </p:nvSpPr>
        <p:spPr>
          <a:xfrm>
            <a:off x="7067550" y="19621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334E48"/>
                </a:solidFill>
                <a:latin typeface="Aptos"/>
              </a:rPr>
              <a:t>SIGNAL FIELD</a:t>
            </a:r>
          </a:p>
        </p:txBody>
      </p:sp>
      <p:sp>
        <p:nvSpPr>
          <p:cNvPr id="22" name="ls02_kicker"/>
          <p:cNvSpPr txBox="1"/>
          <p:nvPr/>
        </p:nvSpPr>
        <p:spPr>
          <a:xfrm>
            <a:off x="781050" y="74295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 Display"/>
              </a:rPr>
              <a:t>Macro Dashboard / visual-language-demo</a:t>
            </a:r>
          </a:p>
        </p:txBody>
      </p:sp>
      <p:sp>
        <p:nvSpPr>
          <p:cNvPr id="23" name="ls02_title"/>
          <p:cNvSpPr txBox="1"/>
          <p:nvPr/>
        </p:nvSpPr>
        <p:spPr>
          <a:xfrm>
            <a:off x="781050" y="933450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E2723"/>
                </a:solidFill>
                <a:latin typeface="Aptos Display"/>
              </a:rPr>
              <a:t>三类宏观信号共同决定下半年风险预算路径</a:t>
            </a:r>
          </a:p>
        </p:txBody>
      </p:sp>
      <p:sp>
        <p:nvSpPr>
          <p:cNvPr id="24" name="ls02_subtitle"/>
          <p:cNvSpPr txBox="1"/>
          <p:nvPr/>
        </p:nvSpPr>
        <p:spPr>
          <a:xfrm>
            <a:off x="800100" y="1524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E48"/>
                </a:solidFill>
                <a:latin typeface="Aptos"/>
              </a:rPr>
              <a:t>增长修复不强，流动性宽松仍是资产再定价的核心缓冲。</a:t>
            </a:r>
          </a:p>
        </p:txBody>
      </p:sp>
      <p:sp>
        <p:nvSpPr>
          <p:cNvPr id="25" name="ls02_body_1"/>
          <p:cNvSpPr txBox="1"/>
          <p:nvPr/>
        </p:nvSpPr>
        <p:spPr>
          <a:xfrm>
            <a:off x="838200" y="2114550"/>
            <a:ext cx="4762500" cy="410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权益风险预算向盈利确定性集中，固收维持中性久期，另类配置保持稳定。</a:t>
            </a:r>
          </a:p>
        </p:txBody>
      </p:sp>
      <p:sp>
        <p:nvSpPr>
          <p:cNvPr id="26" name="ls02_body_2"/>
          <p:cNvSpPr txBox="1"/>
          <p:nvPr/>
        </p:nvSpPr>
        <p:spPr>
          <a:xfrm>
            <a:off x="838200" y="2601468"/>
            <a:ext cx="476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风险预算随增长、流动性与政策信号动态再平衡。</a:t>
            </a:r>
          </a:p>
        </p:txBody>
      </p:sp>
      <p:sp>
        <p:nvSpPr>
          <p:cNvPr id="27" name="ls02_signal_field_axis_h"/>
          <p:cNvSpPr/>
          <p:nvPr/>
        </p:nvSpPr>
        <p:spPr>
          <a:xfrm>
            <a:off x="7543800" y="3581400"/>
            <a:ext cx="3143250" cy="19050"/>
          </a:xfrm>
          <a:prstGeom prst="rect">
            <a:avLst/>
          </a:prstGeom>
          <a:solidFill>
            <a:srgbClr val="6F82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s02_signal_field_axis_v"/>
          <p:cNvSpPr/>
          <p:nvPr/>
        </p:nvSpPr>
        <p:spPr>
          <a:xfrm>
            <a:off x="9115425" y="2667000"/>
            <a:ext cx="19050" cy="1714500"/>
          </a:xfrm>
          <a:prstGeom prst="rect">
            <a:avLst/>
          </a:prstGeom>
          <a:solidFill>
            <a:srgbClr val="6F82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s02_signal_vector_1"/>
          <p:cNvSpPr/>
          <p:nvPr/>
        </p:nvSpPr>
        <p:spPr>
          <a:xfrm>
            <a:off x="7953375" y="2714625"/>
            <a:ext cx="1162050" cy="19050"/>
          </a:xfrm>
          <a:prstGeom prst="rect">
            <a:avLst/>
          </a:prstGeom>
          <a:solidFill>
            <a:srgbClr val="23624D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s02_signal_vector_2"/>
          <p:cNvSpPr/>
          <p:nvPr/>
        </p:nvSpPr>
        <p:spPr>
          <a:xfrm>
            <a:off x="9115425" y="2714625"/>
            <a:ext cx="1162050" cy="19050"/>
          </a:xfrm>
          <a:prstGeom prst="rect">
            <a:avLst/>
          </a:prstGeom>
          <a:solidFill>
            <a:srgbClr val="23624D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s02_signal_field_core"/>
          <p:cNvSpPr/>
          <p:nvPr/>
        </p:nvSpPr>
        <p:spPr>
          <a:xfrm>
            <a:off x="8601075" y="3276600"/>
            <a:ext cx="1028700" cy="609600"/>
          </a:xfrm>
          <a:prstGeom prst="roundRect">
            <a:avLst/>
          </a:prstGeom>
          <a:solidFill>
            <a:srgbClr val="E1E8DC">
              <a:alpha val="92000"/>
            </a:srgbClr>
          </a:solidFill>
          <a:ln w="9525">
            <a:solidFill>
              <a:srgbClr val="173B67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s02_signal_vector_3"/>
          <p:cNvSpPr/>
          <p:nvPr/>
        </p:nvSpPr>
        <p:spPr>
          <a:xfrm>
            <a:off x="7953375" y="3581400"/>
            <a:ext cx="1162050" cy="19050"/>
          </a:xfrm>
          <a:prstGeom prst="rect">
            <a:avLst/>
          </a:prstGeom>
          <a:solidFill>
            <a:srgbClr val="8C5A2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s02_signal_field_core_k"/>
          <p:cNvSpPr txBox="1"/>
          <p:nvPr/>
        </p:nvSpPr>
        <p:spPr>
          <a:xfrm>
            <a:off x="8715375" y="3352800"/>
            <a:ext cx="80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REGIME</a:t>
            </a:r>
          </a:p>
        </p:txBody>
      </p:sp>
      <p:sp>
        <p:nvSpPr>
          <p:cNvPr id="34" name="ls02_signal_vector_4"/>
          <p:cNvSpPr/>
          <p:nvPr/>
        </p:nvSpPr>
        <p:spPr>
          <a:xfrm>
            <a:off x="9115425" y="3581400"/>
            <a:ext cx="1162050" cy="19050"/>
          </a:xfrm>
          <a:prstGeom prst="rect">
            <a:avLst/>
          </a:prstGeom>
          <a:solidFill>
            <a:srgbClr val="173B67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s02_signal_field_core_v"/>
          <p:cNvSpPr txBox="1"/>
          <p:nvPr/>
        </p:nvSpPr>
        <p:spPr>
          <a:xfrm>
            <a:off x="8696325" y="3505200"/>
            <a:ext cx="838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E2723"/>
                </a:solidFill>
                <a:latin typeface="Arial Narrow"/>
              </a:rPr>
              <a:t>中性偏积极</a:t>
            </a:r>
          </a:p>
        </p:txBody>
      </p:sp>
      <p:sp>
        <p:nvSpPr>
          <p:cNvPr id="36" name="ls02_signal_point_1"/>
          <p:cNvSpPr/>
          <p:nvPr/>
        </p:nvSpPr>
        <p:spPr>
          <a:xfrm>
            <a:off x="7334250" y="2438400"/>
            <a:ext cx="1238250" cy="552450"/>
          </a:xfrm>
          <a:prstGeom prst="roundRect">
            <a:avLst/>
          </a:prstGeom>
          <a:solidFill>
            <a:srgbClr val="FBFCF7">
              <a:alpha val="90000"/>
            </a:srgbClr>
          </a:solidFill>
          <a:ln w="9525">
            <a:solidFill>
              <a:srgbClr val="23624D">
                <a:alpha val="6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s02_signal_point_2"/>
          <p:cNvSpPr/>
          <p:nvPr/>
        </p:nvSpPr>
        <p:spPr>
          <a:xfrm>
            <a:off x="9658350" y="2438400"/>
            <a:ext cx="1238250" cy="552450"/>
          </a:xfrm>
          <a:prstGeom prst="roundRect">
            <a:avLst/>
          </a:prstGeom>
          <a:solidFill>
            <a:srgbClr val="FBFCF7">
              <a:alpha val="90000"/>
            </a:srgbClr>
          </a:solidFill>
          <a:ln w="9525">
            <a:solidFill>
              <a:srgbClr val="23624D">
                <a:alpha val="6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s02_signal_point_3"/>
          <p:cNvSpPr/>
          <p:nvPr/>
        </p:nvSpPr>
        <p:spPr>
          <a:xfrm>
            <a:off x="7334250" y="4076700"/>
            <a:ext cx="1238250" cy="552450"/>
          </a:xfrm>
          <a:prstGeom prst="roundRect">
            <a:avLst/>
          </a:prstGeom>
          <a:solidFill>
            <a:srgbClr val="FBFCF7">
              <a:alpha val="90000"/>
            </a:srgbClr>
          </a:solidFill>
          <a:ln w="9525">
            <a:solidFill>
              <a:srgbClr val="8C5A2B">
                <a:alpha val="6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s02_signal_point_4"/>
          <p:cNvSpPr/>
          <p:nvPr/>
        </p:nvSpPr>
        <p:spPr>
          <a:xfrm>
            <a:off x="9658350" y="4076700"/>
            <a:ext cx="1238250" cy="552450"/>
          </a:xfrm>
          <a:prstGeom prst="roundRect">
            <a:avLst/>
          </a:prstGeom>
          <a:solidFill>
            <a:srgbClr val="FBFCF7">
              <a:alpha val="90000"/>
            </a:srgbClr>
          </a:solidFill>
          <a:ln w="9525">
            <a:solidFill>
              <a:srgbClr val="173B67">
                <a:alpha val="6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s02_signal_point_1_label"/>
          <p:cNvSpPr txBox="1"/>
          <p:nvPr/>
        </p:nvSpPr>
        <p:spPr>
          <a:xfrm>
            <a:off x="7448550" y="2505075"/>
            <a:ext cx="971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增长动能</a:t>
            </a:r>
          </a:p>
        </p:txBody>
      </p:sp>
      <p:sp>
        <p:nvSpPr>
          <p:cNvPr id="41" name="ls02_signal_point_2_label"/>
          <p:cNvSpPr txBox="1"/>
          <p:nvPr/>
        </p:nvSpPr>
        <p:spPr>
          <a:xfrm>
            <a:off x="9772650" y="2505075"/>
            <a:ext cx="971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流动性</a:t>
            </a:r>
          </a:p>
        </p:txBody>
      </p:sp>
      <p:sp>
        <p:nvSpPr>
          <p:cNvPr id="42" name="ls02_signal_point_3_label"/>
          <p:cNvSpPr txBox="1"/>
          <p:nvPr/>
        </p:nvSpPr>
        <p:spPr>
          <a:xfrm>
            <a:off x="7448550" y="4143375"/>
            <a:ext cx="971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估值拥挤</a:t>
            </a:r>
          </a:p>
        </p:txBody>
      </p:sp>
      <p:sp>
        <p:nvSpPr>
          <p:cNvPr id="43" name="ls02_signal_point_4_label"/>
          <p:cNvSpPr txBox="1"/>
          <p:nvPr/>
        </p:nvSpPr>
        <p:spPr>
          <a:xfrm>
            <a:off x="9772650" y="4143375"/>
            <a:ext cx="971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政策扰动</a:t>
            </a:r>
          </a:p>
        </p:txBody>
      </p:sp>
      <p:sp>
        <p:nvSpPr>
          <p:cNvPr id="44" name="ls02_signal_point_1_value"/>
          <p:cNvSpPr txBox="1"/>
          <p:nvPr/>
        </p:nvSpPr>
        <p:spPr>
          <a:xfrm>
            <a:off x="7448550" y="2657475"/>
            <a:ext cx="971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E2723"/>
                </a:solidFill>
                <a:latin typeface="Arial Narrow"/>
              </a:rPr>
              <a:t>中性+</a:t>
            </a:r>
          </a:p>
        </p:txBody>
      </p:sp>
      <p:sp>
        <p:nvSpPr>
          <p:cNvPr id="45" name="ls02_signal_point_2_value"/>
          <p:cNvSpPr txBox="1"/>
          <p:nvPr/>
        </p:nvSpPr>
        <p:spPr>
          <a:xfrm>
            <a:off x="9772650" y="2657475"/>
            <a:ext cx="971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E2723"/>
                </a:solidFill>
                <a:latin typeface="Arial Narrow"/>
              </a:rPr>
              <a:t>宽松</a:t>
            </a:r>
          </a:p>
        </p:txBody>
      </p:sp>
      <p:sp>
        <p:nvSpPr>
          <p:cNvPr id="46" name="ls02_signal_point_3_value"/>
          <p:cNvSpPr txBox="1"/>
          <p:nvPr/>
        </p:nvSpPr>
        <p:spPr>
          <a:xfrm>
            <a:off x="7448550" y="4295775"/>
            <a:ext cx="971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E2723"/>
                </a:solidFill>
                <a:latin typeface="Arial Narrow"/>
              </a:rPr>
              <a:t>偏高</a:t>
            </a:r>
          </a:p>
        </p:txBody>
      </p:sp>
      <p:sp>
        <p:nvSpPr>
          <p:cNvPr id="47" name="ls02_signal_point_4_value"/>
          <p:cNvSpPr txBox="1"/>
          <p:nvPr/>
        </p:nvSpPr>
        <p:spPr>
          <a:xfrm>
            <a:off x="9772650" y="4295775"/>
            <a:ext cx="971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E2723"/>
                </a:solidFill>
                <a:latin typeface="Arial Narrow"/>
              </a:rPr>
              <a:t>可控</a:t>
            </a:r>
          </a:p>
        </p:txBody>
      </p:sp>
      <p:sp>
        <p:nvSpPr>
          <p:cNvPr id="48" name="ls02_budget_map_panel"/>
          <p:cNvSpPr/>
          <p:nvPr/>
        </p:nvSpPr>
        <p:spPr>
          <a:xfrm>
            <a:off x="838200" y="3790950"/>
            <a:ext cx="5810250" cy="1943100"/>
          </a:xfrm>
          <a:prstGeom prst="rect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72857B">
                <a:alpha val="4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s02_budget_map_title"/>
          <p:cNvSpPr txBox="1"/>
          <p:nvPr/>
        </p:nvSpPr>
        <p:spPr>
          <a:xfrm>
            <a:off x="1009650" y="3905250"/>
            <a:ext cx="5467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ALLOCATION ROUTE MAP / 下半年风险预算路径，占总风险预算比例</a:t>
            </a:r>
          </a:p>
        </p:txBody>
      </p:sp>
      <p:sp>
        <p:nvSpPr>
          <p:cNvPr id="50" name="ls02_macro_zone_1"/>
          <p:cNvSpPr/>
          <p:nvPr/>
        </p:nvSpPr>
        <p:spPr>
          <a:xfrm>
            <a:off x="1200150" y="4210050"/>
            <a:ext cx="1619250" cy="609600"/>
          </a:xfrm>
          <a:prstGeom prst="roundRect">
            <a:avLst/>
          </a:prstGeom>
          <a:solidFill>
            <a:srgbClr val="8C5A2B">
              <a:alpha val="14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s02_macro_zone_2"/>
          <p:cNvSpPr/>
          <p:nvPr/>
        </p:nvSpPr>
        <p:spPr>
          <a:xfrm>
            <a:off x="2933700" y="4210050"/>
            <a:ext cx="1619250" cy="609600"/>
          </a:xfrm>
          <a:prstGeom prst="roundRect">
            <a:avLst/>
          </a:prstGeom>
          <a:solidFill>
            <a:srgbClr val="23624D">
              <a:alpha val="16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s02_signal_point_1_delta"/>
          <p:cNvSpPr txBox="1"/>
          <p:nvPr/>
        </p:nvSpPr>
        <p:spPr>
          <a:xfrm>
            <a:off x="7448550" y="2838450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23624D"/>
                </a:solidFill>
                <a:latin typeface="Arial Narrow"/>
              </a:rPr>
              <a:t>PMI边际修复</a:t>
            </a:r>
          </a:p>
        </p:txBody>
      </p:sp>
      <p:sp>
        <p:nvSpPr>
          <p:cNvPr id="53" name="ls02_macro_zone_3"/>
          <p:cNvSpPr/>
          <p:nvPr/>
        </p:nvSpPr>
        <p:spPr>
          <a:xfrm>
            <a:off x="4667250" y="4210050"/>
            <a:ext cx="1619250" cy="609600"/>
          </a:xfrm>
          <a:prstGeom prst="roundRect">
            <a:avLst/>
          </a:prstGeom>
          <a:solidFill>
            <a:srgbClr val="173B67">
              <a:alpha val="18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s02_signal_point_2_delta"/>
          <p:cNvSpPr txBox="1"/>
          <p:nvPr/>
        </p:nvSpPr>
        <p:spPr>
          <a:xfrm>
            <a:off x="9772650" y="2838450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23624D"/>
                </a:solidFill>
                <a:latin typeface="Arial Narrow"/>
              </a:rPr>
              <a:t>资金利率低位</a:t>
            </a:r>
          </a:p>
        </p:txBody>
      </p:sp>
      <p:sp>
        <p:nvSpPr>
          <p:cNvPr id="55" name="ls02_signal_point_3_delta"/>
          <p:cNvSpPr txBox="1"/>
          <p:nvPr/>
        </p:nvSpPr>
        <p:spPr>
          <a:xfrm>
            <a:off x="7448550" y="4476750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8C5A2B"/>
                </a:solidFill>
                <a:latin typeface="Arial Narrow"/>
              </a:rPr>
              <a:t>红利拥挤</a:t>
            </a:r>
          </a:p>
        </p:txBody>
      </p:sp>
      <p:sp>
        <p:nvSpPr>
          <p:cNvPr id="56" name="ls02_signal_point_4_delta"/>
          <p:cNvSpPr txBox="1"/>
          <p:nvPr/>
        </p:nvSpPr>
        <p:spPr>
          <a:xfrm>
            <a:off x="9772650" y="4476750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173B67"/>
                </a:solidFill>
                <a:latin typeface="Arial Narrow"/>
              </a:rPr>
              <a:t>窗口期观察</a:t>
            </a:r>
          </a:p>
        </p:txBody>
      </p:sp>
      <p:sp>
        <p:nvSpPr>
          <p:cNvPr id="57" name="ls02_macro_zone_1_label"/>
          <p:cNvSpPr txBox="1"/>
          <p:nvPr/>
        </p:nvSpPr>
        <p:spPr>
          <a:xfrm>
            <a:off x="1314450" y="42767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WATCH / 观察</a:t>
            </a:r>
          </a:p>
        </p:txBody>
      </p:sp>
      <p:sp>
        <p:nvSpPr>
          <p:cNvPr id="58" name="ls02_macro_zone_2_label"/>
          <p:cNvSpPr txBox="1"/>
          <p:nvPr/>
        </p:nvSpPr>
        <p:spPr>
          <a:xfrm>
            <a:off x="3048000" y="42767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CONFIRM / 确认</a:t>
            </a:r>
          </a:p>
        </p:txBody>
      </p:sp>
      <p:sp>
        <p:nvSpPr>
          <p:cNvPr id="59" name="ls02_macro_zone_3_label"/>
          <p:cNvSpPr txBox="1"/>
          <p:nvPr/>
        </p:nvSpPr>
        <p:spPr>
          <a:xfrm>
            <a:off x="4781550" y="42767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DEPLOY / 部署</a:t>
            </a:r>
          </a:p>
        </p:txBody>
      </p:sp>
      <p:sp>
        <p:nvSpPr>
          <p:cNvPr id="60" name="ls02_macro_zone_1_if"/>
          <p:cNvSpPr txBox="1"/>
          <p:nvPr/>
        </p:nvSpPr>
        <p:spPr>
          <a:xfrm>
            <a:off x="1314450" y="44672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IF 增长弱修复 / 估值拥挤</a:t>
            </a:r>
          </a:p>
        </p:txBody>
      </p:sp>
      <p:sp>
        <p:nvSpPr>
          <p:cNvPr id="61" name="ls02_macro_zone_2_if"/>
          <p:cNvSpPr txBox="1"/>
          <p:nvPr/>
        </p:nvSpPr>
        <p:spPr>
          <a:xfrm>
            <a:off x="3048000" y="44672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IF 流动性宽松延续</a:t>
            </a:r>
          </a:p>
        </p:txBody>
      </p:sp>
      <p:sp>
        <p:nvSpPr>
          <p:cNvPr id="62" name="ls02_macro_zone_3_if"/>
          <p:cNvSpPr txBox="1"/>
          <p:nvPr/>
        </p:nvSpPr>
        <p:spPr>
          <a:xfrm>
            <a:off x="4781550" y="446722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IF 增长/盈利确认</a:t>
            </a:r>
          </a:p>
        </p:txBody>
      </p:sp>
      <p:sp>
        <p:nvSpPr>
          <p:cNvPr id="63" name="ls02_macro_zone_1_then"/>
          <p:cNvSpPr txBox="1"/>
          <p:nvPr/>
        </p:nvSpPr>
        <p:spPr>
          <a:xfrm>
            <a:off x="1314450" y="463867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8C5A2B"/>
                </a:solidFill>
                <a:latin typeface="Arial Narrow"/>
              </a:rPr>
              <a:t>THEN 维持中性预算</a:t>
            </a:r>
          </a:p>
        </p:txBody>
      </p:sp>
      <p:sp>
        <p:nvSpPr>
          <p:cNvPr id="64" name="ls02_macro_zone_2_then"/>
          <p:cNvSpPr txBox="1"/>
          <p:nvPr/>
        </p:nvSpPr>
        <p:spPr>
          <a:xfrm>
            <a:off x="3048000" y="463867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23624D"/>
                </a:solidFill>
                <a:latin typeface="Arial Narrow"/>
              </a:rPr>
              <a:t>THEN 小幅加风险</a:t>
            </a:r>
          </a:p>
        </p:txBody>
      </p:sp>
      <p:sp>
        <p:nvSpPr>
          <p:cNvPr id="65" name="ls02_macro_zone_3_then"/>
          <p:cNvSpPr txBox="1"/>
          <p:nvPr/>
        </p:nvSpPr>
        <p:spPr>
          <a:xfrm>
            <a:off x="4781550" y="463867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73B67"/>
                </a:solidFill>
                <a:latin typeface="Arial Narrow"/>
              </a:rPr>
              <a:t>THEN 执行目标预算</a:t>
            </a:r>
          </a:p>
        </p:txBody>
      </p:sp>
      <p:sp>
        <p:nvSpPr>
          <p:cNvPr id="66" name="ls02_macro_station_1"/>
          <p:cNvSpPr/>
          <p:nvPr/>
        </p:nvSpPr>
        <p:spPr>
          <a:xfrm>
            <a:off x="1895475" y="4743450"/>
            <a:ext cx="228600" cy="228600"/>
          </a:xfrm>
          <a:prstGeom prst="ellipse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8C5A2B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s02_macro_station_2"/>
          <p:cNvSpPr/>
          <p:nvPr/>
        </p:nvSpPr>
        <p:spPr>
          <a:xfrm>
            <a:off x="3629025" y="4743450"/>
            <a:ext cx="228600" cy="228600"/>
          </a:xfrm>
          <a:prstGeom prst="ellipse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23624D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s02_macro_station_3"/>
          <p:cNvSpPr/>
          <p:nvPr/>
        </p:nvSpPr>
        <p:spPr>
          <a:xfrm>
            <a:off x="5362575" y="4743450"/>
            <a:ext cx="228600" cy="228600"/>
          </a:xfrm>
          <a:prstGeom prst="ellipse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173B67">
                <a:alpha val="9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s02_macro_station_1_name"/>
          <p:cNvSpPr txBox="1"/>
          <p:nvPr/>
        </p:nvSpPr>
        <p:spPr>
          <a:xfrm>
            <a:off x="1724025" y="4981575"/>
            <a:ext cx="609600" cy="85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334E48"/>
                </a:solidFill>
                <a:latin typeface="Aptos"/>
              </a:rPr>
              <a:t>WATCH</a:t>
            </a:r>
          </a:p>
        </p:txBody>
      </p:sp>
      <p:sp>
        <p:nvSpPr>
          <p:cNvPr id="70" name="ls02_macro_station_2_name"/>
          <p:cNvSpPr txBox="1"/>
          <p:nvPr/>
        </p:nvSpPr>
        <p:spPr>
          <a:xfrm>
            <a:off x="3457575" y="4981575"/>
            <a:ext cx="609600" cy="85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334E48"/>
                </a:solidFill>
                <a:latin typeface="Aptos"/>
              </a:rPr>
              <a:t>CONFIRM</a:t>
            </a:r>
          </a:p>
        </p:txBody>
      </p:sp>
      <p:sp>
        <p:nvSpPr>
          <p:cNvPr id="71" name="ls02_macro_station_3_name"/>
          <p:cNvSpPr txBox="1"/>
          <p:nvPr/>
        </p:nvSpPr>
        <p:spPr>
          <a:xfrm>
            <a:off x="5191125" y="4981575"/>
            <a:ext cx="609600" cy="85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1">
                <a:solidFill>
                  <a:srgbClr val="334E48"/>
                </a:solidFill>
                <a:latin typeface="Aptos"/>
              </a:rPr>
              <a:t>DEPLOY</a:t>
            </a:r>
          </a:p>
        </p:txBody>
      </p:sp>
      <p:sp>
        <p:nvSpPr>
          <p:cNvPr id="72" name="ls02_macro_route_1"/>
          <p:cNvSpPr/>
          <p:nvPr/>
        </p:nvSpPr>
        <p:spPr>
          <a:xfrm>
            <a:off x="2162175" y="4838700"/>
            <a:ext cx="1428750" cy="38100"/>
          </a:xfrm>
          <a:prstGeom prst="rect">
            <a:avLst/>
          </a:prstGeom>
          <a:solidFill>
            <a:srgbClr val="23624D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s02_macro_route_2"/>
          <p:cNvSpPr/>
          <p:nvPr/>
        </p:nvSpPr>
        <p:spPr>
          <a:xfrm>
            <a:off x="3895725" y="4838700"/>
            <a:ext cx="1428750" cy="38100"/>
          </a:xfrm>
          <a:prstGeom prst="rect">
            <a:avLst/>
          </a:prstGeom>
          <a:solidFill>
            <a:srgbClr val="173B67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s02_macro_rollback_route"/>
          <p:cNvSpPr/>
          <p:nvPr/>
        </p:nvSpPr>
        <p:spPr>
          <a:xfrm>
            <a:off x="5305425" y="4953000"/>
            <a:ext cx="-3124200" cy="28575"/>
          </a:xfrm>
          <a:prstGeom prst="rect">
            <a:avLst/>
          </a:prstGeom>
          <a:solidFill>
            <a:srgbClr val="8C5A2B">
              <a:alpha val="2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s02_macro_route_1_rule"/>
          <p:cNvSpPr txBox="1"/>
          <p:nvPr/>
        </p:nvSpPr>
        <p:spPr>
          <a:xfrm>
            <a:off x="2543175" y="4667250"/>
            <a:ext cx="704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触发确认</a:t>
            </a:r>
          </a:p>
        </p:txBody>
      </p:sp>
      <p:sp>
        <p:nvSpPr>
          <p:cNvPr id="76" name="ls02_macro_route_2_rule"/>
          <p:cNvSpPr txBox="1"/>
          <p:nvPr/>
        </p:nvSpPr>
        <p:spPr>
          <a:xfrm>
            <a:off x="4276725" y="4667250"/>
            <a:ext cx="704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条件满足</a:t>
            </a:r>
          </a:p>
        </p:txBody>
      </p:sp>
      <p:sp>
        <p:nvSpPr>
          <p:cNvPr id="77" name="ls02_macro_rollback_label"/>
          <p:cNvSpPr txBox="1"/>
          <p:nvPr/>
        </p:nvSpPr>
        <p:spPr>
          <a:xfrm>
            <a:off x="5219700" y="4991100"/>
            <a:ext cx="10096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8C5A2B"/>
                </a:solidFill>
                <a:latin typeface="Aptos"/>
              </a:rPr>
              <a:t>ROLLBACK PATH</a:t>
            </a:r>
          </a:p>
        </p:txBody>
      </p:sp>
      <p:sp>
        <p:nvSpPr>
          <p:cNvPr id="78" name="ls02_macro_now_card"/>
          <p:cNvSpPr/>
          <p:nvPr/>
        </p:nvSpPr>
        <p:spPr>
          <a:xfrm>
            <a:off x="3305175" y="4057650"/>
            <a:ext cx="1181100" cy="209550"/>
          </a:xfrm>
          <a:prstGeom prst="roundRect">
            <a:avLst/>
          </a:prstGeom>
          <a:solidFill>
            <a:srgbClr val="E1E8DC">
              <a:alpha val="84000"/>
            </a:srgbClr>
          </a:solidFill>
          <a:ln w="9525">
            <a:solidFill>
              <a:srgbClr val="23624D">
                <a:alpha val="5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s02_macro_now_text"/>
          <p:cNvSpPr txBox="1"/>
          <p:nvPr/>
        </p:nvSpPr>
        <p:spPr>
          <a:xfrm>
            <a:off x="3381375" y="4105275"/>
            <a:ext cx="10287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NOW CONFIRM</a:t>
            </a:r>
          </a:p>
        </p:txBody>
      </p:sp>
      <p:sp>
        <p:nvSpPr>
          <p:cNvPr id="80" name="ls02_macro_rule_matrix"/>
          <p:cNvSpPr/>
          <p:nvPr/>
        </p:nvSpPr>
        <p:spPr>
          <a:xfrm>
            <a:off x="1009650" y="5143500"/>
            <a:ext cx="5467350" cy="590550"/>
          </a:xfrm>
          <a:prstGeom prst="roundRect">
            <a:avLst/>
          </a:prstGeom>
          <a:solidFill>
            <a:srgbClr val="E1E8DC">
              <a:alpha val="78000"/>
            </a:srgbClr>
          </a:solidFill>
          <a:ln w="9525">
            <a:solidFill>
              <a:srgbClr val="23624D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s02_macro_matrix_1_head"/>
          <p:cNvSpPr txBox="1"/>
          <p:nvPr/>
        </p:nvSpPr>
        <p:spPr>
          <a:xfrm>
            <a:off x="1123950" y="5191125"/>
            <a:ext cx="1200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SCORE</a:t>
            </a:r>
          </a:p>
        </p:txBody>
      </p:sp>
      <p:sp>
        <p:nvSpPr>
          <p:cNvPr id="82" name="ls02_macro_matrix_2_head"/>
          <p:cNvSpPr txBox="1"/>
          <p:nvPr/>
        </p:nvSpPr>
        <p:spPr>
          <a:xfrm>
            <a:off x="2457450" y="5191125"/>
            <a:ext cx="12001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STAGE</a:t>
            </a:r>
          </a:p>
        </p:txBody>
      </p:sp>
      <p:sp>
        <p:nvSpPr>
          <p:cNvPr id="83" name="ls02_macro_matrix_3_head"/>
          <p:cNvSpPr txBox="1"/>
          <p:nvPr/>
        </p:nvSpPr>
        <p:spPr>
          <a:xfrm>
            <a:off x="3752850" y="5191125"/>
            <a:ext cx="1390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ACTION</a:t>
            </a:r>
          </a:p>
        </p:txBody>
      </p:sp>
      <p:sp>
        <p:nvSpPr>
          <p:cNvPr id="84" name="ls02_macro_matrix_4_head"/>
          <p:cNvSpPr txBox="1"/>
          <p:nvPr/>
        </p:nvSpPr>
        <p:spPr>
          <a:xfrm>
            <a:off x="5238750" y="5191125"/>
            <a:ext cx="14668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8C5A2B"/>
                </a:solidFill>
                <a:latin typeface="Aptos"/>
              </a:rPr>
              <a:t>ROLLBACK</a:t>
            </a:r>
          </a:p>
        </p:txBody>
      </p:sp>
      <p:sp>
        <p:nvSpPr>
          <p:cNvPr id="85" name="ls02_budget_source"/>
          <p:cNvSpPr txBox="1"/>
          <p:nvPr/>
        </p:nvSpPr>
        <p:spPr>
          <a:xfrm>
            <a:off x="4324350" y="3924300"/>
            <a:ext cx="2076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Source: 投研/Wind/Bloomberg</a:t>
            </a:r>
          </a:p>
        </p:txBody>
      </p:sp>
      <p:sp>
        <p:nvSpPr>
          <p:cNvPr id="86" name="ls02_macro_matrix_1_body"/>
          <p:cNvSpPr txBox="1"/>
          <p:nvPr/>
        </p:nvSpPr>
        <p:spPr>
          <a:xfrm>
            <a:off x="1123950" y="5305425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增长+1 流动性+2
估值-1
政策VETO=0</a:t>
            </a:r>
          </a:p>
        </p:txBody>
      </p:sp>
      <p:sp>
        <p:nvSpPr>
          <p:cNvPr id="87" name="ls02_macro_matrix_2_body"/>
          <p:cNvSpPr txBox="1"/>
          <p:nvPr/>
        </p:nvSpPr>
        <p:spPr>
          <a:xfrm>
            <a:off x="2457450" y="5305425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+2 CONFIRM EARLY
≥3 DEPLOY</a:t>
            </a:r>
          </a:p>
        </p:txBody>
      </p:sp>
      <p:sp>
        <p:nvSpPr>
          <p:cNvPr id="88" name="ls02_macro_matrix_3_body"/>
          <p:cNvSpPr txBox="1"/>
          <p:nvPr/>
        </p:nvSpPr>
        <p:spPr>
          <a:xfrm>
            <a:off x="3752850" y="5305425"/>
            <a:ext cx="1390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44/40/16 权/固/另类
分段执行</a:t>
            </a:r>
          </a:p>
        </p:txBody>
      </p:sp>
      <p:sp>
        <p:nvSpPr>
          <p:cNvPr id="89" name="ls02_macro_matrix_4_body"/>
          <p:cNvSpPr txBox="1"/>
          <p:nvPr/>
        </p:nvSpPr>
        <p:spPr>
          <a:xfrm>
            <a:off x="5238750" y="5305425"/>
            <a:ext cx="1466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政策收紧→WATCH
盈利失败→CONFIRM</a:t>
            </a:r>
          </a:p>
        </p:txBody>
      </p:sp>
      <p:sp>
        <p:nvSpPr>
          <p:cNvPr id="90" name="ls02_footer_mask"/>
          <p:cNvSpPr/>
          <p:nvPr/>
        </p:nvSpPr>
        <p:spPr>
          <a:xfrm>
            <a:off x="762000" y="5905500"/>
            <a:ext cx="10668000" cy="323850"/>
          </a:xfrm>
          <a:prstGeom prst="rect">
            <a:avLst/>
          </a:prstGeom>
          <a:solidFill>
            <a:srgbClr val="EEF2E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s02_source_band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s02_risk_note"/>
          <p:cNvSpPr txBox="1"/>
          <p:nvPr/>
        </p:nvSpPr>
        <p:spPr>
          <a:xfrm>
            <a:off x="838200" y="6000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s03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A">
              <a:alpha val="100000"/>
            </a:srgbClr>
          </a:solidFill>
          <a:ln w="9525">
            <a:solidFill>
              <a:srgbClr val="EEF2E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03_grid_h_118"/>
          <p:cNvSpPr/>
          <p:nvPr/>
        </p:nvSpPr>
        <p:spPr>
          <a:xfrm>
            <a:off x="762000" y="1123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s03_grid_h_222"/>
          <p:cNvSpPr/>
          <p:nvPr/>
        </p:nvSpPr>
        <p:spPr>
          <a:xfrm>
            <a:off x="762000" y="21145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s03_grid_h_326"/>
          <p:cNvSpPr/>
          <p:nvPr/>
        </p:nvSpPr>
        <p:spPr>
          <a:xfrm>
            <a:off x="762000" y="31051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s03_grid_h_43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s03_grid_h_534"/>
          <p:cNvSpPr/>
          <p:nvPr/>
        </p:nvSpPr>
        <p:spPr>
          <a:xfrm>
            <a:off x="762000" y="50863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s03_grid_h_638"/>
          <p:cNvSpPr/>
          <p:nvPr/>
        </p:nvSpPr>
        <p:spPr>
          <a:xfrm>
            <a:off x="762000" y="6076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s03_grid_v_1040"/>
          <p:cNvSpPr/>
          <p:nvPr/>
        </p:nvSpPr>
        <p:spPr>
          <a:xfrm>
            <a:off x="990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s03_grid_v_1200"/>
          <p:cNvSpPr/>
          <p:nvPr/>
        </p:nvSpPr>
        <p:spPr>
          <a:xfrm>
            <a:off x="1143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s03_grid_v_240"/>
          <p:cNvSpPr/>
          <p:nvPr/>
        </p:nvSpPr>
        <p:spPr>
          <a:xfrm>
            <a:off x="228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s03_grid_v_400"/>
          <p:cNvSpPr/>
          <p:nvPr/>
        </p:nvSpPr>
        <p:spPr>
          <a:xfrm>
            <a:off x="381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s03_grid_v_560"/>
          <p:cNvSpPr/>
          <p:nvPr/>
        </p:nvSpPr>
        <p:spPr>
          <a:xfrm>
            <a:off x="5334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s03_grid_v_720"/>
          <p:cNvSpPr/>
          <p:nvPr/>
        </p:nvSpPr>
        <p:spPr>
          <a:xfrm>
            <a:off x="6858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s03_grid_v_80"/>
          <p:cNvSpPr/>
          <p:nvPr/>
        </p:nvSpPr>
        <p:spPr>
          <a:xfrm>
            <a:off x="76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03_grid_v_880"/>
          <p:cNvSpPr/>
          <p:nvPr/>
        </p:nvSpPr>
        <p:spPr>
          <a:xfrm>
            <a:off x="838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s03_zone_bottom"/>
          <p:cNvSpPr/>
          <p:nvPr/>
        </p:nvSpPr>
        <p:spPr>
          <a:xfrm>
            <a:off x="838200" y="3752850"/>
            <a:ext cx="5810250" cy="1847850"/>
          </a:xfrm>
          <a:prstGeom prst="rect">
            <a:avLst/>
          </a:prstGeom>
          <a:solidFill>
            <a:srgbClr val="D3DED4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s03_zone_left"/>
          <p:cNvSpPr/>
          <p:nvPr/>
        </p:nvSpPr>
        <p:spPr>
          <a:xfrm>
            <a:off x="762000" y="2114550"/>
            <a:ext cx="5943600" cy="1428750"/>
          </a:xfrm>
          <a:prstGeom prst="rect">
            <a:avLst/>
          </a:prstGeom>
          <a:solidFill>
            <a:srgbClr val="E1E8D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s03_zone_right"/>
          <p:cNvSpPr/>
          <p:nvPr/>
        </p:nvSpPr>
        <p:spPr>
          <a:xfrm>
            <a:off x="6896100" y="2114550"/>
            <a:ext cx="4572000" cy="3200400"/>
          </a:xfrm>
          <a:prstGeom prst="rect">
            <a:avLst/>
          </a:prstGeom>
          <a:solidFill>
            <a:srgbClr val="FBFCF7">
              <a:alpha val="96000"/>
            </a:srgbClr>
          </a:solidFill>
          <a:ln w="9525">
            <a:solidFill>
              <a:srgbClr val="72857B">
                <a:alpha val="2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s03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34E48"/>
                </a:solidFill>
                <a:latin typeface="Aptos"/>
              </a:rPr>
              <a:t>MARKET ATLAS / ZONE-03</a:t>
            </a:r>
          </a:p>
        </p:txBody>
      </p:sp>
      <p:sp>
        <p:nvSpPr>
          <p:cNvPr id="21" name="ls03_legend_1"/>
          <p:cNvSpPr txBox="1"/>
          <p:nvPr/>
        </p:nvSpPr>
        <p:spPr>
          <a:xfrm>
            <a:off x="7067550" y="19621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334E48"/>
                </a:solidFill>
                <a:latin typeface="Aptos"/>
              </a:rPr>
              <a:t>SIGNAL FIELD</a:t>
            </a:r>
          </a:p>
        </p:txBody>
      </p:sp>
      <p:sp>
        <p:nvSpPr>
          <p:cNvPr id="22" name="ls03_kicker"/>
          <p:cNvSpPr txBox="1"/>
          <p:nvPr/>
        </p:nvSpPr>
        <p:spPr>
          <a:xfrm>
            <a:off x="781050" y="74295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 Display"/>
              </a:rPr>
              <a:t>Asset Allocation / visual-language-demo</a:t>
            </a:r>
          </a:p>
        </p:txBody>
      </p:sp>
      <p:sp>
        <p:nvSpPr>
          <p:cNvPr id="23" name="ls03_title"/>
          <p:cNvSpPr txBox="1"/>
          <p:nvPr/>
        </p:nvSpPr>
        <p:spPr>
          <a:xfrm>
            <a:off x="781050" y="933450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E2723"/>
                </a:solidFill>
                <a:latin typeface="Aptos Display"/>
              </a:rPr>
              <a:t>资产配置建议：提高权益弹性，但保留固收稳定器</a:t>
            </a:r>
          </a:p>
        </p:txBody>
      </p:sp>
      <p:sp>
        <p:nvSpPr>
          <p:cNvPr id="24" name="ls03_subtitle"/>
          <p:cNvSpPr txBox="1"/>
          <p:nvPr/>
        </p:nvSpPr>
        <p:spPr>
          <a:xfrm>
            <a:off x="800100" y="1524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E48"/>
                </a:solidFill>
                <a:latin typeface="Aptos"/>
              </a:rPr>
              <a:t>从仓位表述转向风险贡献表述，避免单一资产波动掩盖组合真实风险。</a:t>
            </a:r>
          </a:p>
        </p:txBody>
      </p:sp>
      <p:sp>
        <p:nvSpPr>
          <p:cNvPr id="25" name="ls03_body_1"/>
          <p:cNvSpPr txBox="1"/>
          <p:nvPr/>
        </p:nvSpPr>
        <p:spPr>
          <a:xfrm>
            <a:off x="838200" y="2114550"/>
            <a:ext cx="476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权益主要来自成长与出海，红利转为稳定配置。</a:t>
            </a:r>
          </a:p>
        </p:txBody>
      </p:sp>
      <p:sp>
        <p:nvSpPr>
          <p:cNvPr id="26" name="ls03_body_2"/>
          <p:cNvSpPr txBox="1"/>
          <p:nvPr/>
        </p:nvSpPr>
        <p:spPr>
          <a:xfrm>
            <a:off x="838200" y="2514600"/>
            <a:ext cx="476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固收不追久期；商品与黄金用于尾部对冲。</a:t>
            </a:r>
          </a:p>
        </p:txBody>
      </p:sp>
      <p:sp>
        <p:nvSpPr>
          <p:cNvPr id="27" name="ls03_metric_1_chip"/>
          <p:cNvSpPr/>
          <p:nvPr/>
        </p:nvSpPr>
        <p:spPr>
          <a:xfrm>
            <a:off x="71247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173B67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s03_metric_1_label"/>
          <p:cNvSpPr txBox="1"/>
          <p:nvPr/>
        </p:nvSpPr>
        <p:spPr>
          <a:xfrm>
            <a:off x="72390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权益</a:t>
            </a:r>
          </a:p>
        </p:txBody>
      </p:sp>
      <p:sp>
        <p:nvSpPr>
          <p:cNvPr id="29" name="ls03_metric_1_value"/>
          <p:cNvSpPr txBox="1"/>
          <p:nvPr/>
        </p:nvSpPr>
        <p:spPr>
          <a:xfrm>
            <a:off x="72390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55%</a:t>
            </a:r>
          </a:p>
        </p:txBody>
      </p:sp>
      <p:sp>
        <p:nvSpPr>
          <p:cNvPr id="30" name="ls03_metric_1_delta"/>
          <p:cNvSpPr txBox="1"/>
          <p:nvPr/>
        </p:nvSpPr>
        <p:spPr>
          <a:xfrm>
            <a:off x="72390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173B67"/>
                </a:solidFill>
                <a:latin typeface="Arial Narrow"/>
              </a:rPr>
              <a:t>+5pct</a:t>
            </a:r>
          </a:p>
        </p:txBody>
      </p:sp>
      <p:sp>
        <p:nvSpPr>
          <p:cNvPr id="31" name="ls03_metric_2_chip"/>
          <p:cNvSpPr/>
          <p:nvPr/>
        </p:nvSpPr>
        <p:spPr>
          <a:xfrm>
            <a:off x="86106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23624D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s03_metric_2_label"/>
          <p:cNvSpPr txBox="1"/>
          <p:nvPr/>
        </p:nvSpPr>
        <p:spPr>
          <a:xfrm>
            <a:off x="87249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固收</a:t>
            </a:r>
          </a:p>
        </p:txBody>
      </p:sp>
      <p:sp>
        <p:nvSpPr>
          <p:cNvPr id="33" name="ls03_metric_2_value"/>
          <p:cNvSpPr txBox="1"/>
          <p:nvPr/>
        </p:nvSpPr>
        <p:spPr>
          <a:xfrm>
            <a:off x="87249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32%</a:t>
            </a:r>
          </a:p>
        </p:txBody>
      </p:sp>
      <p:sp>
        <p:nvSpPr>
          <p:cNvPr id="34" name="ls03_metric_2_delta"/>
          <p:cNvSpPr txBox="1"/>
          <p:nvPr/>
        </p:nvSpPr>
        <p:spPr>
          <a:xfrm>
            <a:off x="87249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23624D"/>
                </a:solidFill>
                <a:latin typeface="Arial Narrow"/>
              </a:rPr>
              <a:t>-4pct</a:t>
            </a:r>
          </a:p>
        </p:txBody>
      </p:sp>
      <p:sp>
        <p:nvSpPr>
          <p:cNvPr id="35" name="ls03_metric_3_chip"/>
          <p:cNvSpPr/>
          <p:nvPr/>
        </p:nvSpPr>
        <p:spPr>
          <a:xfrm>
            <a:off x="10096500" y="2247900"/>
            <a:ext cx="1314450" cy="781050"/>
          </a:xfrm>
          <a:prstGeom prst="roundRect">
            <a:avLst/>
          </a:prstGeom>
          <a:solidFill>
            <a:srgbClr val="FBFCF7">
              <a:alpha val="84000"/>
            </a:srgbClr>
          </a:solidFill>
          <a:ln w="9525">
            <a:solidFill>
              <a:srgbClr val="8C5A2B">
                <a:alpha val="6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s03_metric_3_label"/>
          <p:cNvSpPr txBox="1"/>
          <p:nvPr/>
        </p:nvSpPr>
        <p:spPr>
          <a:xfrm>
            <a:off x="10210800" y="2324100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另类现金</a:t>
            </a:r>
          </a:p>
        </p:txBody>
      </p:sp>
      <p:sp>
        <p:nvSpPr>
          <p:cNvPr id="37" name="ls03_right_field_head"/>
          <p:cNvSpPr txBox="1"/>
          <p:nvPr/>
        </p:nvSpPr>
        <p:spPr>
          <a:xfrm>
            <a:off x="7124700" y="3257550"/>
            <a:ext cx="3143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DECISION CHAIN / LIMIT GUARDRAIL</a:t>
            </a:r>
          </a:p>
        </p:txBody>
      </p:sp>
      <p:sp>
        <p:nvSpPr>
          <p:cNvPr id="38" name="ls03_metric_3_value"/>
          <p:cNvSpPr txBox="1"/>
          <p:nvPr/>
        </p:nvSpPr>
        <p:spPr>
          <a:xfrm>
            <a:off x="10210800" y="2514600"/>
            <a:ext cx="1085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2723"/>
                </a:solidFill>
                <a:latin typeface="Arial Narrow"/>
              </a:rPr>
              <a:t>13%</a:t>
            </a:r>
          </a:p>
        </p:txBody>
      </p:sp>
      <p:sp>
        <p:nvSpPr>
          <p:cNvPr id="39" name="ls03_metric_3_delta"/>
          <p:cNvSpPr txBox="1"/>
          <p:nvPr/>
        </p:nvSpPr>
        <p:spPr>
          <a:xfrm>
            <a:off x="10210800" y="2762250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8C5A2B"/>
                </a:solidFill>
                <a:latin typeface="Arial Narrow"/>
              </a:rPr>
              <a:t>-1pct</a:t>
            </a:r>
          </a:p>
        </p:txBody>
      </p:sp>
      <p:sp>
        <p:nvSpPr>
          <p:cNvPr id="40" name="ls03_decision_chain_1"/>
          <p:cNvSpPr/>
          <p:nvPr/>
        </p:nvSpPr>
        <p:spPr>
          <a:xfrm>
            <a:off x="7124700" y="3524250"/>
            <a:ext cx="3695700" cy="228600"/>
          </a:xfrm>
          <a:prstGeom prst="roundRect">
            <a:avLst/>
          </a:prstGeom>
          <a:solidFill>
            <a:srgbClr val="E1E8DC">
              <a:alpha val="76000"/>
            </a:srgbClr>
          </a:solidFill>
          <a:ln w="9525">
            <a:solidFill>
              <a:srgbClr val="173B67">
                <a:alpha val="3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s03_budget_map_panel"/>
          <p:cNvSpPr/>
          <p:nvPr/>
        </p:nvSpPr>
        <p:spPr>
          <a:xfrm>
            <a:off x="838200" y="3790950"/>
            <a:ext cx="5810250" cy="1943100"/>
          </a:xfrm>
          <a:prstGeom prst="rect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72857B">
                <a:alpha val="4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s03_decision_chain_2"/>
          <p:cNvSpPr/>
          <p:nvPr/>
        </p:nvSpPr>
        <p:spPr>
          <a:xfrm>
            <a:off x="7124700" y="3810000"/>
            <a:ext cx="3695700" cy="228600"/>
          </a:xfrm>
          <a:prstGeom prst="roundRect">
            <a:avLst/>
          </a:prstGeom>
          <a:solidFill>
            <a:srgbClr val="E1E8DC">
              <a:alpha val="76000"/>
            </a:srgbClr>
          </a:solidFill>
          <a:ln w="9525">
            <a:solidFill>
              <a:srgbClr val="173B67">
                <a:alpha val="3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s03_decision_chain_3"/>
          <p:cNvSpPr/>
          <p:nvPr/>
        </p:nvSpPr>
        <p:spPr>
          <a:xfrm>
            <a:off x="7124700" y="4095750"/>
            <a:ext cx="3695700" cy="228600"/>
          </a:xfrm>
          <a:prstGeom prst="roundRect">
            <a:avLst/>
          </a:prstGeom>
          <a:solidFill>
            <a:srgbClr val="E1E8DC">
              <a:alpha val="76000"/>
            </a:srgbClr>
          </a:solidFill>
          <a:ln w="9525">
            <a:solidFill>
              <a:srgbClr val="23624D">
                <a:alpha val="3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s03_budget_map_title"/>
          <p:cNvSpPr txBox="1"/>
          <p:nvPr/>
        </p:nvSpPr>
        <p:spPr>
          <a:xfrm>
            <a:off x="1009650" y="3905250"/>
            <a:ext cx="5467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ALLOCATION ROUTE MAP / 建议配置比例，%</a:t>
            </a:r>
          </a:p>
        </p:txBody>
      </p:sp>
      <p:sp>
        <p:nvSpPr>
          <p:cNvPr id="45" name="ls03_decision_chain_4"/>
          <p:cNvSpPr/>
          <p:nvPr/>
        </p:nvSpPr>
        <p:spPr>
          <a:xfrm>
            <a:off x="7124700" y="4381500"/>
            <a:ext cx="3695700" cy="228600"/>
          </a:xfrm>
          <a:prstGeom prst="roundRect">
            <a:avLst/>
          </a:prstGeom>
          <a:solidFill>
            <a:srgbClr val="E1E8DC">
              <a:alpha val="76000"/>
            </a:srgbClr>
          </a:solidFill>
          <a:ln w="9525">
            <a:solidFill>
              <a:srgbClr val="23624D">
                <a:alpha val="3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s03_decision_chain_5"/>
          <p:cNvSpPr/>
          <p:nvPr/>
        </p:nvSpPr>
        <p:spPr>
          <a:xfrm>
            <a:off x="7124700" y="4667250"/>
            <a:ext cx="3695700" cy="228600"/>
          </a:xfrm>
          <a:prstGeom prst="roundRect">
            <a:avLst/>
          </a:prstGeom>
          <a:solidFill>
            <a:srgbClr val="E1E8DC">
              <a:alpha val="76000"/>
            </a:srgbClr>
          </a:solidFill>
          <a:ln w="9525">
            <a:solidFill>
              <a:srgbClr val="8C5A2B">
                <a:alpha val="3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s03_bridge_head_1"/>
          <p:cNvSpPr txBox="1"/>
          <p:nvPr/>
        </p:nvSpPr>
        <p:spPr>
          <a:xfrm>
            <a:off x="1600200" y="4248150"/>
            <a:ext cx="9144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CURRENT</a:t>
            </a:r>
          </a:p>
        </p:txBody>
      </p:sp>
      <p:sp>
        <p:nvSpPr>
          <p:cNvPr id="48" name="ls03_bridge_head_2"/>
          <p:cNvSpPr txBox="1"/>
          <p:nvPr/>
        </p:nvSpPr>
        <p:spPr>
          <a:xfrm>
            <a:off x="3409950" y="4248150"/>
            <a:ext cx="9144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PROPOSED</a:t>
            </a:r>
          </a:p>
        </p:txBody>
      </p:sp>
      <p:sp>
        <p:nvSpPr>
          <p:cNvPr id="49" name="ls03_bridge_head_3"/>
          <p:cNvSpPr txBox="1"/>
          <p:nvPr/>
        </p:nvSpPr>
        <p:spPr>
          <a:xfrm>
            <a:off x="5219700" y="4248150"/>
            <a:ext cx="9144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LIMIT</a:t>
            </a:r>
          </a:p>
        </p:txBody>
      </p:sp>
      <p:sp>
        <p:nvSpPr>
          <p:cNvPr id="50" name="ls03_decision_chain_1_key"/>
          <p:cNvSpPr txBox="1"/>
          <p:nvPr/>
        </p:nvSpPr>
        <p:spPr>
          <a:xfrm>
            <a:off x="7219950" y="3571875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Trigger</a:t>
            </a:r>
          </a:p>
        </p:txBody>
      </p:sp>
      <p:sp>
        <p:nvSpPr>
          <p:cNvPr id="51" name="ls03_decision_chain_2_key"/>
          <p:cNvSpPr txBox="1"/>
          <p:nvPr/>
        </p:nvSpPr>
        <p:spPr>
          <a:xfrm>
            <a:off x="7219950" y="3857625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Action</a:t>
            </a:r>
          </a:p>
        </p:txBody>
      </p:sp>
      <p:sp>
        <p:nvSpPr>
          <p:cNvPr id="52" name="ls03_decision_chain_3_key"/>
          <p:cNvSpPr txBox="1"/>
          <p:nvPr/>
        </p:nvSpPr>
        <p:spPr>
          <a:xfrm>
            <a:off x="7219950" y="4143375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Funding</a:t>
            </a:r>
          </a:p>
        </p:txBody>
      </p:sp>
      <p:sp>
        <p:nvSpPr>
          <p:cNvPr id="53" name="ls03_bridge_node_1"/>
          <p:cNvSpPr/>
          <p:nvPr/>
        </p:nvSpPr>
        <p:spPr>
          <a:xfrm>
            <a:off x="1866900" y="4457700"/>
            <a:ext cx="342900" cy="3429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s03_decision_chain_4_key"/>
          <p:cNvSpPr txBox="1"/>
          <p:nvPr/>
        </p:nvSpPr>
        <p:spPr>
          <a:xfrm>
            <a:off x="7219950" y="4429125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Limit</a:t>
            </a:r>
          </a:p>
        </p:txBody>
      </p:sp>
      <p:sp>
        <p:nvSpPr>
          <p:cNvPr id="55" name="ls03_bridge_node_2"/>
          <p:cNvSpPr/>
          <p:nvPr/>
        </p:nvSpPr>
        <p:spPr>
          <a:xfrm>
            <a:off x="3676650" y="4457700"/>
            <a:ext cx="342900" cy="3429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s03_decision_chain_5_key"/>
          <p:cNvSpPr txBox="1"/>
          <p:nvPr/>
        </p:nvSpPr>
        <p:spPr>
          <a:xfrm>
            <a:off x="7219950" y="4714875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8C5A2B"/>
                </a:solidFill>
                <a:latin typeface="Aptos"/>
              </a:rPr>
              <a:t>Guardrail</a:t>
            </a:r>
          </a:p>
        </p:txBody>
      </p:sp>
      <p:sp>
        <p:nvSpPr>
          <p:cNvPr id="57" name="ls03_bridge_node_3"/>
          <p:cNvSpPr/>
          <p:nvPr/>
        </p:nvSpPr>
        <p:spPr>
          <a:xfrm>
            <a:off x="5486400" y="4457700"/>
            <a:ext cx="342900" cy="3429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8C5A2B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s03_bridge_node_label_1"/>
          <p:cNvSpPr txBox="1"/>
          <p:nvPr/>
        </p:nvSpPr>
        <p:spPr>
          <a:xfrm>
            <a:off x="1619250" y="4838700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当前配置</a:t>
            </a:r>
          </a:p>
        </p:txBody>
      </p:sp>
      <p:sp>
        <p:nvSpPr>
          <p:cNvPr id="59" name="ls03_bridge_node_label_2"/>
          <p:cNvSpPr txBox="1"/>
          <p:nvPr/>
        </p:nvSpPr>
        <p:spPr>
          <a:xfrm>
            <a:off x="3429000" y="4838700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建议动作</a:t>
            </a:r>
          </a:p>
        </p:txBody>
      </p:sp>
      <p:sp>
        <p:nvSpPr>
          <p:cNvPr id="60" name="ls03_decision_chain_1_val"/>
          <p:cNvSpPr txBox="1"/>
          <p:nvPr/>
        </p:nvSpPr>
        <p:spPr>
          <a:xfrm>
            <a:off x="7981950" y="3562350"/>
            <a:ext cx="2724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权益风险预算释放 +5pct</a:t>
            </a:r>
          </a:p>
        </p:txBody>
      </p:sp>
      <p:sp>
        <p:nvSpPr>
          <p:cNvPr id="61" name="ls03_bridge_node_label_3"/>
          <p:cNvSpPr txBox="1"/>
          <p:nvPr/>
        </p:nvSpPr>
        <p:spPr>
          <a:xfrm>
            <a:off x="5238750" y="4838700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0E2723"/>
                </a:solidFill>
                <a:latin typeface="Aptos"/>
              </a:rPr>
              <a:t>风险上限</a:t>
            </a:r>
          </a:p>
        </p:txBody>
      </p:sp>
      <p:sp>
        <p:nvSpPr>
          <p:cNvPr id="62" name="ls03_bridge_route_1"/>
          <p:cNvSpPr/>
          <p:nvPr/>
        </p:nvSpPr>
        <p:spPr>
          <a:xfrm>
            <a:off x="2266950" y="4610100"/>
            <a:ext cx="1352550" cy="38100"/>
          </a:xfrm>
          <a:prstGeom prst="rect">
            <a:avLst/>
          </a:prstGeom>
          <a:solidFill>
            <a:srgbClr val="23624D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s03_decision_chain_2_val"/>
          <p:cNvSpPr txBox="1"/>
          <p:nvPr/>
        </p:nvSpPr>
        <p:spPr>
          <a:xfrm>
            <a:off x="7981950" y="3848100"/>
            <a:ext cx="2724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权益50→55；提高弹性但不追满</a:t>
            </a:r>
          </a:p>
        </p:txBody>
      </p:sp>
      <p:sp>
        <p:nvSpPr>
          <p:cNvPr id="64" name="ls03_bridge_route_2"/>
          <p:cNvSpPr/>
          <p:nvPr/>
        </p:nvSpPr>
        <p:spPr>
          <a:xfrm>
            <a:off x="4076700" y="4610100"/>
            <a:ext cx="1352550" cy="38100"/>
          </a:xfrm>
          <a:prstGeom prst="rect">
            <a:avLst/>
          </a:prstGeom>
          <a:solidFill>
            <a:srgbClr val="8C5A2B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s03_decision_chain_3_val"/>
          <p:cNvSpPr txBox="1"/>
          <p:nvPr/>
        </p:nvSpPr>
        <p:spPr>
          <a:xfrm>
            <a:off x="7981950" y="4133850"/>
            <a:ext cx="2724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固收-4pct；另类现金-1pct</a:t>
            </a:r>
          </a:p>
        </p:txBody>
      </p:sp>
      <p:sp>
        <p:nvSpPr>
          <p:cNvPr id="66" name="ls03_decision_chain_4_val"/>
          <p:cNvSpPr txBox="1"/>
          <p:nvPr/>
        </p:nvSpPr>
        <p:spPr>
          <a:xfrm>
            <a:off x="7981950" y="4419600"/>
            <a:ext cx="2724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权益≤62；固收≥30；另类现金≥8</a:t>
            </a:r>
          </a:p>
        </p:txBody>
      </p:sp>
      <p:sp>
        <p:nvSpPr>
          <p:cNvPr id="67" name="ls03_decision_chain_5_val"/>
          <p:cNvSpPr txBox="1"/>
          <p:nvPr/>
        </p:nvSpPr>
        <p:spPr>
          <a:xfrm>
            <a:off x="7981950" y="4705350"/>
            <a:ext cx="2724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DD&gt;5%或周撤&gt;3%：停加风险/回建议仓位</a:t>
            </a:r>
          </a:p>
        </p:txBody>
      </p:sp>
      <p:sp>
        <p:nvSpPr>
          <p:cNvPr id="68" name="ls03_bridge_route_label_1"/>
          <p:cNvSpPr txBox="1"/>
          <p:nvPr/>
        </p:nvSpPr>
        <p:spPr>
          <a:xfrm>
            <a:off x="2552700" y="4400550"/>
            <a:ext cx="1123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加权益 / 控久期</a:t>
            </a:r>
          </a:p>
        </p:txBody>
      </p:sp>
      <p:sp>
        <p:nvSpPr>
          <p:cNvPr id="69" name="ls03_bridge_route_label_2"/>
          <p:cNvSpPr txBox="1"/>
          <p:nvPr/>
        </p:nvSpPr>
        <p:spPr>
          <a:xfrm>
            <a:off x="4362450" y="4400550"/>
            <a:ext cx="1123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护栏 / 不突破</a:t>
            </a:r>
          </a:p>
        </p:txBody>
      </p:sp>
      <p:sp>
        <p:nvSpPr>
          <p:cNvPr id="70" name="ls03_bridge_asset_1"/>
          <p:cNvSpPr txBox="1"/>
          <p:nvPr/>
        </p:nvSpPr>
        <p:spPr>
          <a:xfrm>
            <a:off x="1028700" y="488632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73B67"/>
                </a:solidFill>
                <a:latin typeface="Arial Narrow"/>
              </a:rPr>
              <a:t>权益</a:t>
            </a:r>
          </a:p>
        </p:txBody>
      </p:sp>
      <p:sp>
        <p:nvSpPr>
          <p:cNvPr id="71" name="ls03_bridge_asset_2"/>
          <p:cNvSpPr txBox="1"/>
          <p:nvPr/>
        </p:nvSpPr>
        <p:spPr>
          <a:xfrm>
            <a:off x="1028700" y="509587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23624D"/>
                </a:solidFill>
                <a:latin typeface="Arial Narrow"/>
              </a:rPr>
              <a:t>固收</a:t>
            </a:r>
          </a:p>
        </p:txBody>
      </p:sp>
      <p:sp>
        <p:nvSpPr>
          <p:cNvPr id="72" name="ls03_bridge_asset_3"/>
          <p:cNvSpPr txBox="1"/>
          <p:nvPr/>
        </p:nvSpPr>
        <p:spPr>
          <a:xfrm>
            <a:off x="1028700" y="5305425"/>
            <a:ext cx="68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8C5A2B"/>
                </a:solidFill>
                <a:latin typeface="Arial Narrow"/>
              </a:rPr>
              <a:t>另类现金</a:t>
            </a:r>
          </a:p>
        </p:txBody>
      </p:sp>
      <p:sp>
        <p:nvSpPr>
          <p:cNvPr id="73" name="ls03_bridge_asset_1_stop_1"/>
          <p:cNvSpPr/>
          <p:nvPr/>
        </p:nvSpPr>
        <p:spPr>
          <a:xfrm>
            <a:off x="1714500" y="48577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173B67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s03_bridge_asset_1_stop_2"/>
          <p:cNvSpPr/>
          <p:nvPr/>
        </p:nvSpPr>
        <p:spPr>
          <a:xfrm>
            <a:off x="3524250" y="48577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173B67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s03_bridge_asset_1_stop_3"/>
          <p:cNvSpPr/>
          <p:nvPr/>
        </p:nvSpPr>
        <p:spPr>
          <a:xfrm>
            <a:off x="5334000" y="48577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173B67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s03_bridge_asset_2_stop_1"/>
          <p:cNvSpPr/>
          <p:nvPr/>
        </p:nvSpPr>
        <p:spPr>
          <a:xfrm>
            <a:off x="1714500" y="506730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23624D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s03_bridge_asset_1_val_1"/>
          <p:cNvSpPr txBox="1"/>
          <p:nvPr/>
        </p:nvSpPr>
        <p:spPr>
          <a:xfrm>
            <a:off x="1866900" y="48863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50%</a:t>
            </a:r>
          </a:p>
        </p:txBody>
      </p:sp>
      <p:sp>
        <p:nvSpPr>
          <p:cNvPr id="78" name="ls03_bridge_asset_2_stop_2"/>
          <p:cNvSpPr/>
          <p:nvPr/>
        </p:nvSpPr>
        <p:spPr>
          <a:xfrm>
            <a:off x="3524250" y="506730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23624D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s03_bridge_asset_1_val_2"/>
          <p:cNvSpPr txBox="1"/>
          <p:nvPr/>
        </p:nvSpPr>
        <p:spPr>
          <a:xfrm>
            <a:off x="3676650" y="48863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55%</a:t>
            </a:r>
          </a:p>
        </p:txBody>
      </p:sp>
      <p:sp>
        <p:nvSpPr>
          <p:cNvPr id="80" name="ls03_bridge_asset_2_stop_3"/>
          <p:cNvSpPr/>
          <p:nvPr/>
        </p:nvSpPr>
        <p:spPr>
          <a:xfrm>
            <a:off x="5334000" y="506730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23624D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s03_bridge_asset_1_val_3"/>
          <p:cNvSpPr txBox="1"/>
          <p:nvPr/>
        </p:nvSpPr>
        <p:spPr>
          <a:xfrm>
            <a:off x="5486400" y="48863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62%</a:t>
            </a:r>
          </a:p>
        </p:txBody>
      </p:sp>
      <p:sp>
        <p:nvSpPr>
          <p:cNvPr id="82" name="ls03_bridge_asset_3_stop_1"/>
          <p:cNvSpPr/>
          <p:nvPr/>
        </p:nvSpPr>
        <p:spPr>
          <a:xfrm>
            <a:off x="1714500" y="52768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8C5A2B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s03_bridge_asset_2_val_1"/>
          <p:cNvSpPr txBox="1"/>
          <p:nvPr/>
        </p:nvSpPr>
        <p:spPr>
          <a:xfrm>
            <a:off x="1866900" y="509587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36%</a:t>
            </a:r>
          </a:p>
        </p:txBody>
      </p:sp>
      <p:sp>
        <p:nvSpPr>
          <p:cNvPr id="84" name="ls03_bridge_asset_3_stop_2"/>
          <p:cNvSpPr/>
          <p:nvPr/>
        </p:nvSpPr>
        <p:spPr>
          <a:xfrm>
            <a:off x="3524250" y="52768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8C5A2B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s03_bridge_asset_2_val_2"/>
          <p:cNvSpPr txBox="1"/>
          <p:nvPr/>
        </p:nvSpPr>
        <p:spPr>
          <a:xfrm>
            <a:off x="3676650" y="509587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32%</a:t>
            </a:r>
          </a:p>
        </p:txBody>
      </p:sp>
      <p:sp>
        <p:nvSpPr>
          <p:cNvPr id="86" name="ls03_bridge_asset_3_stop_3"/>
          <p:cNvSpPr/>
          <p:nvPr/>
        </p:nvSpPr>
        <p:spPr>
          <a:xfrm>
            <a:off x="5334000" y="5276850"/>
            <a:ext cx="647700" cy="171450"/>
          </a:xfrm>
          <a:prstGeom prst="roundRect">
            <a:avLst/>
          </a:prstGeom>
          <a:solidFill>
            <a:srgbClr val="E1E8DC">
              <a:alpha val="82000"/>
            </a:srgbClr>
          </a:solidFill>
          <a:ln w="9525">
            <a:solidFill>
              <a:srgbClr val="8C5A2B">
                <a:alpha val="4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s03_bridge_asset_2_val_3"/>
          <p:cNvSpPr txBox="1"/>
          <p:nvPr/>
        </p:nvSpPr>
        <p:spPr>
          <a:xfrm>
            <a:off x="5486400" y="509587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30%</a:t>
            </a:r>
          </a:p>
        </p:txBody>
      </p:sp>
      <p:sp>
        <p:nvSpPr>
          <p:cNvPr id="88" name="ls03_bridge_asset_3_val_1"/>
          <p:cNvSpPr txBox="1"/>
          <p:nvPr/>
        </p:nvSpPr>
        <p:spPr>
          <a:xfrm>
            <a:off x="1866900" y="53054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14%</a:t>
            </a:r>
          </a:p>
        </p:txBody>
      </p:sp>
      <p:sp>
        <p:nvSpPr>
          <p:cNvPr id="89" name="ls03_bridge_asset_3_val_2"/>
          <p:cNvSpPr txBox="1"/>
          <p:nvPr/>
        </p:nvSpPr>
        <p:spPr>
          <a:xfrm>
            <a:off x="3676650" y="53054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13%</a:t>
            </a:r>
          </a:p>
        </p:txBody>
      </p:sp>
      <p:sp>
        <p:nvSpPr>
          <p:cNvPr id="90" name="ls03_bridge_asset_3_val_3"/>
          <p:cNvSpPr txBox="1"/>
          <p:nvPr/>
        </p:nvSpPr>
        <p:spPr>
          <a:xfrm>
            <a:off x="5486400" y="5305425"/>
            <a:ext cx="361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8%</a:t>
            </a:r>
          </a:p>
        </p:txBody>
      </p:sp>
      <p:sp>
        <p:nvSpPr>
          <p:cNvPr id="91" name="ls03_bridge_asset_1_delta"/>
          <p:cNvSpPr txBox="1"/>
          <p:nvPr/>
        </p:nvSpPr>
        <p:spPr>
          <a:xfrm>
            <a:off x="2857500" y="4886325"/>
            <a:ext cx="552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73B67"/>
                </a:solidFill>
                <a:latin typeface="Arial Narrow"/>
              </a:rPr>
              <a:t>+5pct</a:t>
            </a:r>
          </a:p>
        </p:txBody>
      </p:sp>
      <p:sp>
        <p:nvSpPr>
          <p:cNvPr id="92" name="ls03_bridge_asset_2_delta"/>
          <p:cNvSpPr txBox="1"/>
          <p:nvPr/>
        </p:nvSpPr>
        <p:spPr>
          <a:xfrm>
            <a:off x="2857500" y="5095875"/>
            <a:ext cx="552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23624D"/>
                </a:solidFill>
                <a:latin typeface="Arial Narrow"/>
              </a:rPr>
              <a:t>-4pct</a:t>
            </a:r>
          </a:p>
        </p:txBody>
      </p:sp>
      <p:sp>
        <p:nvSpPr>
          <p:cNvPr id="93" name="ls03_bridge_asset_3_delta"/>
          <p:cNvSpPr txBox="1"/>
          <p:nvPr/>
        </p:nvSpPr>
        <p:spPr>
          <a:xfrm>
            <a:off x="2857500" y="5305425"/>
            <a:ext cx="552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8C5A2B"/>
                </a:solidFill>
                <a:latin typeface="Arial Narrow"/>
              </a:rPr>
              <a:t>-1pct</a:t>
            </a:r>
          </a:p>
        </p:txBody>
      </p:sp>
      <p:sp>
        <p:nvSpPr>
          <p:cNvPr id="94" name="ls03_bridge_guardrail"/>
          <p:cNvSpPr/>
          <p:nvPr/>
        </p:nvSpPr>
        <p:spPr>
          <a:xfrm>
            <a:off x="5676900" y="4286250"/>
            <a:ext cx="19050" cy="1123950"/>
          </a:xfrm>
          <a:prstGeom prst="rect">
            <a:avLst/>
          </a:prstGeom>
          <a:solidFill>
            <a:srgbClr val="8C5A2B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s03_bridge_guardrail_label"/>
          <p:cNvSpPr txBox="1"/>
          <p:nvPr/>
        </p:nvSpPr>
        <p:spPr>
          <a:xfrm>
            <a:off x="5314950" y="4191000"/>
            <a:ext cx="10287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8C5A2B"/>
                </a:solidFill>
                <a:latin typeface="Aptos"/>
              </a:rPr>
              <a:t>DD GUARDRAIL</a:t>
            </a:r>
          </a:p>
        </p:txBody>
      </p:sp>
      <p:sp>
        <p:nvSpPr>
          <p:cNvPr id="96" name="ls03_bridge_limit_rule"/>
          <p:cNvSpPr txBox="1"/>
          <p:nvPr/>
        </p:nvSpPr>
        <p:spPr>
          <a:xfrm>
            <a:off x="1028700" y="4057650"/>
            <a:ext cx="523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0E2723"/>
                </a:solidFill>
                <a:latin typeface="Arial Narrow"/>
              </a:rPr>
              <a:t>上限：权益≤62；固收≥30；另类现金≥8（尾部对冲底仓）</a:t>
            </a:r>
          </a:p>
        </p:txBody>
      </p:sp>
      <p:sp>
        <p:nvSpPr>
          <p:cNvPr id="97" name="ls03_bridge_dd_rule"/>
          <p:cNvSpPr txBox="1"/>
          <p:nvPr/>
        </p:nvSpPr>
        <p:spPr>
          <a:xfrm>
            <a:off x="1028700" y="5505450"/>
            <a:ext cx="523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8C5A2B"/>
                </a:solidFill>
                <a:latin typeface="Arial Narrow"/>
              </a:rPr>
              <a:t>回撤&gt;5%或周撤&gt;3%：停加权益，回建议仓位</a:t>
            </a:r>
          </a:p>
        </p:txBody>
      </p:sp>
      <p:sp>
        <p:nvSpPr>
          <p:cNvPr id="98" name="ls03_budget_source"/>
          <p:cNvSpPr txBox="1"/>
          <p:nvPr/>
        </p:nvSpPr>
        <p:spPr>
          <a:xfrm>
            <a:off x="4324350" y="3924300"/>
            <a:ext cx="2076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Source: 投研/Wind/Bloomberg</a:t>
            </a:r>
          </a:p>
        </p:txBody>
      </p:sp>
      <p:sp>
        <p:nvSpPr>
          <p:cNvPr id="99" name="ls03_footer_mask"/>
          <p:cNvSpPr/>
          <p:nvPr/>
        </p:nvSpPr>
        <p:spPr>
          <a:xfrm>
            <a:off x="762000" y="5905500"/>
            <a:ext cx="10668000" cy="323850"/>
          </a:xfrm>
          <a:prstGeom prst="rect">
            <a:avLst/>
          </a:prstGeom>
          <a:solidFill>
            <a:srgbClr val="EEF2E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ls03_source_band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ls03_risk_note"/>
          <p:cNvSpPr txBox="1"/>
          <p:nvPr/>
        </p:nvSpPr>
        <p:spPr>
          <a:xfrm>
            <a:off x="838200" y="6000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s04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A">
              <a:alpha val="100000"/>
            </a:srgbClr>
          </a:solidFill>
          <a:ln w="9525">
            <a:solidFill>
              <a:srgbClr val="EEF2E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04_grid_h_118"/>
          <p:cNvSpPr/>
          <p:nvPr/>
        </p:nvSpPr>
        <p:spPr>
          <a:xfrm>
            <a:off x="762000" y="1123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s04_grid_h_222"/>
          <p:cNvSpPr/>
          <p:nvPr/>
        </p:nvSpPr>
        <p:spPr>
          <a:xfrm>
            <a:off x="762000" y="21145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s04_grid_h_326"/>
          <p:cNvSpPr/>
          <p:nvPr/>
        </p:nvSpPr>
        <p:spPr>
          <a:xfrm>
            <a:off x="762000" y="31051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s04_grid_h_43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s04_grid_h_534"/>
          <p:cNvSpPr/>
          <p:nvPr/>
        </p:nvSpPr>
        <p:spPr>
          <a:xfrm>
            <a:off x="762000" y="50863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s04_grid_h_638"/>
          <p:cNvSpPr/>
          <p:nvPr/>
        </p:nvSpPr>
        <p:spPr>
          <a:xfrm>
            <a:off x="762000" y="6076950"/>
            <a:ext cx="10668000" cy="9525"/>
          </a:xfrm>
          <a:prstGeom prst="rect">
            <a:avLst/>
          </a:prstGeom>
          <a:solidFill>
            <a:srgbClr val="6F8278">
              <a:alpha val="1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s04_grid_v_1040"/>
          <p:cNvSpPr/>
          <p:nvPr/>
        </p:nvSpPr>
        <p:spPr>
          <a:xfrm>
            <a:off x="990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s04_grid_v_1200"/>
          <p:cNvSpPr/>
          <p:nvPr/>
        </p:nvSpPr>
        <p:spPr>
          <a:xfrm>
            <a:off x="1143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s04_grid_v_240"/>
          <p:cNvSpPr/>
          <p:nvPr/>
        </p:nvSpPr>
        <p:spPr>
          <a:xfrm>
            <a:off x="2286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s04_grid_v_400"/>
          <p:cNvSpPr/>
          <p:nvPr/>
        </p:nvSpPr>
        <p:spPr>
          <a:xfrm>
            <a:off x="3810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s04_grid_v_560"/>
          <p:cNvSpPr/>
          <p:nvPr/>
        </p:nvSpPr>
        <p:spPr>
          <a:xfrm>
            <a:off x="5334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s04_grid_v_720"/>
          <p:cNvSpPr/>
          <p:nvPr/>
        </p:nvSpPr>
        <p:spPr>
          <a:xfrm>
            <a:off x="6858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s04_grid_v_80"/>
          <p:cNvSpPr/>
          <p:nvPr/>
        </p:nvSpPr>
        <p:spPr>
          <a:xfrm>
            <a:off x="76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04_grid_v_880"/>
          <p:cNvSpPr/>
          <p:nvPr/>
        </p:nvSpPr>
        <p:spPr>
          <a:xfrm>
            <a:off x="8382000" y="590550"/>
            <a:ext cx="9525" cy="5257800"/>
          </a:xfrm>
          <a:prstGeom prst="rect">
            <a:avLst/>
          </a:prstGeom>
          <a:solidFill>
            <a:srgbClr val="6F8278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s04_route_primary"/>
          <p:cNvSpPr/>
          <p:nvPr/>
        </p:nvSpPr>
        <p:spPr>
          <a:xfrm>
            <a:off x="914400" y="2381250"/>
            <a:ext cx="5562600" cy="57150"/>
          </a:xfrm>
          <a:prstGeom prst="rect">
            <a:avLst/>
          </a:prstGeom>
          <a:solidFill>
            <a:srgbClr val="173B67">
              <a:alpha val="52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s04_route_secondary"/>
          <p:cNvSpPr/>
          <p:nvPr/>
        </p:nvSpPr>
        <p:spPr>
          <a:xfrm>
            <a:off x="1695450" y="5067300"/>
            <a:ext cx="4476750" cy="476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s04_node_1"/>
          <p:cNvSpPr/>
          <p:nvPr/>
        </p:nvSpPr>
        <p:spPr>
          <a:xfrm>
            <a:off x="6743700" y="2381250"/>
            <a:ext cx="95250" cy="95250"/>
          </a:xfrm>
          <a:prstGeom prst="rect">
            <a:avLst/>
          </a:prstGeom>
          <a:solidFill>
            <a:srgbClr val="173B6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s04_node_2"/>
          <p:cNvSpPr/>
          <p:nvPr/>
        </p:nvSpPr>
        <p:spPr>
          <a:xfrm>
            <a:off x="6705600" y="5067300"/>
            <a:ext cx="95250" cy="95250"/>
          </a:xfrm>
          <a:prstGeom prst="rect">
            <a:avLst/>
          </a:prstGeom>
          <a:solidFill>
            <a:srgbClr val="23624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s04_node_3"/>
          <p:cNvSpPr/>
          <p:nvPr/>
        </p:nvSpPr>
        <p:spPr>
          <a:xfrm>
            <a:off x="11049000" y="2381250"/>
            <a:ext cx="95250" cy="95250"/>
          </a:xfrm>
          <a:prstGeom prst="rect">
            <a:avLst/>
          </a:prstGeom>
          <a:solidFill>
            <a:srgbClr val="8C5A2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s04_zone_left"/>
          <p:cNvSpPr/>
          <p:nvPr/>
        </p:nvSpPr>
        <p:spPr>
          <a:xfrm>
            <a:off x="762000" y="2114550"/>
            <a:ext cx="5943600" cy="1428750"/>
          </a:xfrm>
          <a:prstGeom prst="rect">
            <a:avLst/>
          </a:prstGeom>
          <a:solidFill>
            <a:srgbClr val="E1E8D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s04_zone_right"/>
          <p:cNvSpPr/>
          <p:nvPr/>
        </p:nvSpPr>
        <p:spPr>
          <a:xfrm>
            <a:off x="6896100" y="2114550"/>
            <a:ext cx="4572000" cy="3467100"/>
          </a:xfrm>
          <a:prstGeom prst="rect">
            <a:avLst/>
          </a:prstGeom>
          <a:solidFill>
            <a:srgbClr val="FBFCF7">
              <a:alpha val="96000"/>
            </a:srgbClr>
          </a:solidFill>
          <a:ln w="9525">
            <a:solidFill>
              <a:srgbClr val="72857B">
                <a:alpha val="2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s04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34E48"/>
                </a:solidFill>
                <a:latin typeface="Aptos"/>
              </a:rPr>
              <a:t>MARKET ATLAS / ZONE-04</a:t>
            </a:r>
          </a:p>
        </p:txBody>
      </p:sp>
      <p:sp>
        <p:nvSpPr>
          <p:cNvPr id="25" name="ls04_legend_1"/>
          <p:cNvSpPr txBox="1"/>
          <p:nvPr/>
        </p:nvSpPr>
        <p:spPr>
          <a:xfrm>
            <a:off x="7067550" y="19621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334E48"/>
                </a:solidFill>
                <a:latin typeface="Aptos"/>
              </a:rPr>
              <a:t>SIGNAL FIELD</a:t>
            </a:r>
          </a:p>
        </p:txBody>
      </p:sp>
      <p:sp>
        <p:nvSpPr>
          <p:cNvPr id="26" name="ls04_kicker"/>
          <p:cNvSpPr txBox="1"/>
          <p:nvPr/>
        </p:nvSpPr>
        <p:spPr>
          <a:xfrm>
            <a:off x="781050" y="74295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 Display"/>
              </a:rPr>
              <a:t>Scenario Stress / visual-language-demo</a:t>
            </a:r>
          </a:p>
        </p:txBody>
      </p:sp>
      <p:sp>
        <p:nvSpPr>
          <p:cNvPr id="27" name="ls04_title"/>
          <p:cNvSpPr txBox="1"/>
          <p:nvPr/>
        </p:nvSpPr>
        <p:spPr>
          <a:xfrm>
            <a:off x="781050" y="933450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E2723"/>
                </a:solidFill>
                <a:latin typeface="Aptos Display"/>
              </a:rPr>
              <a:t>三种情景压力测试：核心不是预测，而是准备触发器</a:t>
            </a:r>
          </a:p>
        </p:txBody>
      </p:sp>
      <p:sp>
        <p:nvSpPr>
          <p:cNvPr id="28" name="ls04_subtitle"/>
          <p:cNvSpPr txBox="1"/>
          <p:nvPr/>
        </p:nvSpPr>
        <p:spPr>
          <a:xfrm>
            <a:off x="800100" y="1524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E48"/>
                </a:solidFill>
                <a:latin typeface="Aptos"/>
              </a:rPr>
              <a:t>测试情景卡片和压力测试数字的呈现。</a:t>
            </a:r>
          </a:p>
        </p:txBody>
      </p:sp>
      <p:sp>
        <p:nvSpPr>
          <p:cNvPr id="29" name="ls04_body_1"/>
          <p:cNvSpPr txBox="1"/>
          <p:nvPr/>
        </p:nvSpPr>
        <p:spPr>
          <a:xfrm>
            <a:off x="838200" y="2114550"/>
            <a:ext cx="4762500" cy="410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E2723"/>
                </a:solidFill>
                <a:latin typeface="Aptos"/>
              </a:rPr>
              <a:t>基准情景下权益贡献上升；紧缩情景下黄金和现金缓冲回撤；衰退情景下减少权益贝塔。</a:t>
            </a:r>
          </a:p>
        </p:txBody>
      </p:sp>
      <p:sp>
        <p:nvSpPr>
          <p:cNvPr id="30" name="ls04_allocation_route_spine"/>
          <p:cNvSpPr/>
          <p:nvPr/>
        </p:nvSpPr>
        <p:spPr>
          <a:xfrm>
            <a:off x="1409700" y="4400550"/>
            <a:ext cx="3733800" cy="28575"/>
          </a:xfrm>
          <a:prstGeom prst="rect">
            <a:avLst/>
          </a:prstGeom>
          <a:solidFill>
            <a:srgbClr val="23624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s04_allocation_stop_1"/>
          <p:cNvSpPr/>
          <p:nvPr/>
        </p:nvSpPr>
        <p:spPr>
          <a:xfrm>
            <a:off x="135255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23624D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s04_allocation_stop_2"/>
          <p:cNvSpPr/>
          <p:nvPr/>
        </p:nvSpPr>
        <p:spPr>
          <a:xfrm>
            <a:off x="316230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173B67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s04_scenario_map_panel"/>
          <p:cNvSpPr/>
          <p:nvPr/>
        </p:nvSpPr>
        <p:spPr>
          <a:xfrm>
            <a:off x="6896100" y="2209800"/>
            <a:ext cx="4457700" cy="3276600"/>
          </a:xfrm>
          <a:prstGeom prst="rect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72857B">
                <a:alpha val="5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s04_allocation_stop_3"/>
          <p:cNvSpPr/>
          <p:nvPr/>
        </p:nvSpPr>
        <p:spPr>
          <a:xfrm>
            <a:off x="4972050" y="4324350"/>
            <a:ext cx="171450" cy="171450"/>
          </a:xfrm>
          <a:prstGeom prst="ellipse">
            <a:avLst/>
          </a:prstGeom>
          <a:solidFill>
            <a:srgbClr val="FBFCF7">
              <a:alpha val="94000"/>
            </a:srgbClr>
          </a:solidFill>
          <a:ln w="9525">
            <a:solidFill>
              <a:srgbClr val="23624D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s04_scenario_map_title"/>
          <p:cNvSpPr txBox="1"/>
          <p:nvPr/>
        </p:nvSpPr>
        <p:spPr>
          <a:xfrm>
            <a:off x="7067550" y="234315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SCENARIO PRESSURE MAP</a:t>
            </a:r>
          </a:p>
        </p:txBody>
      </p:sp>
      <p:sp>
        <p:nvSpPr>
          <p:cNvPr id="36" name="ls04_allocation_stop_1_label"/>
          <p:cNvSpPr txBox="1"/>
          <p:nvPr/>
        </p:nvSpPr>
        <p:spPr>
          <a:xfrm>
            <a:off x="114300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DEF</a:t>
            </a:r>
          </a:p>
        </p:txBody>
      </p:sp>
      <p:sp>
        <p:nvSpPr>
          <p:cNvPr id="37" name="ls04_allocation_stop_2_label"/>
          <p:cNvSpPr txBox="1"/>
          <p:nvPr/>
        </p:nvSpPr>
        <p:spPr>
          <a:xfrm>
            <a:off x="295275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RISK</a:t>
            </a:r>
          </a:p>
        </p:txBody>
      </p:sp>
      <p:sp>
        <p:nvSpPr>
          <p:cNvPr id="38" name="ls04_allocation_stop_3_label"/>
          <p:cNvSpPr txBox="1"/>
          <p:nvPr/>
        </p:nvSpPr>
        <p:spPr>
          <a:xfrm>
            <a:off x="4762500" y="45720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HEDGE</a:t>
            </a:r>
          </a:p>
        </p:txBody>
      </p:sp>
      <p:sp>
        <p:nvSpPr>
          <p:cNvPr id="39" name="ls04_scenario_branch_1"/>
          <p:cNvSpPr/>
          <p:nvPr/>
        </p:nvSpPr>
        <p:spPr>
          <a:xfrm>
            <a:off x="7524750" y="3124200"/>
            <a:ext cx="1104900" cy="28575"/>
          </a:xfrm>
          <a:prstGeom prst="rect">
            <a:avLst/>
          </a:prstGeom>
          <a:solidFill>
            <a:srgbClr val="23624D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s04_scenario_branch_2"/>
          <p:cNvSpPr/>
          <p:nvPr/>
        </p:nvSpPr>
        <p:spPr>
          <a:xfrm>
            <a:off x="7524750" y="3943350"/>
            <a:ext cx="1104900" cy="28575"/>
          </a:xfrm>
          <a:prstGeom prst="rect">
            <a:avLst/>
          </a:prstGeom>
          <a:solidFill>
            <a:srgbClr val="8C5A2B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s04_scenario_branch_3"/>
          <p:cNvSpPr/>
          <p:nvPr/>
        </p:nvSpPr>
        <p:spPr>
          <a:xfrm>
            <a:off x="7524750" y="3838575"/>
            <a:ext cx="1104900" cy="28575"/>
          </a:xfrm>
          <a:prstGeom prst="rect">
            <a:avLst/>
          </a:prstGeom>
          <a:solidFill>
            <a:srgbClr val="173B6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s04_scenario_origin"/>
          <p:cNvSpPr/>
          <p:nvPr/>
        </p:nvSpPr>
        <p:spPr>
          <a:xfrm>
            <a:off x="7239000" y="3695700"/>
            <a:ext cx="304800" cy="3048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s04_scenario_origin_label"/>
          <p:cNvSpPr txBox="1"/>
          <p:nvPr/>
        </p:nvSpPr>
        <p:spPr>
          <a:xfrm>
            <a:off x="7124700" y="4057650"/>
            <a:ext cx="666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CURRENT
BOOK</a:t>
            </a:r>
          </a:p>
        </p:txBody>
      </p:sp>
      <p:sp>
        <p:nvSpPr>
          <p:cNvPr id="44" name="ls04_scenario_zone_1"/>
          <p:cNvSpPr/>
          <p:nvPr/>
        </p:nvSpPr>
        <p:spPr>
          <a:xfrm>
            <a:off x="8648700" y="2705100"/>
            <a:ext cx="2762250" cy="742950"/>
          </a:xfrm>
          <a:prstGeom prst="roundRect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s04_scenario_zone_2"/>
          <p:cNvSpPr/>
          <p:nvPr/>
        </p:nvSpPr>
        <p:spPr>
          <a:xfrm>
            <a:off x="8648700" y="3524250"/>
            <a:ext cx="2762250" cy="742950"/>
          </a:xfrm>
          <a:prstGeom prst="roundRect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8C5A2B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s04_scenario_zone_3"/>
          <p:cNvSpPr/>
          <p:nvPr/>
        </p:nvSpPr>
        <p:spPr>
          <a:xfrm>
            <a:off x="8648700" y="4343400"/>
            <a:ext cx="2762250" cy="742950"/>
          </a:xfrm>
          <a:prstGeom prst="roundRect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173B67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s04_scenario_zone_1_pin"/>
          <p:cNvSpPr/>
          <p:nvPr/>
        </p:nvSpPr>
        <p:spPr>
          <a:xfrm>
            <a:off x="8782050" y="2838450"/>
            <a:ext cx="114300" cy="114300"/>
          </a:xfrm>
          <a:prstGeom prst="ellipse">
            <a:avLst/>
          </a:prstGeom>
          <a:solidFill>
            <a:srgbClr val="23624D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s04_scenario_zone_1_name"/>
          <p:cNvSpPr txBox="1"/>
          <p:nvPr/>
        </p:nvSpPr>
        <p:spPr>
          <a:xfrm>
            <a:off x="8972550" y="278130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E2723"/>
                </a:solidFill>
                <a:latin typeface="Aptos"/>
              </a:rPr>
              <a:t>基准</a:t>
            </a:r>
          </a:p>
        </p:txBody>
      </p:sp>
      <p:sp>
        <p:nvSpPr>
          <p:cNvPr id="49" name="ls04_scenario_zone_2_pin"/>
          <p:cNvSpPr/>
          <p:nvPr/>
        </p:nvSpPr>
        <p:spPr>
          <a:xfrm>
            <a:off x="8782050" y="3657600"/>
            <a:ext cx="114300" cy="114300"/>
          </a:xfrm>
          <a:prstGeom prst="ellipse">
            <a:avLst/>
          </a:prstGeom>
          <a:solidFill>
            <a:srgbClr val="8C5A2B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s04_scenario_zone_1_prob_label"/>
          <p:cNvSpPr txBox="1"/>
          <p:nvPr/>
        </p:nvSpPr>
        <p:spPr>
          <a:xfrm>
            <a:off x="9620250" y="2762250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基准概率</a:t>
            </a:r>
          </a:p>
        </p:txBody>
      </p:sp>
      <p:sp>
        <p:nvSpPr>
          <p:cNvPr id="51" name="ls04_scenario_zone_2_name"/>
          <p:cNvSpPr txBox="1"/>
          <p:nvPr/>
        </p:nvSpPr>
        <p:spPr>
          <a:xfrm>
            <a:off x="8972550" y="360045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E2723"/>
                </a:solidFill>
                <a:latin typeface="Aptos"/>
              </a:rPr>
              <a:t>紧缩</a:t>
            </a:r>
          </a:p>
        </p:txBody>
      </p:sp>
      <p:sp>
        <p:nvSpPr>
          <p:cNvPr id="52" name="ls04_scenario_zone_3_pin"/>
          <p:cNvSpPr/>
          <p:nvPr/>
        </p:nvSpPr>
        <p:spPr>
          <a:xfrm>
            <a:off x="8782050" y="4476750"/>
            <a:ext cx="114300" cy="114300"/>
          </a:xfrm>
          <a:prstGeom prst="ellipse">
            <a:avLst/>
          </a:prstGeom>
          <a:solidFill>
            <a:srgbClr val="173B67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s04_scenario_zone_1_prob"/>
          <p:cNvSpPr txBox="1"/>
          <p:nvPr/>
        </p:nvSpPr>
        <p:spPr>
          <a:xfrm>
            <a:off x="9620250" y="293370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3624D"/>
                </a:solidFill>
                <a:latin typeface="Arial Narrow"/>
              </a:rPr>
              <a:t>55%</a:t>
            </a:r>
          </a:p>
        </p:txBody>
      </p:sp>
      <p:sp>
        <p:nvSpPr>
          <p:cNvPr id="54" name="ls04_scenario_zone_2_prob_label"/>
          <p:cNvSpPr txBox="1"/>
          <p:nvPr/>
        </p:nvSpPr>
        <p:spPr>
          <a:xfrm>
            <a:off x="9620250" y="3581400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紧缩概率</a:t>
            </a:r>
          </a:p>
        </p:txBody>
      </p:sp>
      <p:sp>
        <p:nvSpPr>
          <p:cNvPr id="55" name="ls04_scenario_zone_3_name"/>
          <p:cNvSpPr txBox="1"/>
          <p:nvPr/>
        </p:nvSpPr>
        <p:spPr>
          <a:xfrm>
            <a:off x="8972550" y="441960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E2723"/>
                </a:solidFill>
                <a:latin typeface="Aptos"/>
              </a:rPr>
              <a:t>衰退</a:t>
            </a:r>
          </a:p>
        </p:txBody>
      </p:sp>
      <p:sp>
        <p:nvSpPr>
          <p:cNvPr id="56" name="ls04_scenario_zone_1_impact"/>
          <p:cNvSpPr txBox="1"/>
          <p:nvPr/>
        </p:nvSpPr>
        <p:spPr>
          <a:xfrm>
            <a:off x="10287000" y="278130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E2723"/>
                </a:solidFill>
                <a:latin typeface="Arial Narrow"/>
              </a:rPr>
              <a:t>组合收益 +3.8%</a:t>
            </a:r>
          </a:p>
        </p:txBody>
      </p:sp>
      <p:sp>
        <p:nvSpPr>
          <p:cNvPr id="57" name="ls04_scenario_zone_2_prob"/>
          <p:cNvSpPr txBox="1"/>
          <p:nvPr/>
        </p:nvSpPr>
        <p:spPr>
          <a:xfrm>
            <a:off x="9620250" y="3752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8C5A2B"/>
                </a:solidFill>
                <a:latin typeface="Arial Narrow"/>
              </a:rPr>
              <a:t>25%</a:t>
            </a:r>
          </a:p>
        </p:txBody>
      </p:sp>
      <p:sp>
        <p:nvSpPr>
          <p:cNvPr id="58" name="ls04_scenario_zone_3_prob_label"/>
          <p:cNvSpPr txBox="1"/>
          <p:nvPr/>
        </p:nvSpPr>
        <p:spPr>
          <a:xfrm>
            <a:off x="9620250" y="4400550"/>
            <a:ext cx="64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衰退概率</a:t>
            </a:r>
          </a:p>
        </p:txBody>
      </p:sp>
      <p:sp>
        <p:nvSpPr>
          <p:cNvPr id="59" name="ls04_scenario_zone_1_trigger"/>
          <p:cNvSpPr txBox="1"/>
          <p:nvPr/>
        </p:nvSpPr>
        <p:spPr>
          <a:xfrm>
            <a:off x="8972550" y="320040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334E48"/>
                </a:solidFill>
                <a:latin typeface="Arial Narrow"/>
              </a:rPr>
              <a:t>温和修复</a:t>
            </a:r>
          </a:p>
        </p:txBody>
      </p:sp>
      <p:sp>
        <p:nvSpPr>
          <p:cNvPr id="60" name="ls04_scenario_zone_2_impact"/>
          <p:cNvSpPr txBox="1"/>
          <p:nvPr/>
        </p:nvSpPr>
        <p:spPr>
          <a:xfrm>
            <a:off x="10287000" y="360045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E2723"/>
                </a:solidFill>
                <a:latin typeface="Arial Narrow"/>
              </a:rPr>
              <a:t>回撤 -3.2%</a:t>
            </a:r>
          </a:p>
        </p:txBody>
      </p:sp>
      <p:sp>
        <p:nvSpPr>
          <p:cNvPr id="61" name="ls04_scenario_zone_3_prob"/>
          <p:cNvSpPr txBox="1"/>
          <p:nvPr/>
        </p:nvSpPr>
        <p:spPr>
          <a:xfrm>
            <a:off x="9620250" y="457200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B67"/>
                </a:solidFill>
                <a:latin typeface="Arial Narrow"/>
              </a:rPr>
              <a:t>20%</a:t>
            </a:r>
          </a:p>
        </p:txBody>
      </p:sp>
      <p:sp>
        <p:nvSpPr>
          <p:cNvPr id="62" name="ls04_scenario_zone_1_action"/>
          <p:cNvSpPr txBox="1"/>
          <p:nvPr/>
        </p:nvSpPr>
        <p:spPr>
          <a:xfrm>
            <a:off x="10382250" y="32004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23624D"/>
                </a:solidFill>
                <a:latin typeface="Aptos"/>
              </a:rPr>
              <a:t>权益分层加仓</a:t>
            </a:r>
          </a:p>
        </p:txBody>
      </p:sp>
      <p:sp>
        <p:nvSpPr>
          <p:cNvPr id="63" name="ls04_scenario_zone_2_trigger"/>
          <p:cNvSpPr txBox="1"/>
          <p:nvPr/>
        </p:nvSpPr>
        <p:spPr>
          <a:xfrm>
            <a:off x="8972550" y="401955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334E48"/>
                </a:solidFill>
                <a:latin typeface="Arial Narrow"/>
              </a:rPr>
              <a:t>海外利率扰动</a:t>
            </a:r>
          </a:p>
        </p:txBody>
      </p:sp>
      <p:sp>
        <p:nvSpPr>
          <p:cNvPr id="64" name="ls04_scenario_zone_3_impact"/>
          <p:cNvSpPr txBox="1"/>
          <p:nvPr/>
        </p:nvSpPr>
        <p:spPr>
          <a:xfrm>
            <a:off x="10287000" y="441960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E2723"/>
                </a:solidFill>
                <a:latin typeface="Arial Narrow"/>
              </a:rPr>
              <a:t>回撤 -4.4%</a:t>
            </a:r>
          </a:p>
        </p:txBody>
      </p:sp>
      <p:sp>
        <p:nvSpPr>
          <p:cNvPr id="65" name="ls04_scenario_zone_2_action"/>
          <p:cNvSpPr txBox="1"/>
          <p:nvPr/>
        </p:nvSpPr>
        <p:spPr>
          <a:xfrm>
            <a:off x="10382250" y="401955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8C5A2B"/>
                </a:solidFill>
                <a:latin typeface="Aptos"/>
              </a:rPr>
              <a:t>黄金+现金对冲</a:t>
            </a:r>
          </a:p>
        </p:txBody>
      </p:sp>
      <p:sp>
        <p:nvSpPr>
          <p:cNvPr id="66" name="ls04_scenario_zone_3_trigger"/>
          <p:cNvSpPr txBox="1"/>
          <p:nvPr/>
        </p:nvSpPr>
        <p:spPr>
          <a:xfrm>
            <a:off x="8972550" y="483870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334E48"/>
                </a:solidFill>
                <a:latin typeface="Arial Narrow"/>
              </a:rPr>
              <a:t>盈利下修</a:t>
            </a:r>
          </a:p>
        </p:txBody>
      </p:sp>
      <p:sp>
        <p:nvSpPr>
          <p:cNvPr id="67" name="ls04_scenario_zone_3_action"/>
          <p:cNvSpPr txBox="1"/>
          <p:nvPr/>
        </p:nvSpPr>
        <p:spPr>
          <a:xfrm>
            <a:off x="10382250" y="48387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173B67"/>
                </a:solidFill>
                <a:latin typeface="Aptos"/>
              </a:rPr>
              <a:t>降贝塔回久期</a:t>
            </a:r>
          </a:p>
        </p:txBody>
      </p:sp>
      <p:sp>
        <p:nvSpPr>
          <p:cNvPr id="68" name="ls04_scenario_atlas_legend_label"/>
          <p:cNvSpPr txBox="1"/>
          <p:nvPr/>
        </p:nvSpPr>
        <p:spPr>
          <a:xfrm>
            <a:off x="7067550" y="5257800"/>
            <a:ext cx="7810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LEGEND</a:t>
            </a:r>
          </a:p>
        </p:txBody>
      </p:sp>
      <p:sp>
        <p:nvSpPr>
          <p:cNvPr id="69" name="ls04_scenario_atlas_legend_1_dot"/>
          <p:cNvSpPr/>
          <p:nvPr/>
        </p:nvSpPr>
        <p:spPr>
          <a:xfrm>
            <a:off x="7658100" y="5286375"/>
            <a:ext cx="76200" cy="76200"/>
          </a:xfrm>
          <a:prstGeom prst="ellipse">
            <a:avLst/>
          </a:prstGeom>
          <a:solidFill>
            <a:srgbClr val="23624D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s04_scenario_atlas_legend_1_text"/>
          <p:cNvSpPr txBox="1"/>
          <p:nvPr/>
        </p:nvSpPr>
        <p:spPr>
          <a:xfrm>
            <a:off x="7772400" y="524827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基准</a:t>
            </a:r>
          </a:p>
        </p:txBody>
      </p:sp>
      <p:sp>
        <p:nvSpPr>
          <p:cNvPr id="71" name="ls04_scenario_atlas_legend_2_dot"/>
          <p:cNvSpPr/>
          <p:nvPr/>
        </p:nvSpPr>
        <p:spPr>
          <a:xfrm>
            <a:off x="8801100" y="5286375"/>
            <a:ext cx="76200" cy="76200"/>
          </a:xfrm>
          <a:prstGeom prst="ellipse">
            <a:avLst/>
          </a:prstGeom>
          <a:solidFill>
            <a:srgbClr val="8C5A2B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s04_scenario_atlas_legend_2_text"/>
          <p:cNvSpPr txBox="1"/>
          <p:nvPr/>
        </p:nvSpPr>
        <p:spPr>
          <a:xfrm>
            <a:off x="8915400" y="524827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紧缩</a:t>
            </a:r>
          </a:p>
        </p:txBody>
      </p:sp>
      <p:sp>
        <p:nvSpPr>
          <p:cNvPr id="73" name="ls04_scenario_atlas_legend_3_dot"/>
          <p:cNvSpPr/>
          <p:nvPr/>
        </p:nvSpPr>
        <p:spPr>
          <a:xfrm>
            <a:off x="9944100" y="5286375"/>
            <a:ext cx="76200" cy="76200"/>
          </a:xfrm>
          <a:prstGeom prst="ellipse">
            <a:avLst/>
          </a:prstGeom>
          <a:solidFill>
            <a:srgbClr val="173B67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s04_scenario_atlas_legend_3_text"/>
          <p:cNvSpPr txBox="1"/>
          <p:nvPr/>
        </p:nvSpPr>
        <p:spPr>
          <a:xfrm>
            <a:off x="10058400" y="524827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衰退</a:t>
            </a:r>
          </a:p>
        </p:txBody>
      </p:sp>
      <p:sp>
        <p:nvSpPr>
          <p:cNvPr id="75" name="ls04_footer_mask"/>
          <p:cNvSpPr/>
          <p:nvPr/>
        </p:nvSpPr>
        <p:spPr>
          <a:xfrm>
            <a:off x="762000" y="5905500"/>
            <a:ext cx="10668000" cy="323850"/>
          </a:xfrm>
          <a:prstGeom prst="rect">
            <a:avLst/>
          </a:prstGeom>
          <a:solidFill>
            <a:srgbClr val="EEF2E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s04_source_band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s04_risk_note"/>
          <p:cNvSpPr txBox="1"/>
          <p:nvPr/>
        </p:nvSpPr>
        <p:spPr>
          <a:xfrm>
            <a:off x="838200" y="6000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s05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A">
              <a:alpha val="100000"/>
            </a:srgbClr>
          </a:solidFill>
          <a:ln w="9525">
            <a:solidFill>
              <a:srgbClr val="EEF2E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05_grid_h_118"/>
          <p:cNvSpPr/>
          <p:nvPr/>
        </p:nvSpPr>
        <p:spPr>
          <a:xfrm>
            <a:off x="762000" y="11239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s05_grid_h_222"/>
          <p:cNvSpPr/>
          <p:nvPr/>
        </p:nvSpPr>
        <p:spPr>
          <a:xfrm>
            <a:off x="762000" y="21145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s05_grid_h_326"/>
          <p:cNvSpPr/>
          <p:nvPr/>
        </p:nvSpPr>
        <p:spPr>
          <a:xfrm>
            <a:off x="762000" y="31051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s05_grid_h_43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s05_grid_h_534"/>
          <p:cNvSpPr/>
          <p:nvPr/>
        </p:nvSpPr>
        <p:spPr>
          <a:xfrm>
            <a:off x="762000" y="50863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s05_grid_h_638"/>
          <p:cNvSpPr/>
          <p:nvPr/>
        </p:nvSpPr>
        <p:spPr>
          <a:xfrm>
            <a:off x="762000" y="6076950"/>
            <a:ext cx="10668000" cy="9525"/>
          </a:xfrm>
          <a:prstGeom prst="rect">
            <a:avLst/>
          </a:prstGeom>
          <a:solidFill>
            <a:srgbClr val="6F8278">
              <a:alpha val="1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s05_grid_v_1040"/>
          <p:cNvSpPr/>
          <p:nvPr/>
        </p:nvSpPr>
        <p:spPr>
          <a:xfrm>
            <a:off x="9906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s05_grid_v_1200"/>
          <p:cNvSpPr/>
          <p:nvPr/>
        </p:nvSpPr>
        <p:spPr>
          <a:xfrm>
            <a:off x="11430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s05_grid_v_240"/>
          <p:cNvSpPr/>
          <p:nvPr/>
        </p:nvSpPr>
        <p:spPr>
          <a:xfrm>
            <a:off x="2286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s05_grid_v_400"/>
          <p:cNvSpPr/>
          <p:nvPr/>
        </p:nvSpPr>
        <p:spPr>
          <a:xfrm>
            <a:off x="3810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s05_grid_v_560"/>
          <p:cNvSpPr/>
          <p:nvPr/>
        </p:nvSpPr>
        <p:spPr>
          <a:xfrm>
            <a:off x="5334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s05_grid_v_720"/>
          <p:cNvSpPr/>
          <p:nvPr/>
        </p:nvSpPr>
        <p:spPr>
          <a:xfrm>
            <a:off x="6858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s05_grid_v_80"/>
          <p:cNvSpPr/>
          <p:nvPr/>
        </p:nvSpPr>
        <p:spPr>
          <a:xfrm>
            <a:off x="762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05_grid_v_880"/>
          <p:cNvSpPr/>
          <p:nvPr/>
        </p:nvSpPr>
        <p:spPr>
          <a:xfrm>
            <a:off x="8382000" y="590550"/>
            <a:ext cx="9525" cy="5257800"/>
          </a:xfrm>
          <a:prstGeom prst="rect">
            <a:avLst/>
          </a:prstGeom>
          <a:solidFill>
            <a:srgbClr val="6F8278">
              <a:alpha val="1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s05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34E48"/>
                </a:solidFill>
                <a:latin typeface="Aptos"/>
              </a:rPr>
              <a:t>MARKET ATLAS / ZONE-05</a:t>
            </a:r>
          </a:p>
        </p:txBody>
      </p:sp>
      <p:sp>
        <p:nvSpPr>
          <p:cNvPr id="18" name="ls05_kicker"/>
          <p:cNvSpPr txBox="1"/>
          <p:nvPr/>
        </p:nvSpPr>
        <p:spPr>
          <a:xfrm>
            <a:off x="781050" y="74295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 Display"/>
              </a:rPr>
              <a:t>Execution Path / visual-language-demo</a:t>
            </a:r>
          </a:p>
        </p:txBody>
      </p:sp>
      <p:sp>
        <p:nvSpPr>
          <p:cNvPr id="19" name="ls05_title"/>
          <p:cNvSpPr txBox="1"/>
          <p:nvPr/>
        </p:nvSpPr>
        <p:spPr>
          <a:xfrm>
            <a:off x="781050" y="933450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E2723"/>
                </a:solidFill>
                <a:latin typeface="Aptos Display"/>
              </a:rPr>
              <a:t>执行路径四步：观察、加仓、对冲、再平衡</a:t>
            </a:r>
          </a:p>
        </p:txBody>
      </p:sp>
      <p:sp>
        <p:nvSpPr>
          <p:cNvPr id="20" name="ls05_subtitle"/>
          <p:cNvSpPr txBox="1"/>
          <p:nvPr/>
        </p:nvSpPr>
        <p:spPr>
          <a:xfrm>
            <a:off x="800100" y="1524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E48"/>
                </a:solidFill>
                <a:latin typeface="Aptos"/>
              </a:rPr>
              <a:t>每一步绑定触发条件、风险预算和复盘节奏，避免把观点直接等同于交易。</a:t>
            </a:r>
          </a:p>
        </p:txBody>
      </p:sp>
      <p:sp>
        <p:nvSpPr>
          <p:cNvPr id="21" name="ls05_signal_note"/>
          <p:cNvSpPr txBox="1"/>
          <p:nvPr/>
        </p:nvSpPr>
        <p:spPr>
          <a:xfrm>
            <a:off x="800100" y="23241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每一步都必须绑定触发条件，避免把观点直接等同于交易。</a:t>
            </a:r>
          </a:p>
        </p:txBody>
      </p:sp>
      <p:sp>
        <p:nvSpPr>
          <p:cNvPr id="22" name="ls05_process_map_panel"/>
          <p:cNvSpPr/>
          <p:nvPr/>
        </p:nvSpPr>
        <p:spPr>
          <a:xfrm>
            <a:off x="838200" y="2914650"/>
            <a:ext cx="10363200" cy="2647950"/>
          </a:xfrm>
          <a:prstGeom prst="rect">
            <a:avLst/>
          </a:prstGeom>
          <a:solidFill>
            <a:srgbClr val="FBFCF7">
              <a:alpha val="98000"/>
            </a:srgbClr>
          </a:solidFill>
          <a:ln w="9525">
            <a:solidFill>
              <a:srgbClr val="72857B">
                <a:alpha val="5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s05_process_map_title"/>
          <p:cNvSpPr txBox="1"/>
          <p:nvPr/>
        </p:nvSpPr>
        <p:spPr>
          <a:xfrm>
            <a:off x="1009650" y="3048000"/>
            <a:ext cx="3143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EXECUTION STATE MACHINE / TRIGGER-GATED LOOP</a:t>
            </a:r>
          </a:p>
        </p:txBody>
      </p:sp>
      <p:sp>
        <p:nvSpPr>
          <p:cNvPr id="24" name="ls05_process_signal_field_panel"/>
          <p:cNvSpPr/>
          <p:nvPr/>
        </p:nvSpPr>
        <p:spPr>
          <a:xfrm>
            <a:off x="1009650" y="3314700"/>
            <a:ext cx="7219950" cy="781050"/>
          </a:xfrm>
          <a:prstGeom prst="roundRect">
            <a:avLst/>
          </a:prstGeom>
          <a:solidFill>
            <a:srgbClr val="EEF2EA">
              <a:alpha val="62000"/>
            </a:srgbClr>
          </a:solidFill>
          <a:ln w="9525">
            <a:solidFill>
              <a:srgbClr val="6F8278">
                <a:alpha val="2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s05_process_signal_field_title"/>
          <p:cNvSpPr txBox="1"/>
          <p:nvPr/>
        </p:nvSpPr>
        <p:spPr>
          <a:xfrm>
            <a:off x="1123950" y="3390900"/>
            <a:ext cx="314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STEP SIGNAL WINDOWS / 与四步执行节点一一对应</a:t>
            </a:r>
          </a:p>
        </p:txBody>
      </p:sp>
      <p:sp>
        <p:nvSpPr>
          <p:cNvPr id="26" name="ls05_process_signal_to_node_1"/>
          <p:cNvSpPr/>
          <p:nvPr/>
        </p:nvSpPr>
        <p:spPr>
          <a:xfrm>
            <a:off x="1924050" y="3924300"/>
            <a:ext cx="19050" cy="247650"/>
          </a:xfrm>
          <a:prstGeom prst="rect">
            <a:avLst/>
          </a:prstGeom>
          <a:solidFill>
            <a:srgbClr val="23624D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s05_process_signal_to_node_2"/>
          <p:cNvSpPr/>
          <p:nvPr/>
        </p:nvSpPr>
        <p:spPr>
          <a:xfrm>
            <a:off x="3676650" y="3924300"/>
            <a:ext cx="19050" cy="247650"/>
          </a:xfrm>
          <a:prstGeom prst="rect">
            <a:avLst/>
          </a:prstGeom>
          <a:solidFill>
            <a:srgbClr val="173B6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s05_process_signal_1"/>
          <p:cNvSpPr/>
          <p:nvPr/>
        </p:nvSpPr>
        <p:spPr>
          <a:xfrm>
            <a:off x="1123950" y="3581400"/>
            <a:ext cx="1619250" cy="400050"/>
          </a:xfrm>
          <a:prstGeom prst="roundRect">
            <a:avLst/>
          </a:prstGeom>
          <a:solidFill>
            <a:srgbClr val="E1E8DC">
              <a:alpha val="84000"/>
            </a:srgbClr>
          </a:solidFill>
          <a:ln w="9525">
            <a:solidFill>
              <a:srgbClr val="23624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s05_process_signal_to_node_3"/>
          <p:cNvSpPr/>
          <p:nvPr/>
        </p:nvSpPr>
        <p:spPr>
          <a:xfrm>
            <a:off x="5429250" y="3924300"/>
            <a:ext cx="19050" cy="247650"/>
          </a:xfrm>
          <a:prstGeom prst="rect">
            <a:avLst/>
          </a:prstGeom>
          <a:solidFill>
            <a:srgbClr val="8C5A2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s05_process_signal_2"/>
          <p:cNvSpPr/>
          <p:nvPr/>
        </p:nvSpPr>
        <p:spPr>
          <a:xfrm>
            <a:off x="2876550" y="3581400"/>
            <a:ext cx="1619250" cy="400050"/>
          </a:xfrm>
          <a:prstGeom prst="roundRect">
            <a:avLst/>
          </a:prstGeom>
          <a:solidFill>
            <a:srgbClr val="E1E8DC">
              <a:alpha val="84000"/>
            </a:srgbClr>
          </a:solidFill>
          <a:ln w="9525">
            <a:solidFill>
              <a:srgbClr val="173B67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s05_process_signal_to_node_4"/>
          <p:cNvSpPr/>
          <p:nvPr/>
        </p:nvSpPr>
        <p:spPr>
          <a:xfrm>
            <a:off x="7181850" y="3924300"/>
            <a:ext cx="19050" cy="247650"/>
          </a:xfrm>
          <a:prstGeom prst="rect">
            <a:avLst/>
          </a:prstGeom>
          <a:solidFill>
            <a:srgbClr val="23624D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s05_process_signal_1_step"/>
          <p:cNvSpPr txBox="1"/>
          <p:nvPr/>
        </p:nvSpPr>
        <p:spPr>
          <a:xfrm>
            <a:off x="1200150" y="3629025"/>
            <a:ext cx="171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01</a:t>
            </a:r>
          </a:p>
        </p:txBody>
      </p:sp>
      <p:sp>
        <p:nvSpPr>
          <p:cNvPr id="33" name="ls05_process_signal_3"/>
          <p:cNvSpPr/>
          <p:nvPr/>
        </p:nvSpPr>
        <p:spPr>
          <a:xfrm>
            <a:off x="4629150" y="3581400"/>
            <a:ext cx="1619250" cy="400050"/>
          </a:xfrm>
          <a:prstGeom prst="roundRect">
            <a:avLst/>
          </a:prstGeom>
          <a:solidFill>
            <a:srgbClr val="E1E8DC">
              <a:alpha val="84000"/>
            </a:srgbClr>
          </a:solidFill>
          <a:ln w="9525">
            <a:solidFill>
              <a:srgbClr val="8C5A2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s05_process_signal_2_step"/>
          <p:cNvSpPr txBox="1"/>
          <p:nvPr/>
        </p:nvSpPr>
        <p:spPr>
          <a:xfrm>
            <a:off x="2952750" y="3629025"/>
            <a:ext cx="171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02</a:t>
            </a:r>
          </a:p>
        </p:txBody>
      </p:sp>
      <p:sp>
        <p:nvSpPr>
          <p:cNvPr id="35" name="ls05_process_signal_4"/>
          <p:cNvSpPr/>
          <p:nvPr/>
        </p:nvSpPr>
        <p:spPr>
          <a:xfrm>
            <a:off x="6381750" y="3581400"/>
            <a:ext cx="1619250" cy="400050"/>
          </a:xfrm>
          <a:prstGeom prst="roundRect">
            <a:avLst/>
          </a:prstGeom>
          <a:solidFill>
            <a:srgbClr val="E1E8DC">
              <a:alpha val="84000"/>
            </a:srgbClr>
          </a:solidFill>
          <a:ln w="9525">
            <a:solidFill>
              <a:srgbClr val="23624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s05_process_signal_1_label"/>
          <p:cNvSpPr txBox="1"/>
          <p:nvPr/>
        </p:nvSpPr>
        <p:spPr>
          <a:xfrm>
            <a:off x="1447800" y="3629025"/>
            <a:ext cx="762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观察期</a:t>
            </a:r>
          </a:p>
        </p:txBody>
      </p:sp>
      <p:sp>
        <p:nvSpPr>
          <p:cNvPr id="37" name="ls05_process_signal_3_step"/>
          <p:cNvSpPr txBox="1"/>
          <p:nvPr/>
        </p:nvSpPr>
        <p:spPr>
          <a:xfrm>
            <a:off x="4705350" y="3629025"/>
            <a:ext cx="171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8C5A2B"/>
                </a:solidFill>
                <a:latin typeface="Aptos"/>
              </a:rPr>
              <a:t>03</a:t>
            </a:r>
          </a:p>
        </p:txBody>
      </p:sp>
      <p:sp>
        <p:nvSpPr>
          <p:cNvPr id="38" name="ls05_process_signal_2_label"/>
          <p:cNvSpPr txBox="1"/>
          <p:nvPr/>
        </p:nvSpPr>
        <p:spPr>
          <a:xfrm>
            <a:off x="3200400" y="3629025"/>
            <a:ext cx="762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加仓期</a:t>
            </a:r>
          </a:p>
        </p:txBody>
      </p:sp>
      <p:sp>
        <p:nvSpPr>
          <p:cNvPr id="39" name="ls05_process_signal_4_step"/>
          <p:cNvSpPr txBox="1"/>
          <p:nvPr/>
        </p:nvSpPr>
        <p:spPr>
          <a:xfrm>
            <a:off x="6457950" y="3629025"/>
            <a:ext cx="171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23624D"/>
                </a:solidFill>
                <a:latin typeface="Aptos"/>
              </a:rPr>
              <a:t>04</a:t>
            </a:r>
          </a:p>
        </p:txBody>
      </p:sp>
      <p:sp>
        <p:nvSpPr>
          <p:cNvPr id="40" name="ls05_process_signal_3_label"/>
          <p:cNvSpPr txBox="1"/>
          <p:nvPr/>
        </p:nvSpPr>
        <p:spPr>
          <a:xfrm>
            <a:off x="4953000" y="3629025"/>
            <a:ext cx="762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对冲/再平衡</a:t>
            </a:r>
          </a:p>
        </p:txBody>
      </p:sp>
      <p:sp>
        <p:nvSpPr>
          <p:cNvPr id="41" name="ls05_process_signal_4_label"/>
          <p:cNvSpPr txBox="1"/>
          <p:nvPr/>
        </p:nvSpPr>
        <p:spPr>
          <a:xfrm>
            <a:off x="6705600" y="3629025"/>
            <a:ext cx="762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334E48"/>
                </a:solidFill>
                <a:latin typeface="Arial Narrow"/>
              </a:rPr>
              <a:t>再平衡</a:t>
            </a:r>
          </a:p>
        </p:txBody>
      </p:sp>
      <p:sp>
        <p:nvSpPr>
          <p:cNvPr id="42" name="ls05_process_signal_1_value"/>
          <p:cNvSpPr txBox="1"/>
          <p:nvPr/>
        </p:nvSpPr>
        <p:spPr>
          <a:xfrm>
            <a:off x="2247900" y="361950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23624D"/>
                </a:solidFill>
                <a:latin typeface="Arial Narrow"/>
              </a:rPr>
              <a:t>2周</a:t>
            </a:r>
          </a:p>
        </p:txBody>
      </p:sp>
      <p:sp>
        <p:nvSpPr>
          <p:cNvPr id="43" name="ls05_process_signal_2_value"/>
          <p:cNvSpPr txBox="1"/>
          <p:nvPr/>
        </p:nvSpPr>
        <p:spPr>
          <a:xfrm>
            <a:off x="4000500" y="361950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73B67"/>
                </a:solidFill>
                <a:latin typeface="Arial Narrow"/>
              </a:rPr>
              <a:t>4周</a:t>
            </a:r>
          </a:p>
        </p:txBody>
      </p:sp>
      <p:sp>
        <p:nvSpPr>
          <p:cNvPr id="44" name="ls05_process_signal_3_value"/>
          <p:cNvSpPr txBox="1"/>
          <p:nvPr/>
        </p:nvSpPr>
        <p:spPr>
          <a:xfrm>
            <a:off x="5753100" y="361950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8C5A2B"/>
                </a:solidFill>
                <a:latin typeface="Arial Narrow"/>
              </a:rPr>
              <a:t>月度</a:t>
            </a:r>
          </a:p>
        </p:txBody>
      </p:sp>
      <p:sp>
        <p:nvSpPr>
          <p:cNvPr id="45" name="ls05_process_signal_4_value"/>
          <p:cNvSpPr txBox="1"/>
          <p:nvPr/>
        </p:nvSpPr>
        <p:spPr>
          <a:xfrm>
            <a:off x="7505700" y="3619500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23624D"/>
                </a:solidFill>
                <a:latin typeface="Arial Narrow"/>
              </a:rPr>
              <a:t>月度</a:t>
            </a:r>
          </a:p>
        </p:txBody>
      </p:sp>
      <p:sp>
        <p:nvSpPr>
          <p:cNvPr id="46" name="ls05_process_signal_1_delta"/>
          <p:cNvSpPr txBox="1"/>
          <p:nvPr/>
        </p:nvSpPr>
        <p:spPr>
          <a:xfrm>
            <a:off x="1200150" y="3800475"/>
            <a:ext cx="1466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0E2723"/>
                </a:solidFill>
                <a:latin typeface="Arial Narrow"/>
              </a:rPr>
              <a:t>PMI/社融/盈利验证</a:t>
            </a:r>
          </a:p>
        </p:txBody>
      </p:sp>
      <p:sp>
        <p:nvSpPr>
          <p:cNvPr id="47" name="ls05_process_signal_2_delta"/>
          <p:cNvSpPr txBox="1"/>
          <p:nvPr/>
        </p:nvSpPr>
        <p:spPr>
          <a:xfrm>
            <a:off x="2952750" y="3800475"/>
            <a:ext cx="1466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0E2723"/>
                </a:solidFill>
                <a:latin typeface="Arial Narrow"/>
              </a:rPr>
              <a:t>单周风险预算≤8%</a:t>
            </a:r>
          </a:p>
        </p:txBody>
      </p:sp>
      <p:sp>
        <p:nvSpPr>
          <p:cNvPr id="48" name="ls05_process_signal_3_delta"/>
          <p:cNvSpPr txBox="1"/>
          <p:nvPr/>
        </p:nvSpPr>
        <p:spPr>
          <a:xfrm>
            <a:off x="4705350" y="3800475"/>
            <a:ext cx="1466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0E2723"/>
                </a:solidFill>
                <a:latin typeface="Arial Narrow"/>
              </a:rPr>
              <a:t>偏离阈值即调整</a:t>
            </a:r>
          </a:p>
        </p:txBody>
      </p:sp>
      <p:sp>
        <p:nvSpPr>
          <p:cNvPr id="49" name="ls05_process_signal_4_delta"/>
          <p:cNvSpPr txBox="1"/>
          <p:nvPr/>
        </p:nvSpPr>
        <p:spPr>
          <a:xfrm>
            <a:off x="6457950" y="3800475"/>
            <a:ext cx="1466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0E2723"/>
                </a:solidFill>
                <a:latin typeface="Arial Narrow"/>
              </a:rPr>
              <a:t>偏离阈值即复盘</a:t>
            </a:r>
          </a:p>
        </p:txBody>
      </p:sp>
      <p:sp>
        <p:nvSpPr>
          <p:cNvPr id="50" name="ls05_state_feedback_route"/>
          <p:cNvSpPr/>
          <p:nvPr/>
        </p:nvSpPr>
        <p:spPr>
          <a:xfrm>
            <a:off x="2362200" y="4114800"/>
            <a:ext cx="5429250" cy="28575"/>
          </a:xfrm>
          <a:prstGeom prst="rect">
            <a:avLst/>
          </a:prstGeom>
          <a:solidFill>
            <a:srgbClr val="8C5A2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s05_state_route_1"/>
          <p:cNvSpPr/>
          <p:nvPr/>
        </p:nvSpPr>
        <p:spPr>
          <a:xfrm>
            <a:off x="2133600" y="4400550"/>
            <a:ext cx="1009650" cy="38100"/>
          </a:xfrm>
          <a:prstGeom prst="rect">
            <a:avLst/>
          </a:prstGeom>
          <a:solidFill>
            <a:srgbClr val="23624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s05_state_route_2"/>
          <p:cNvSpPr/>
          <p:nvPr/>
        </p:nvSpPr>
        <p:spPr>
          <a:xfrm>
            <a:off x="3981450" y="4400550"/>
            <a:ext cx="1009650" cy="38100"/>
          </a:xfrm>
          <a:prstGeom prst="rect">
            <a:avLst/>
          </a:prstGeom>
          <a:solidFill>
            <a:srgbClr val="173B6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s05_state_feedback_label"/>
          <p:cNvSpPr txBox="1"/>
          <p:nvPr/>
        </p:nvSpPr>
        <p:spPr>
          <a:xfrm>
            <a:off x="4838700" y="4171950"/>
            <a:ext cx="2381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月度复盘 / 授权覆核 / 再平衡</a:t>
            </a:r>
          </a:p>
        </p:txBody>
      </p:sp>
      <p:sp>
        <p:nvSpPr>
          <p:cNvPr id="54" name="ls05_state_route_3"/>
          <p:cNvSpPr/>
          <p:nvPr/>
        </p:nvSpPr>
        <p:spPr>
          <a:xfrm>
            <a:off x="5829300" y="4400550"/>
            <a:ext cx="1009650" cy="38100"/>
          </a:xfrm>
          <a:prstGeom prst="rect">
            <a:avLst/>
          </a:prstGeom>
          <a:solidFill>
            <a:srgbClr val="173B6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s05_governance_strip"/>
          <p:cNvSpPr/>
          <p:nvPr/>
        </p:nvSpPr>
        <p:spPr>
          <a:xfrm>
            <a:off x="8496300" y="3409950"/>
            <a:ext cx="2266950" cy="1466850"/>
          </a:xfrm>
          <a:prstGeom prst="roundRect">
            <a:avLst/>
          </a:prstGeom>
          <a:solidFill>
            <a:srgbClr val="E1E8DC">
              <a:alpha val="70000"/>
            </a:srgbClr>
          </a:solidFill>
          <a:ln w="9525">
            <a:solidFill>
              <a:srgbClr val="6F8278">
                <a:alpha val="2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s05_state_node_1"/>
          <p:cNvSpPr/>
          <p:nvPr/>
        </p:nvSpPr>
        <p:spPr>
          <a:xfrm>
            <a:off x="1485900" y="4191000"/>
            <a:ext cx="457200" cy="4572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8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s05_state_node_2"/>
          <p:cNvSpPr/>
          <p:nvPr/>
        </p:nvSpPr>
        <p:spPr>
          <a:xfrm>
            <a:off x="3333750" y="4191000"/>
            <a:ext cx="457200" cy="4572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173B67">
                <a:alpha val="8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s05_state_node_3"/>
          <p:cNvSpPr/>
          <p:nvPr/>
        </p:nvSpPr>
        <p:spPr>
          <a:xfrm>
            <a:off x="5181600" y="4191000"/>
            <a:ext cx="457200" cy="4572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8C5A2B">
                <a:alpha val="8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s05_state_node_4"/>
          <p:cNvSpPr/>
          <p:nvPr/>
        </p:nvSpPr>
        <p:spPr>
          <a:xfrm>
            <a:off x="7029450" y="4191000"/>
            <a:ext cx="457200" cy="457200"/>
          </a:xfrm>
          <a:prstGeom prst="ellipse">
            <a:avLst/>
          </a:prstGeom>
          <a:solidFill>
            <a:srgbClr val="E1E8DC">
              <a:alpha val="96000"/>
            </a:srgbClr>
          </a:solidFill>
          <a:ln w="9525">
            <a:solidFill>
              <a:srgbClr val="23624D">
                <a:alpha val="8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s05_state_num_1"/>
          <p:cNvSpPr txBox="1"/>
          <p:nvPr/>
        </p:nvSpPr>
        <p:spPr>
          <a:xfrm>
            <a:off x="1590675" y="431482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3624D"/>
                </a:solidFill>
                <a:latin typeface="Aptos"/>
              </a:rPr>
              <a:t>01</a:t>
            </a:r>
          </a:p>
        </p:txBody>
      </p:sp>
      <p:sp>
        <p:nvSpPr>
          <p:cNvPr id="61" name="ls05_governance_head"/>
          <p:cNvSpPr txBox="1"/>
          <p:nvPr/>
        </p:nvSpPr>
        <p:spPr>
          <a:xfrm>
            <a:off x="8648700" y="352425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GOVERNANCE</a:t>
            </a:r>
          </a:p>
        </p:txBody>
      </p:sp>
      <p:sp>
        <p:nvSpPr>
          <p:cNvPr id="62" name="ls05_state_num_2"/>
          <p:cNvSpPr txBox="1"/>
          <p:nvPr/>
        </p:nvSpPr>
        <p:spPr>
          <a:xfrm>
            <a:off x="3438525" y="431482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73B67"/>
                </a:solidFill>
                <a:latin typeface="Aptos"/>
              </a:rPr>
              <a:t>02</a:t>
            </a:r>
          </a:p>
        </p:txBody>
      </p:sp>
      <p:sp>
        <p:nvSpPr>
          <p:cNvPr id="63" name="ls05_state_num_3"/>
          <p:cNvSpPr txBox="1"/>
          <p:nvPr/>
        </p:nvSpPr>
        <p:spPr>
          <a:xfrm>
            <a:off x="5286375" y="431482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C5A2B"/>
                </a:solidFill>
                <a:latin typeface="Aptos"/>
              </a:rPr>
              <a:t>03</a:t>
            </a:r>
          </a:p>
        </p:txBody>
      </p:sp>
      <p:sp>
        <p:nvSpPr>
          <p:cNvPr id="64" name="ls05_state_num_4"/>
          <p:cNvSpPr txBox="1"/>
          <p:nvPr/>
        </p:nvSpPr>
        <p:spPr>
          <a:xfrm>
            <a:off x="7134225" y="431482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3624D"/>
                </a:solidFill>
                <a:latin typeface="Aptos"/>
              </a:rPr>
              <a:t>04</a:t>
            </a:r>
          </a:p>
        </p:txBody>
      </p:sp>
      <p:sp>
        <p:nvSpPr>
          <p:cNvPr id="65" name="ls05_governance_1_k"/>
          <p:cNvSpPr txBox="1"/>
          <p:nvPr/>
        </p:nvSpPr>
        <p:spPr>
          <a:xfrm>
            <a:off x="8648700" y="37147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Trigger</a:t>
            </a:r>
          </a:p>
        </p:txBody>
      </p:sp>
      <p:sp>
        <p:nvSpPr>
          <p:cNvPr id="66" name="ls05_state_title_1"/>
          <p:cNvSpPr txBox="1"/>
          <p:nvPr/>
        </p:nvSpPr>
        <p:spPr>
          <a:xfrm>
            <a:off x="1162050" y="47434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E2723"/>
                </a:solidFill>
                <a:latin typeface="Aptos"/>
              </a:rPr>
              <a:t>观察</a:t>
            </a:r>
          </a:p>
        </p:txBody>
      </p:sp>
      <p:sp>
        <p:nvSpPr>
          <p:cNvPr id="67" name="ls05_governance_2_k"/>
          <p:cNvSpPr txBox="1"/>
          <p:nvPr/>
        </p:nvSpPr>
        <p:spPr>
          <a:xfrm>
            <a:off x="8648700" y="39814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Budget</a:t>
            </a:r>
          </a:p>
        </p:txBody>
      </p:sp>
      <p:sp>
        <p:nvSpPr>
          <p:cNvPr id="68" name="ls05_state_title_2"/>
          <p:cNvSpPr txBox="1"/>
          <p:nvPr/>
        </p:nvSpPr>
        <p:spPr>
          <a:xfrm>
            <a:off x="3009900" y="47434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E2723"/>
                </a:solidFill>
                <a:latin typeface="Aptos"/>
              </a:rPr>
              <a:t>加仓</a:t>
            </a:r>
          </a:p>
        </p:txBody>
      </p:sp>
      <p:sp>
        <p:nvSpPr>
          <p:cNvPr id="69" name="ls05_governance_3_k"/>
          <p:cNvSpPr txBox="1"/>
          <p:nvPr/>
        </p:nvSpPr>
        <p:spPr>
          <a:xfrm>
            <a:off x="8648700" y="42481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Hedge</a:t>
            </a:r>
          </a:p>
        </p:txBody>
      </p:sp>
      <p:sp>
        <p:nvSpPr>
          <p:cNvPr id="70" name="ls05_state_title_3"/>
          <p:cNvSpPr txBox="1"/>
          <p:nvPr/>
        </p:nvSpPr>
        <p:spPr>
          <a:xfrm>
            <a:off x="4857750" y="47434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E2723"/>
                </a:solidFill>
                <a:latin typeface="Aptos"/>
              </a:rPr>
              <a:t>对冲</a:t>
            </a:r>
          </a:p>
        </p:txBody>
      </p:sp>
      <p:sp>
        <p:nvSpPr>
          <p:cNvPr id="71" name="ls05_governance_4_k"/>
          <p:cNvSpPr txBox="1"/>
          <p:nvPr/>
        </p:nvSpPr>
        <p:spPr>
          <a:xfrm>
            <a:off x="8648700" y="45148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173B67"/>
                </a:solidFill>
                <a:latin typeface="Aptos"/>
              </a:rPr>
              <a:t>Review</a:t>
            </a:r>
          </a:p>
        </p:txBody>
      </p:sp>
      <p:sp>
        <p:nvSpPr>
          <p:cNvPr id="72" name="ls05_state_title_4"/>
          <p:cNvSpPr txBox="1"/>
          <p:nvPr/>
        </p:nvSpPr>
        <p:spPr>
          <a:xfrm>
            <a:off x="6705600" y="47434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E2723"/>
                </a:solidFill>
                <a:latin typeface="Aptos"/>
              </a:rPr>
              <a:t>再平衡</a:t>
            </a:r>
          </a:p>
        </p:txBody>
      </p:sp>
      <p:sp>
        <p:nvSpPr>
          <p:cNvPr id="73" name="ls05_governance_1_v"/>
          <p:cNvSpPr txBox="1"/>
          <p:nvPr/>
        </p:nvSpPr>
        <p:spPr>
          <a:xfrm>
            <a:off x="9334500" y="371475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PMI&gt;50 / 盈利确认</a:t>
            </a:r>
          </a:p>
        </p:txBody>
      </p:sp>
      <p:sp>
        <p:nvSpPr>
          <p:cNvPr id="74" name="ls05_state_text_1"/>
          <p:cNvSpPr txBox="1"/>
          <p:nvPr/>
        </p:nvSpPr>
        <p:spPr>
          <a:xfrm>
            <a:off x="1009650" y="4972050"/>
            <a:ext cx="140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PMI连续两月&gt;50、社融增速回升、盈利预告上修比例改善。</a:t>
            </a:r>
          </a:p>
        </p:txBody>
      </p:sp>
      <p:sp>
        <p:nvSpPr>
          <p:cNvPr id="75" name="ls05_governance_2_v"/>
          <p:cNvSpPr txBox="1"/>
          <p:nvPr/>
        </p:nvSpPr>
        <p:spPr>
          <a:xfrm>
            <a:off x="9334500" y="398145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单周新增≤8%</a:t>
            </a:r>
          </a:p>
        </p:txBody>
      </p:sp>
      <p:sp>
        <p:nvSpPr>
          <p:cNvPr id="76" name="ls05_state_text_2"/>
          <p:cNvSpPr txBox="1"/>
          <p:nvPr/>
        </p:nvSpPr>
        <p:spPr>
          <a:xfrm>
            <a:off x="2857500" y="4972050"/>
            <a:ext cx="140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盈利确认后分批加仓，单周新增风险预算不超过8%。</a:t>
            </a:r>
          </a:p>
        </p:txBody>
      </p:sp>
      <p:sp>
        <p:nvSpPr>
          <p:cNvPr id="77" name="ls05_governance_3_v"/>
          <p:cNvSpPr txBox="1"/>
          <p:nvPr/>
        </p:nvSpPr>
        <p:spPr>
          <a:xfrm>
            <a:off x="9334500" y="424815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利率/政策扰动</a:t>
            </a:r>
          </a:p>
        </p:txBody>
      </p:sp>
      <p:sp>
        <p:nvSpPr>
          <p:cNvPr id="78" name="ls05_state_text_3"/>
          <p:cNvSpPr txBox="1"/>
          <p:nvPr/>
        </p:nvSpPr>
        <p:spPr>
          <a:xfrm>
            <a:off x="4705350" y="4972050"/>
            <a:ext cx="140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美元利率/政策扰动触发时，用黄金和现金缓冲组合回撤。</a:t>
            </a:r>
          </a:p>
        </p:txBody>
      </p:sp>
      <p:sp>
        <p:nvSpPr>
          <p:cNvPr id="79" name="ls05_governance_4_v"/>
          <p:cNvSpPr txBox="1"/>
          <p:nvPr/>
        </p:nvSpPr>
        <p:spPr>
          <a:xfrm>
            <a:off x="9334500" y="4514850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0E2723"/>
                </a:solidFill>
                <a:latin typeface="Aptos"/>
              </a:rPr>
              <a:t>月度 / 偏离5ppt</a:t>
            </a:r>
          </a:p>
        </p:txBody>
      </p:sp>
      <p:sp>
        <p:nvSpPr>
          <p:cNvPr id="80" name="ls05_state_text_4"/>
          <p:cNvSpPr txBox="1"/>
          <p:nvPr/>
        </p:nvSpPr>
        <p:spPr>
          <a:xfrm>
            <a:off x="6553200" y="4972050"/>
            <a:ext cx="140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334E48"/>
                </a:solidFill>
                <a:latin typeface="Aptos"/>
              </a:rPr>
              <a:t>月度检查风险贡献，单资产偏离目标5ppt即再平衡。</a:t>
            </a:r>
          </a:p>
        </p:txBody>
      </p:sp>
      <p:sp>
        <p:nvSpPr>
          <p:cNvPr id="81" name="ls05_process_atlas_legend_label"/>
          <p:cNvSpPr txBox="1"/>
          <p:nvPr/>
        </p:nvSpPr>
        <p:spPr>
          <a:xfrm>
            <a:off x="8496300" y="5048250"/>
            <a:ext cx="7810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LEGEND</a:t>
            </a:r>
          </a:p>
        </p:txBody>
      </p:sp>
      <p:sp>
        <p:nvSpPr>
          <p:cNvPr id="82" name="ls05_process_atlas_legend_1_dot"/>
          <p:cNvSpPr/>
          <p:nvPr/>
        </p:nvSpPr>
        <p:spPr>
          <a:xfrm>
            <a:off x="9086850" y="5076825"/>
            <a:ext cx="76200" cy="76200"/>
          </a:xfrm>
          <a:prstGeom prst="ellipse">
            <a:avLst/>
          </a:prstGeom>
          <a:solidFill>
            <a:srgbClr val="23624D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s05_process_atlas_legend_1_text"/>
          <p:cNvSpPr txBox="1"/>
          <p:nvPr/>
        </p:nvSpPr>
        <p:spPr>
          <a:xfrm>
            <a:off x="9201150" y="503872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当前节点</a:t>
            </a:r>
          </a:p>
        </p:txBody>
      </p:sp>
      <p:sp>
        <p:nvSpPr>
          <p:cNvPr id="84" name="ls05_process_atlas_legend_2_dot"/>
          <p:cNvSpPr/>
          <p:nvPr/>
        </p:nvSpPr>
        <p:spPr>
          <a:xfrm>
            <a:off x="10229850" y="5076825"/>
            <a:ext cx="76200" cy="76200"/>
          </a:xfrm>
          <a:prstGeom prst="ellipse">
            <a:avLst/>
          </a:prstGeom>
          <a:solidFill>
            <a:srgbClr val="173B67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s05_process_atlas_legend_2_text"/>
          <p:cNvSpPr txBox="1"/>
          <p:nvPr/>
        </p:nvSpPr>
        <p:spPr>
          <a:xfrm>
            <a:off x="10344150" y="503872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风险部署</a:t>
            </a:r>
          </a:p>
        </p:txBody>
      </p:sp>
      <p:sp>
        <p:nvSpPr>
          <p:cNvPr id="86" name="ls05_process_atlas_legend_3_dot"/>
          <p:cNvSpPr/>
          <p:nvPr/>
        </p:nvSpPr>
        <p:spPr>
          <a:xfrm>
            <a:off x="11372850" y="5076825"/>
            <a:ext cx="76200" cy="76200"/>
          </a:xfrm>
          <a:prstGeom prst="ellipse">
            <a:avLst/>
          </a:prstGeom>
          <a:solidFill>
            <a:srgbClr val="8C5A2B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s05_process_atlas_legend_3_text"/>
          <p:cNvSpPr txBox="1"/>
          <p:nvPr/>
        </p:nvSpPr>
        <p:spPr>
          <a:xfrm>
            <a:off x="11487150" y="503872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1">
                <a:solidFill>
                  <a:srgbClr val="334E48"/>
                </a:solidFill>
                <a:latin typeface="Aptos"/>
              </a:rPr>
              <a:t>风控闸门</a:t>
            </a:r>
          </a:p>
        </p:txBody>
      </p:sp>
      <p:sp>
        <p:nvSpPr>
          <p:cNvPr id="88" name="ls05_footer_mask"/>
          <p:cNvSpPr/>
          <p:nvPr/>
        </p:nvSpPr>
        <p:spPr>
          <a:xfrm>
            <a:off x="762000" y="5905500"/>
            <a:ext cx="10668000" cy="323850"/>
          </a:xfrm>
          <a:prstGeom prst="rect">
            <a:avLst/>
          </a:prstGeom>
          <a:solidFill>
            <a:srgbClr val="EEF2E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s05_source_band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23624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s05_risk_note"/>
          <p:cNvSpPr txBox="1"/>
          <p:nvPr/>
        </p:nvSpPr>
        <p:spPr>
          <a:xfrm>
            <a:off x="838200" y="6000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334E48"/>
                </a:solidFill>
                <a:latin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