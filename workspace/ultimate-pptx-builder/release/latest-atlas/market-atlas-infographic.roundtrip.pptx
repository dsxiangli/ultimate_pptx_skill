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 type="wide"/>
  <p:notesSz cx="6858000" cy="9144000"/>
  <p:defaultTextStyle>
    <a:defPPr>
      <a:defRPr lang="zh-CN"/>
    </a:def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20"/>
    <p:restoredTop sz="94660"/>
  </p:normal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9991" Type="http://schemas.openxmlformats.org/officeDocument/2006/relationships/presProps" Target="presProps.xml"/><Relationship Id="rId9992" Type="http://schemas.openxmlformats.org/officeDocument/2006/relationships/viewProps" Target="viewProps.xml"/><Relationship Id="rId999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s01_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CEBE1"/>
          </a:solidFill>
          <a:ln w="9525">
            <a:solidFill>
              <a:srgbClr val="DCEBE1"/>
            </a:solidFill>
          </a:ln>
        </p:spPr>
      </p:sp>
      <p:sp>
        <p:nvSpPr>
          <p:cNvPr id="3" name="ls01_zone_bottom"/>
          <p:cNvSpPr/>
          <p:nvPr/>
        </p:nvSpPr>
        <p:spPr>
          <a:xfrm>
            <a:off x="685800" y="3924300"/>
            <a:ext cx="10839450" cy="1504950"/>
          </a:xfrm>
          <a:prstGeom prst="rect">
            <a:avLst/>
          </a:prstGeom>
          <a:solidFill>
            <a:srgbClr val="BFDCCB">
              <a:alpha val="30000"/>
            </a:srgbClr>
          </a:solidFill>
          <a:ln>
            <a:noFill/>
          </a:ln>
        </p:spPr>
      </p:sp>
      <p:sp>
        <p:nvSpPr>
          <p:cNvPr id="4" name="ls01_zone_left"/>
          <p:cNvSpPr/>
          <p:nvPr/>
        </p:nvSpPr>
        <p:spPr>
          <a:xfrm>
            <a:off x="609600" y="990600"/>
            <a:ext cx="6000750" cy="4762500"/>
          </a:xfrm>
          <a:prstGeom prst="rect">
            <a:avLst/>
          </a:prstGeom>
          <a:solidFill>
            <a:srgbClr val="D2E8DA">
              <a:alpha val="36000"/>
            </a:srgbClr>
          </a:solidFill>
          <a:ln>
            <a:noFill/>
          </a:ln>
        </p:spPr>
      </p:sp>
      <p:sp>
        <p:nvSpPr>
          <p:cNvPr id="5" name="ls01_zone_right"/>
          <p:cNvSpPr/>
          <p:nvPr/>
        </p:nvSpPr>
        <p:spPr>
          <a:xfrm>
            <a:off x="6953250" y="1924050"/>
            <a:ext cx="4476750" cy="3143250"/>
          </a:xfrm>
          <a:prstGeom prst="rect">
            <a:avLst/>
          </a:prstGeom>
          <a:solidFill>
            <a:srgbClr val="FBFFF8">
              <a:alpha val="72000"/>
            </a:srgbClr>
          </a:solidFill>
          <a:ln w="9525">
            <a:solidFill>
              <a:srgbClr val="4E927E">
                <a:alpha val="35000"/>
              </a:srgbClr>
            </a:solidFill>
          </a:ln>
        </p:spPr>
      </p:sp>
      <p:sp>
        <p:nvSpPr>
          <p:cNvPr id="6" name="ls01_grid_h_118"/>
          <p:cNvSpPr/>
          <p:nvPr/>
        </p:nvSpPr>
        <p:spPr>
          <a:xfrm>
            <a:off x="609600" y="1123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7" name="ls01_grid_h_238"/>
          <p:cNvSpPr/>
          <p:nvPr/>
        </p:nvSpPr>
        <p:spPr>
          <a:xfrm>
            <a:off x="609600" y="2266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8" name="ls01_grid_h_358"/>
          <p:cNvSpPr/>
          <p:nvPr/>
        </p:nvSpPr>
        <p:spPr>
          <a:xfrm>
            <a:off x="609600" y="3409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9" name="ls01_grid_h_478"/>
          <p:cNvSpPr/>
          <p:nvPr/>
        </p:nvSpPr>
        <p:spPr>
          <a:xfrm>
            <a:off x="609600" y="4552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10" name="ls01_grid_h_598"/>
          <p:cNvSpPr/>
          <p:nvPr/>
        </p:nvSpPr>
        <p:spPr>
          <a:xfrm>
            <a:off x="609600" y="5695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11" name="ls01_grid_v_1056"/>
          <p:cNvSpPr/>
          <p:nvPr/>
        </p:nvSpPr>
        <p:spPr>
          <a:xfrm>
            <a:off x="10058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2" name="ls01_grid_v_1216"/>
          <p:cNvSpPr/>
          <p:nvPr/>
        </p:nvSpPr>
        <p:spPr>
          <a:xfrm>
            <a:off x="11582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3" name="ls01_grid_v_256"/>
          <p:cNvSpPr/>
          <p:nvPr/>
        </p:nvSpPr>
        <p:spPr>
          <a:xfrm>
            <a:off x="2438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4" name="ls01_grid_v_416"/>
          <p:cNvSpPr/>
          <p:nvPr/>
        </p:nvSpPr>
        <p:spPr>
          <a:xfrm>
            <a:off x="3962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5" name="ls01_grid_v_576"/>
          <p:cNvSpPr/>
          <p:nvPr/>
        </p:nvSpPr>
        <p:spPr>
          <a:xfrm>
            <a:off x="5486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6" name="ls01_grid_v_736"/>
          <p:cNvSpPr/>
          <p:nvPr/>
        </p:nvSpPr>
        <p:spPr>
          <a:xfrm>
            <a:off x="7010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7" name="ls01_grid_v_896"/>
          <p:cNvSpPr/>
          <p:nvPr/>
        </p:nvSpPr>
        <p:spPr>
          <a:xfrm>
            <a:off x="8534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8" name="ls01_grid_v_96"/>
          <p:cNvSpPr/>
          <p:nvPr/>
        </p:nvSpPr>
        <p:spPr>
          <a:xfrm>
            <a:off x="914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9" name="ls01_route_primary"/>
          <p:cNvSpPr/>
          <p:nvPr/>
        </p:nvSpPr>
        <p:spPr>
          <a:xfrm>
            <a:off x="838200" y="2076450"/>
            <a:ext cx="10096500" cy="76200"/>
          </a:xfrm>
          <a:prstGeom prst="rect">
            <a:avLst/>
          </a:prstGeom>
          <a:solidFill>
            <a:srgbClr val="1457A8">
              <a:alpha val="30000"/>
            </a:srgbClr>
          </a:solidFill>
          <a:ln>
            <a:noFill/>
          </a:ln>
        </p:spPr>
      </p:sp>
      <p:sp>
        <p:nvSpPr>
          <p:cNvPr id="20" name="ls01_route_secondary"/>
          <p:cNvSpPr/>
          <p:nvPr/>
        </p:nvSpPr>
        <p:spPr>
          <a:xfrm>
            <a:off x="1809750" y="5143500"/>
            <a:ext cx="8382000" cy="57150"/>
          </a:xfrm>
          <a:prstGeom prst="rect">
            <a:avLst/>
          </a:prstGeom>
          <a:solidFill>
            <a:srgbClr val="187956">
              <a:alpha val="24000"/>
            </a:srgbClr>
          </a:solidFill>
          <a:ln>
            <a:noFill/>
          </a:ln>
        </p:spPr>
      </p:sp>
      <p:sp>
        <p:nvSpPr>
          <p:cNvPr id="21" name="ls01_node_1"/>
          <p:cNvSpPr/>
          <p:nvPr/>
        </p:nvSpPr>
        <p:spPr>
          <a:xfrm>
            <a:off x="6819900" y="2038350"/>
            <a:ext cx="171450" cy="171450"/>
          </a:xfrm>
          <a:prstGeom prst="rect">
            <a:avLst/>
          </a:prstGeom>
          <a:solidFill>
            <a:srgbClr val="1457A8">
              <a:alpha val="76000"/>
            </a:srgbClr>
          </a:solidFill>
          <a:ln>
            <a:noFill/>
          </a:ln>
        </p:spPr>
      </p:sp>
      <p:sp>
        <p:nvSpPr>
          <p:cNvPr id="22" name="ls01_node_2"/>
          <p:cNvSpPr/>
          <p:nvPr/>
        </p:nvSpPr>
        <p:spPr>
          <a:xfrm>
            <a:off x="7124700" y="5105400"/>
            <a:ext cx="171450" cy="171450"/>
          </a:xfrm>
          <a:prstGeom prst="rect">
            <a:avLst/>
          </a:prstGeom>
          <a:solidFill>
            <a:srgbClr val="187956">
              <a:alpha val="76000"/>
            </a:srgbClr>
          </a:solidFill>
          <a:ln>
            <a:noFill/>
          </a:ln>
        </p:spPr>
      </p:sp>
      <p:sp>
        <p:nvSpPr>
          <p:cNvPr id="23" name="ls01_node_3"/>
          <p:cNvSpPr/>
          <p:nvPr/>
        </p:nvSpPr>
        <p:spPr>
          <a:xfrm>
            <a:off x="11049000" y="2038350"/>
            <a:ext cx="171450" cy="171450"/>
          </a:xfrm>
          <a:prstGeom prst="rect">
            <a:avLst/>
          </a:prstGeom>
          <a:solidFill>
            <a:srgbClr val="B86414">
              <a:alpha val="76000"/>
            </a:srgbClr>
          </a:solidFill>
          <a:ln>
            <a:noFill/>
          </a:ln>
        </p:spPr>
      </p:sp>
      <p:sp>
        <p:nvSpPr>
          <p:cNvPr id="24" name="ls01_folio"/>
          <p:cNvSpPr txBox="1"/>
          <p:nvPr/>
        </p:nvSpPr>
        <p:spPr>
          <a:xfrm>
            <a:off x="762000" y="5143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2C5148"/>
                </a:solidFill>
                <a:latin typeface="Aptos"/>
                <a:ea typeface="Aptos"/>
              </a:rPr>
              <a:t>MARKET ATLAS / ZONE-01</a:t>
            </a:r>
          </a:p>
        </p:txBody>
      </p:sp>
      <p:sp>
        <p:nvSpPr>
          <p:cNvPr id="25" name="ls01_legend_1"/>
          <p:cNvSpPr txBox="1"/>
          <p:nvPr/>
        </p:nvSpPr>
        <p:spPr>
          <a:xfrm>
            <a:off x="7239000" y="196215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 b="1">
                <a:solidFill>
                  <a:srgbClr val="2C5148"/>
                </a:solidFill>
                <a:latin typeface="Aptos"/>
                <a:ea typeface="Aptos"/>
              </a:rPr>
              <a:t>SIGNAL FIELD</a:t>
            </a:r>
          </a:p>
        </p:txBody>
      </p:sp>
      <p:sp>
        <p:nvSpPr>
          <p:cNvPr id="26" name="ls01_legend_2"/>
          <p:cNvSpPr txBox="1"/>
          <p:nvPr/>
        </p:nvSpPr>
        <p:spPr>
          <a:xfrm>
            <a:off x="876300" y="38290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 b="1">
                <a:solidFill>
                  <a:srgbClr val="187956"/>
                </a:solidFill>
                <a:latin typeface="Aptos"/>
                <a:ea typeface="Aptos"/>
              </a:rPr>
              <a:t>ALLOCATION ROUTE</a:t>
            </a:r>
          </a:p>
        </p:txBody>
      </p:sp>
      <p:sp>
        <p:nvSpPr>
          <p:cNvPr id="27" name="ls01_kicker"/>
          <p:cNvSpPr txBox="1"/>
          <p:nvPr/>
        </p:nvSpPr>
        <p:spPr>
          <a:xfrm>
            <a:off x="781050" y="8001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100" b="1">
                <a:solidFill>
                  <a:srgbClr val="1457A8"/>
                </a:solidFill>
                <a:latin typeface="Aptos Display"/>
                <a:ea typeface="Aptos Display"/>
              </a:rPr>
              <a:t>投委会策略 / 2026Q3 / visual-language-demo</a:t>
            </a:r>
          </a:p>
        </p:txBody>
      </p:sp>
      <p:sp>
        <p:nvSpPr>
          <p:cNvPr id="28" name="ls01_title"/>
          <p:cNvSpPr txBox="1"/>
          <p:nvPr/>
        </p:nvSpPr>
        <p:spPr>
          <a:xfrm>
            <a:off x="781050" y="1066800"/>
            <a:ext cx="5715000" cy="80133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2300" b="1">
                <a:solidFill>
                  <a:srgbClr val="0B2B24"/>
                </a:solidFill>
                <a:latin typeface="Aptos Display"/>
                <a:ea typeface="Aptos Display"/>
              </a:rPr>
              <a:t>三季度资产配置建议：从防守确定性转向有纪律的风险再配置</a:t>
            </a:r>
          </a:p>
        </p:txBody>
      </p:sp>
      <p:sp>
        <p:nvSpPr>
          <p:cNvPr id="29" name="ls01_subtitle"/>
          <p:cNvSpPr txBox="1"/>
          <p:nvPr/>
        </p:nvSpPr>
        <p:spPr>
          <a:xfrm>
            <a:off x="800100" y="1944338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200">
                <a:solidFill>
                  <a:srgbClr val="2C5148"/>
                </a:solidFill>
                <a:latin typeface="Aptos"/>
                <a:ea typeface="Aptos"/>
              </a:rPr>
              <a:t>模拟真实用户输入的15页端到端 benchmark deck</a:t>
            </a:r>
          </a:p>
        </p:txBody>
      </p:sp>
      <p:sp>
        <p:nvSpPr>
          <p:cNvPr id="30" name="ls01_body_1"/>
          <p:cNvSpPr txBox="1"/>
          <p:nvPr/>
        </p:nvSpPr>
        <p:spPr>
          <a:xfrm>
            <a:off x="838200" y="2266950"/>
            <a:ext cx="4476750" cy="4632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400">
                <a:solidFill>
                  <a:srgbClr val="0B2B24"/>
                </a:solidFill>
                <a:latin typeface="Aptos"/>
                <a:ea typeface="Aptos"/>
              </a:rPr>
              <a:t>核心判断：宏观尾部风险下降，但盈利确认仍需等待；组合从纯防守转向结构性风险再配置。</a:t>
            </a:r>
          </a:p>
        </p:txBody>
      </p:sp>
      <p:sp>
        <p:nvSpPr>
          <p:cNvPr id="31" name="ls01_body_2"/>
          <p:cNvSpPr txBox="1"/>
          <p:nvPr/>
        </p:nvSpPr>
        <p:spPr>
          <a:xfrm>
            <a:off x="838200" y="2825496"/>
            <a:ext cx="4476750" cy="4632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400">
                <a:solidFill>
                  <a:srgbClr val="0B2B24"/>
                </a:solidFill>
                <a:latin typeface="Aptos"/>
                <a:ea typeface="Aptos"/>
              </a:rPr>
              <a:t>目标：在不突破回撤预算的前提下，提高权益与商品对组合弹性的贡献。</a:t>
            </a:r>
          </a:p>
        </p:txBody>
      </p:sp>
      <p:sp>
        <p:nvSpPr>
          <p:cNvPr id="32" name="ls01_metric_1_card"/>
          <p:cNvSpPr/>
          <p:nvPr/>
        </p:nvSpPr>
        <p:spPr>
          <a:xfrm>
            <a:off x="7239000" y="21907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187956">
                <a:alpha val="88000"/>
              </a:srgbClr>
            </a:solidFill>
          </a:ln>
        </p:spPr>
      </p:sp>
      <p:sp>
        <p:nvSpPr>
          <p:cNvPr id="33" name="ls01_metric_1_node"/>
          <p:cNvSpPr/>
          <p:nvPr/>
        </p:nvSpPr>
        <p:spPr>
          <a:xfrm>
            <a:off x="7334250" y="2305050"/>
            <a:ext cx="133350" cy="133350"/>
          </a:xfrm>
          <a:prstGeom prst="ellipse">
            <a:avLst/>
          </a:prstGeom>
          <a:solidFill>
            <a:srgbClr val="187956">
              <a:alpha val="95000"/>
            </a:srgbClr>
          </a:solidFill>
          <a:ln>
            <a:noFill/>
          </a:ln>
        </p:spPr>
      </p:sp>
      <p:sp>
        <p:nvSpPr>
          <p:cNvPr id="34" name="ls01_metric_1_label"/>
          <p:cNvSpPr txBox="1"/>
          <p:nvPr/>
        </p:nvSpPr>
        <p:spPr>
          <a:xfrm>
            <a:off x="7543800" y="22860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组合目标波动</a:t>
            </a:r>
          </a:p>
        </p:txBody>
      </p:sp>
      <p:sp>
        <p:nvSpPr>
          <p:cNvPr id="35" name="ls01_metric_1_value"/>
          <p:cNvSpPr txBox="1"/>
          <p:nvPr/>
        </p:nvSpPr>
        <p:spPr>
          <a:xfrm>
            <a:off x="7391400" y="25146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6.8%</a:t>
            </a:r>
          </a:p>
        </p:txBody>
      </p:sp>
      <p:sp>
        <p:nvSpPr>
          <p:cNvPr id="36" name="ls01_metric_1_delta"/>
          <p:cNvSpPr txBox="1"/>
          <p:nvPr/>
        </p:nvSpPr>
        <p:spPr>
          <a:xfrm>
            <a:off x="7391400" y="28575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187956"/>
                </a:solidFill>
                <a:latin typeface="Arial Narrow"/>
                <a:ea typeface="Arial Narrow"/>
              </a:rPr>
              <a:t>年化预算</a:t>
            </a:r>
          </a:p>
        </p:txBody>
      </p:sp>
      <p:sp>
        <p:nvSpPr>
          <p:cNvPr id="37" name="ls01_metric_2_card"/>
          <p:cNvSpPr/>
          <p:nvPr/>
        </p:nvSpPr>
        <p:spPr>
          <a:xfrm>
            <a:off x="9525000" y="21907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B86414">
                <a:alpha val="88000"/>
              </a:srgbClr>
            </a:solidFill>
          </a:ln>
        </p:spPr>
      </p:sp>
      <p:sp>
        <p:nvSpPr>
          <p:cNvPr id="38" name="ls01_metric_2_node"/>
          <p:cNvSpPr/>
          <p:nvPr/>
        </p:nvSpPr>
        <p:spPr>
          <a:xfrm>
            <a:off x="9620250" y="2305050"/>
            <a:ext cx="133350" cy="133350"/>
          </a:xfrm>
          <a:prstGeom prst="ellipse">
            <a:avLst/>
          </a:prstGeom>
          <a:solidFill>
            <a:srgbClr val="B86414">
              <a:alpha val="95000"/>
            </a:srgbClr>
          </a:solidFill>
          <a:ln>
            <a:noFill/>
          </a:ln>
        </p:spPr>
      </p:sp>
      <p:sp>
        <p:nvSpPr>
          <p:cNvPr id="39" name="ls01_metric_2_label"/>
          <p:cNvSpPr txBox="1"/>
          <p:nvPr/>
        </p:nvSpPr>
        <p:spPr>
          <a:xfrm>
            <a:off x="9829800" y="22860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最大回撤预算</a:t>
            </a:r>
          </a:p>
        </p:txBody>
      </p:sp>
      <p:sp>
        <p:nvSpPr>
          <p:cNvPr id="40" name="ls01_metric_2_value"/>
          <p:cNvSpPr txBox="1"/>
          <p:nvPr/>
        </p:nvSpPr>
        <p:spPr>
          <a:xfrm>
            <a:off x="9677400" y="25146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4.5%</a:t>
            </a:r>
          </a:p>
        </p:txBody>
      </p:sp>
      <p:sp>
        <p:nvSpPr>
          <p:cNvPr id="41" name="ls01_metric_2_delta"/>
          <p:cNvSpPr txBox="1"/>
          <p:nvPr/>
        </p:nvSpPr>
        <p:spPr>
          <a:xfrm>
            <a:off x="9677400" y="28575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B86414"/>
                </a:solidFill>
                <a:latin typeface="Arial Narrow"/>
                <a:ea typeface="Arial Narrow"/>
              </a:rPr>
              <a:t>硬约束</a:t>
            </a:r>
          </a:p>
        </p:txBody>
      </p:sp>
      <p:sp>
        <p:nvSpPr>
          <p:cNvPr id="42" name="ls01_metric_3_card"/>
          <p:cNvSpPr/>
          <p:nvPr/>
        </p:nvSpPr>
        <p:spPr>
          <a:xfrm>
            <a:off x="7239000" y="34480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1457A8">
                <a:alpha val="88000"/>
              </a:srgbClr>
            </a:solidFill>
          </a:ln>
        </p:spPr>
      </p:sp>
      <p:sp>
        <p:nvSpPr>
          <p:cNvPr id="43" name="ls01_metric_3_node"/>
          <p:cNvSpPr/>
          <p:nvPr/>
        </p:nvSpPr>
        <p:spPr>
          <a:xfrm>
            <a:off x="7334250" y="3562350"/>
            <a:ext cx="133350" cy="133350"/>
          </a:xfrm>
          <a:prstGeom prst="ellipse">
            <a:avLst/>
          </a:prstGeom>
          <a:solidFill>
            <a:srgbClr val="1457A8">
              <a:alpha val="95000"/>
            </a:srgbClr>
          </a:solidFill>
          <a:ln>
            <a:noFill/>
          </a:ln>
        </p:spPr>
      </p:sp>
      <p:sp>
        <p:nvSpPr>
          <p:cNvPr id="44" name="ls01_metric_3_label"/>
          <p:cNvSpPr txBox="1"/>
          <p:nvPr/>
        </p:nvSpPr>
        <p:spPr>
          <a:xfrm>
            <a:off x="7543800" y="35433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权益风险预算</a:t>
            </a:r>
          </a:p>
        </p:txBody>
      </p:sp>
      <p:sp>
        <p:nvSpPr>
          <p:cNvPr id="45" name="ls01_metric_3_value"/>
          <p:cNvSpPr txBox="1"/>
          <p:nvPr/>
        </p:nvSpPr>
        <p:spPr>
          <a:xfrm>
            <a:off x="7391400" y="37719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44%</a:t>
            </a:r>
          </a:p>
        </p:txBody>
      </p:sp>
      <p:sp>
        <p:nvSpPr>
          <p:cNvPr id="46" name="ls01_metric_3_delta"/>
          <p:cNvSpPr txBox="1"/>
          <p:nvPr/>
        </p:nvSpPr>
        <p:spPr>
          <a:xfrm>
            <a:off x="7391400" y="41148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1457A8"/>
                </a:solidFill>
                <a:latin typeface="Arial Narrow"/>
                <a:ea typeface="Arial Narrow"/>
              </a:rPr>
              <a:t>逐步提升</a:t>
            </a:r>
          </a:p>
        </p:txBody>
      </p:sp>
      <p:sp>
        <p:nvSpPr>
          <p:cNvPr id="47" name="ls01_source_band"/>
          <p:cNvSpPr/>
          <p:nvPr/>
        </p:nvSpPr>
        <p:spPr>
          <a:xfrm>
            <a:off x="723900" y="5829300"/>
            <a:ext cx="10744200" cy="57150"/>
          </a:xfrm>
          <a:prstGeom prst="rect">
            <a:avLst/>
          </a:prstGeom>
          <a:solidFill>
            <a:srgbClr val="187956">
              <a:alpha val="34000"/>
            </a:srgbClr>
          </a:solidFill>
          <a:ln>
            <a:noFill/>
          </a:ln>
        </p:spPr>
      </p:sp>
      <p:sp>
        <p:nvSpPr>
          <p:cNvPr id="48" name="ls01_risk_note"/>
          <p:cNvSpPr txBox="1"/>
          <p:nvPr/>
        </p:nvSpPr>
        <p:spPr>
          <a:xfrm>
            <a:off x="800100" y="5981700"/>
            <a:ext cx="10382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8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风险提示：本页观点基于当前宏观、估值、流动性及政策假设形成，不构成收益承诺；市场波动、政策变化、海外利率路径及模型参数变化可能导致配置建议调整。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s02_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CEBE1"/>
          </a:solidFill>
          <a:ln w="9525">
            <a:solidFill>
              <a:srgbClr val="DCEBE1"/>
            </a:solidFill>
          </a:ln>
        </p:spPr>
      </p:sp>
      <p:sp>
        <p:nvSpPr>
          <p:cNvPr id="3" name="ls02_zone_bottom"/>
          <p:cNvSpPr/>
          <p:nvPr/>
        </p:nvSpPr>
        <p:spPr>
          <a:xfrm>
            <a:off x="685800" y="3924300"/>
            <a:ext cx="10839450" cy="1504950"/>
          </a:xfrm>
          <a:prstGeom prst="rect">
            <a:avLst/>
          </a:prstGeom>
          <a:solidFill>
            <a:srgbClr val="BFDCCB">
              <a:alpha val="30000"/>
            </a:srgbClr>
          </a:solidFill>
          <a:ln>
            <a:noFill/>
          </a:ln>
        </p:spPr>
      </p:sp>
      <p:sp>
        <p:nvSpPr>
          <p:cNvPr id="4" name="ls02_zone_left"/>
          <p:cNvSpPr/>
          <p:nvPr/>
        </p:nvSpPr>
        <p:spPr>
          <a:xfrm>
            <a:off x="609600" y="990600"/>
            <a:ext cx="6000750" cy="4762500"/>
          </a:xfrm>
          <a:prstGeom prst="rect">
            <a:avLst/>
          </a:prstGeom>
          <a:solidFill>
            <a:srgbClr val="D2E8DA">
              <a:alpha val="36000"/>
            </a:srgbClr>
          </a:solidFill>
          <a:ln>
            <a:noFill/>
          </a:ln>
        </p:spPr>
      </p:sp>
      <p:sp>
        <p:nvSpPr>
          <p:cNvPr id="5" name="ls02_zone_right"/>
          <p:cNvSpPr/>
          <p:nvPr/>
        </p:nvSpPr>
        <p:spPr>
          <a:xfrm>
            <a:off x="6953250" y="1924050"/>
            <a:ext cx="4476750" cy="3143250"/>
          </a:xfrm>
          <a:prstGeom prst="rect">
            <a:avLst/>
          </a:prstGeom>
          <a:solidFill>
            <a:srgbClr val="FBFFF8">
              <a:alpha val="72000"/>
            </a:srgbClr>
          </a:solidFill>
          <a:ln w="9525">
            <a:solidFill>
              <a:srgbClr val="4E927E">
                <a:alpha val="35000"/>
              </a:srgbClr>
            </a:solidFill>
          </a:ln>
        </p:spPr>
      </p:sp>
      <p:sp>
        <p:nvSpPr>
          <p:cNvPr id="6" name="ls02_grid_h_118"/>
          <p:cNvSpPr/>
          <p:nvPr/>
        </p:nvSpPr>
        <p:spPr>
          <a:xfrm>
            <a:off x="609600" y="1123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7" name="ls02_grid_h_238"/>
          <p:cNvSpPr/>
          <p:nvPr/>
        </p:nvSpPr>
        <p:spPr>
          <a:xfrm>
            <a:off x="609600" y="2266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8" name="ls02_grid_h_358"/>
          <p:cNvSpPr/>
          <p:nvPr/>
        </p:nvSpPr>
        <p:spPr>
          <a:xfrm>
            <a:off x="609600" y="3409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9" name="ls02_grid_h_478"/>
          <p:cNvSpPr/>
          <p:nvPr/>
        </p:nvSpPr>
        <p:spPr>
          <a:xfrm>
            <a:off x="609600" y="4552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10" name="ls02_grid_h_598"/>
          <p:cNvSpPr/>
          <p:nvPr/>
        </p:nvSpPr>
        <p:spPr>
          <a:xfrm>
            <a:off x="609600" y="5695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11" name="ls02_grid_v_1056"/>
          <p:cNvSpPr/>
          <p:nvPr/>
        </p:nvSpPr>
        <p:spPr>
          <a:xfrm>
            <a:off x="10058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2" name="ls02_grid_v_1216"/>
          <p:cNvSpPr/>
          <p:nvPr/>
        </p:nvSpPr>
        <p:spPr>
          <a:xfrm>
            <a:off x="11582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3" name="ls02_grid_v_256"/>
          <p:cNvSpPr/>
          <p:nvPr/>
        </p:nvSpPr>
        <p:spPr>
          <a:xfrm>
            <a:off x="2438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4" name="ls02_grid_v_416"/>
          <p:cNvSpPr/>
          <p:nvPr/>
        </p:nvSpPr>
        <p:spPr>
          <a:xfrm>
            <a:off x="3962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5" name="ls02_grid_v_576"/>
          <p:cNvSpPr/>
          <p:nvPr/>
        </p:nvSpPr>
        <p:spPr>
          <a:xfrm>
            <a:off x="5486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6" name="ls02_grid_v_736"/>
          <p:cNvSpPr/>
          <p:nvPr/>
        </p:nvSpPr>
        <p:spPr>
          <a:xfrm>
            <a:off x="7010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7" name="ls02_grid_v_896"/>
          <p:cNvSpPr/>
          <p:nvPr/>
        </p:nvSpPr>
        <p:spPr>
          <a:xfrm>
            <a:off x="8534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8" name="ls02_grid_v_96"/>
          <p:cNvSpPr/>
          <p:nvPr/>
        </p:nvSpPr>
        <p:spPr>
          <a:xfrm>
            <a:off x="914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9" name="ls02_route_primary"/>
          <p:cNvSpPr/>
          <p:nvPr/>
        </p:nvSpPr>
        <p:spPr>
          <a:xfrm>
            <a:off x="838200" y="2076450"/>
            <a:ext cx="10096500" cy="76200"/>
          </a:xfrm>
          <a:prstGeom prst="rect">
            <a:avLst/>
          </a:prstGeom>
          <a:solidFill>
            <a:srgbClr val="1457A8">
              <a:alpha val="30000"/>
            </a:srgbClr>
          </a:solidFill>
          <a:ln>
            <a:noFill/>
          </a:ln>
        </p:spPr>
      </p:sp>
      <p:sp>
        <p:nvSpPr>
          <p:cNvPr id="20" name="ls02_route_secondary"/>
          <p:cNvSpPr/>
          <p:nvPr/>
        </p:nvSpPr>
        <p:spPr>
          <a:xfrm>
            <a:off x="1809750" y="5143500"/>
            <a:ext cx="8382000" cy="57150"/>
          </a:xfrm>
          <a:prstGeom prst="rect">
            <a:avLst/>
          </a:prstGeom>
          <a:solidFill>
            <a:srgbClr val="187956">
              <a:alpha val="24000"/>
            </a:srgbClr>
          </a:solidFill>
          <a:ln>
            <a:noFill/>
          </a:ln>
        </p:spPr>
      </p:sp>
      <p:sp>
        <p:nvSpPr>
          <p:cNvPr id="21" name="ls02_node_1"/>
          <p:cNvSpPr/>
          <p:nvPr/>
        </p:nvSpPr>
        <p:spPr>
          <a:xfrm>
            <a:off x="6819900" y="2038350"/>
            <a:ext cx="171450" cy="171450"/>
          </a:xfrm>
          <a:prstGeom prst="rect">
            <a:avLst/>
          </a:prstGeom>
          <a:solidFill>
            <a:srgbClr val="1457A8">
              <a:alpha val="76000"/>
            </a:srgbClr>
          </a:solidFill>
          <a:ln>
            <a:noFill/>
          </a:ln>
        </p:spPr>
      </p:sp>
      <p:sp>
        <p:nvSpPr>
          <p:cNvPr id="22" name="ls02_node_2"/>
          <p:cNvSpPr/>
          <p:nvPr/>
        </p:nvSpPr>
        <p:spPr>
          <a:xfrm>
            <a:off x="7124700" y="5105400"/>
            <a:ext cx="171450" cy="171450"/>
          </a:xfrm>
          <a:prstGeom prst="rect">
            <a:avLst/>
          </a:prstGeom>
          <a:solidFill>
            <a:srgbClr val="187956">
              <a:alpha val="76000"/>
            </a:srgbClr>
          </a:solidFill>
          <a:ln>
            <a:noFill/>
          </a:ln>
        </p:spPr>
      </p:sp>
      <p:sp>
        <p:nvSpPr>
          <p:cNvPr id="23" name="ls02_node_3"/>
          <p:cNvSpPr/>
          <p:nvPr/>
        </p:nvSpPr>
        <p:spPr>
          <a:xfrm>
            <a:off x="11049000" y="2038350"/>
            <a:ext cx="171450" cy="171450"/>
          </a:xfrm>
          <a:prstGeom prst="rect">
            <a:avLst/>
          </a:prstGeom>
          <a:solidFill>
            <a:srgbClr val="B86414">
              <a:alpha val="76000"/>
            </a:srgbClr>
          </a:solidFill>
          <a:ln>
            <a:noFill/>
          </a:ln>
        </p:spPr>
      </p:sp>
      <p:sp>
        <p:nvSpPr>
          <p:cNvPr id="24" name="ls02_folio"/>
          <p:cNvSpPr txBox="1"/>
          <p:nvPr/>
        </p:nvSpPr>
        <p:spPr>
          <a:xfrm>
            <a:off x="762000" y="5143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2C5148"/>
                </a:solidFill>
                <a:latin typeface="Aptos"/>
                <a:ea typeface="Aptos"/>
              </a:rPr>
              <a:t>MARKET ATLAS / ZONE-02</a:t>
            </a:r>
          </a:p>
        </p:txBody>
      </p:sp>
      <p:sp>
        <p:nvSpPr>
          <p:cNvPr id="25" name="ls02_legend_1"/>
          <p:cNvSpPr txBox="1"/>
          <p:nvPr/>
        </p:nvSpPr>
        <p:spPr>
          <a:xfrm>
            <a:off x="7239000" y="196215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 b="1">
                <a:solidFill>
                  <a:srgbClr val="2C5148"/>
                </a:solidFill>
                <a:latin typeface="Aptos"/>
                <a:ea typeface="Aptos"/>
              </a:rPr>
              <a:t>SIGNAL FIELD</a:t>
            </a:r>
          </a:p>
        </p:txBody>
      </p:sp>
      <p:sp>
        <p:nvSpPr>
          <p:cNvPr id="26" name="ls02_legend_2"/>
          <p:cNvSpPr txBox="1"/>
          <p:nvPr/>
        </p:nvSpPr>
        <p:spPr>
          <a:xfrm>
            <a:off x="876300" y="38290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 b="1">
                <a:solidFill>
                  <a:srgbClr val="187956"/>
                </a:solidFill>
                <a:latin typeface="Aptos"/>
                <a:ea typeface="Aptos"/>
              </a:rPr>
              <a:t>ALLOCATION ROUTE</a:t>
            </a:r>
          </a:p>
        </p:txBody>
      </p:sp>
      <p:sp>
        <p:nvSpPr>
          <p:cNvPr id="27" name="ls02_kicker"/>
          <p:cNvSpPr txBox="1"/>
          <p:nvPr/>
        </p:nvSpPr>
        <p:spPr>
          <a:xfrm>
            <a:off x="781050" y="8001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100" b="1">
                <a:solidFill>
                  <a:srgbClr val="1457A8"/>
                </a:solidFill>
                <a:latin typeface="Aptos Display"/>
                <a:ea typeface="Aptos Display"/>
              </a:rPr>
              <a:t>Macro Dashboard / visual-language-demo</a:t>
            </a:r>
          </a:p>
        </p:txBody>
      </p:sp>
      <p:sp>
        <p:nvSpPr>
          <p:cNvPr id="28" name="ls02_title"/>
          <p:cNvSpPr txBox="1"/>
          <p:nvPr/>
        </p:nvSpPr>
        <p:spPr>
          <a:xfrm>
            <a:off x="781050" y="1066800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0B2B24"/>
                </a:solidFill>
                <a:latin typeface="Aptos Display"/>
                <a:ea typeface="Aptos Display"/>
              </a:rPr>
              <a:t>三类宏观信号共同决定下半年风险预算路径</a:t>
            </a:r>
          </a:p>
        </p:txBody>
      </p:sp>
      <p:sp>
        <p:nvSpPr>
          <p:cNvPr id="29" name="ls02_subtitle"/>
          <p:cNvSpPr txBox="1"/>
          <p:nvPr/>
        </p:nvSpPr>
        <p:spPr>
          <a:xfrm>
            <a:off x="800100" y="180975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200">
                <a:solidFill>
                  <a:srgbClr val="2C5148"/>
                </a:solidFill>
                <a:latin typeface="Aptos"/>
                <a:ea typeface="Aptos"/>
              </a:rPr>
              <a:t>增长修复不强，流动性宽松仍是资产再定价的核心缓冲。</a:t>
            </a:r>
          </a:p>
        </p:txBody>
      </p:sp>
      <p:sp>
        <p:nvSpPr>
          <p:cNvPr id="30" name="ls02_body_1"/>
          <p:cNvSpPr txBox="1"/>
          <p:nvPr/>
        </p:nvSpPr>
        <p:spPr>
          <a:xfrm>
            <a:off x="838200" y="2266950"/>
            <a:ext cx="4476750" cy="4632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400">
                <a:solidFill>
                  <a:srgbClr val="0B2B24"/>
                </a:solidFill>
                <a:latin typeface="Aptos"/>
                <a:ea typeface="Aptos"/>
              </a:rPr>
              <a:t>权益风险预算向盈利确定性集中，固收维持中性久期，另类配置保持稳定。</a:t>
            </a:r>
          </a:p>
        </p:txBody>
      </p:sp>
      <p:sp>
        <p:nvSpPr>
          <p:cNvPr id="31" name="ls02_body_2"/>
          <p:cNvSpPr txBox="1"/>
          <p:nvPr/>
        </p:nvSpPr>
        <p:spPr>
          <a:xfrm>
            <a:off x="838200" y="2825496"/>
            <a:ext cx="44767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400">
                <a:solidFill>
                  <a:srgbClr val="0B2B24"/>
                </a:solidFill>
                <a:latin typeface="Aptos"/>
                <a:ea typeface="Aptos"/>
              </a:rPr>
              <a:t>风险预算随增长、流动性与政策信号动态再平衡。</a:t>
            </a:r>
          </a:p>
        </p:txBody>
      </p:sp>
      <p:sp>
        <p:nvSpPr>
          <p:cNvPr id="32" name="ls02_metric_1_card"/>
          <p:cNvSpPr/>
          <p:nvPr/>
        </p:nvSpPr>
        <p:spPr>
          <a:xfrm>
            <a:off x="7239000" y="21907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187956">
                <a:alpha val="88000"/>
              </a:srgbClr>
            </a:solidFill>
          </a:ln>
        </p:spPr>
      </p:sp>
      <p:sp>
        <p:nvSpPr>
          <p:cNvPr id="33" name="ls02_metric_1_node"/>
          <p:cNvSpPr/>
          <p:nvPr/>
        </p:nvSpPr>
        <p:spPr>
          <a:xfrm>
            <a:off x="7334250" y="2305050"/>
            <a:ext cx="133350" cy="133350"/>
          </a:xfrm>
          <a:prstGeom prst="ellipse">
            <a:avLst/>
          </a:prstGeom>
          <a:solidFill>
            <a:srgbClr val="187956">
              <a:alpha val="95000"/>
            </a:srgbClr>
          </a:solidFill>
          <a:ln>
            <a:noFill/>
          </a:ln>
        </p:spPr>
      </p:sp>
      <p:sp>
        <p:nvSpPr>
          <p:cNvPr id="34" name="ls02_metric_1_label"/>
          <p:cNvSpPr txBox="1"/>
          <p:nvPr/>
        </p:nvSpPr>
        <p:spPr>
          <a:xfrm>
            <a:off x="7543800" y="22860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增长动能</a:t>
            </a:r>
          </a:p>
        </p:txBody>
      </p:sp>
      <p:sp>
        <p:nvSpPr>
          <p:cNvPr id="35" name="ls02_metric_1_value"/>
          <p:cNvSpPr txBox="1"/>
          <p:nvPr/>
        </p:nvSpPr>
        <p:spPr>
          <a:xfrm>
            <a:off x="7391400" y="25146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中性+</a:t>
            </a:r>
          </a:p>
        </p:txBody>
      </p:sp>
      <p:sp>
        <p:nvSpPr>
          <p:cNvPr id="36" name="ls02_metric_1_delta"/>
          <p:cNvSpPr txBox="1"/>
          <p:nvPr/>
        </p:nvSpPr>
        <p:spPr>
          <a:xfrm>
            <a:off x="7391400" y="28575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187956"/>
                </a:solidFill>
                <a:latin typeface="Arial Narrow"/>
                <a:ea typeface="Arial Narrow"/>
              </a:rPr>
              <a:t>PMI边际修复</a:t>
            </a:r>
          </a:p>
        </p:txBody>
      </p:sp>
      <p:sp>
        <p:nvSpPr>
          <p:cNvPr id="37" name="ls02_metric_2_card"/>
          <p:cNvSpPr/>
          <p:nvPr/>
        </p:nvSpPr>
        <p:spPr>
          <a:xfrm>
            <a:off x="9525000" y="21907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187956">
                <a:alpha val="88000"/>
              </a:srgbClr>
            </a:solidFill>
          </a:ln>
        </p:spPr>
      </p:sp>
      <p:sp>
        <p:nvSpPr>
          <p:cNvPr id="38" name="ls02_metric_2_node"/>
          <p:cNvSpPr/>
          <p:nvPr/>
        </p:nvSpPr>
        <p:spPr>
          <a:xfrm>
            <a:off x="9620250" y="2305050"/>
            <a:ext cx="133350" cy="133350"/>
          </a:xfrm>
          <a:prstGeom prst="ellipse">
            <a:avLst/>
          </a:prstGeom>
          <a:solidFill>
            <a:srgbClr val="187956">
              <a:alpha val="95000"/>
            </a:srgbClr>
          </a:solidFill>
          <a:ln>
            <a:noFill/>
          </a:ln>
        </p:spPr>
      </p:sp>
      <p:sp>
        <p:nvSpPr>
          <p:cNvPr id="39" name="ls02_metric_2_label"/>
          <p:cNvSpPr txBox="1"/>
          <p:nvPr/>
        </p:nvSpPr>
        <p:spPr>
          <a:xfrm>
            <a:off x="9829800" y="22860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流动性</a:t>
            </a:r>
          </a:p>
        </p:txBody>
      </p:sp>
      <p:sp>
        <p:nvSpPr>
          <p:cNvPr id="40" name="ls02_metric_2_value"/>
          <p:cNvSpPr txBox="1"/>
          <p:nvPr/>
        </p:nvSpPr>
        <p:spPr>
          <a:xfrm>
            <a:off x="9677400" y="25146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宽松</a:t>
            </a:r>
          </a:p>
        </p:txBody>
      </p:sp>
      <p:sp>
        <p:nvSpPr>
          <p:cNvPr id="41" name="ls02_metric_2_delta"/>
          <p:cNvSpPr txBox="1"/>
          <p:nvPr/>
        </p:nvSpPr>
        <p:spPr>
          <a:xfrm>
            <a:off x="9677400" y="28575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187956"/>
                </a:solidFill>
                <a:latin typeface="Arial Narrow"/>
                <a:ea typeface="Arial Narrow"/>
              </a:rPr>
              <a:t>资金利率低位</a:t>
            </a:r>
          </a:p>
        </p:txBody>
      </p:sp>
      <p:sp>
        <p:nvSpPr>
          <p:cNvPr id="42" name="ls02_metric_3_card"/>
          <p:cNvSpPr/>
          <p:nvPr/>
        </p:nvSpPr>
        <p:spPr>
          <a:xfrm>
            <a:off x="7239000" y="34480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B86414">
                <a:alpha val="88000"/>
              </a:srgbClr>
            </a:solidFill>
          </a:ln>
        </p:spPr>
      </p:sp>
      <p:sp>
        <p:nvSpPr>
          <p:cNvPr id="43" name="ls02_metric_3_node"/>
          <p:cNvSpPr/>
          <p:nvPr/>
        </p:nvSpPr>
        <p:spPr>
          <a:xfrm>
            <a:off x="7334250" y="3562350"/>
            <a:ext cx="133350" cy="133350"/>
          </a:xfrm>
          <a:prstGeom prst="ellipse">
            <a:avLst/>
          </a:prstGeom>
          <a:solidFill>
            <a:srgbClr val="B86414">
              <a:alpha val="95000"/>
            </a:srgbClr>
          </a:solidFill>
          <a:ln>
            <a:noFill/>
          </a:ln>
        </p:spPr>
      </p:sp>
      <p:sp>
        <p:nvSpPr>
          <p:cNvPr id="44" name="ls02_metric_3_label"/>
          <p:cNvSpPr txBox="1"/>
          <p:nvPr/>
        </p:nvSpPr>
        <p:spPr>
          <a:xfrm>
            <a:off x="7543800" y="35433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估值拥挤</a:t>
            </a:r>
          </a:p>
        </p:txBody>
      </p:sp>
      <p:sp>
        <p:nvSpPr>
          <p:cNvPr id="45" name="ls02_metric_3_value"/>
          <p:cNvSpPr txBox="1"/>
          <p:nvPr/>
        </p:nvSpPr>
        <p:spPr>
          <a:xfrm>
            <a:off x="7391400" y="37719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偏高</a:t>
            </a:r>
          </a:p>
        </p:txBody>
      </p:sp>
      <p:sp>
        <p:nvSpPr>
          <p:cNvPr id="46" name="ls02_metric_3_delta"/>
          <p:cNvSpPr txBox="1"/>
          <p:nvPr/>
        </p:nvSpPr>
        <p:spPr>
          <a:xfrm>
            <a:off x="7391400" y="41148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B86414"/>
                </a:solidFill>
                <a:latin typeface="Arial Narrow"/>
                <a:ea typeface="Arial Narrow"/>
              </a:rPr>
              <a:t>红利拥挤</a:t>
            </a:r>
          </a:p>
        </p:txBody>
      </p:sp>
      <p:sp>
        <p:nvSpPr>
          <p:cNvPr id="47" name="ls02_chart_panel"/>
          <p:cNvSpPr/>
          <p:nvPr/>
        </p:nvSpPr>
        <p:spPr>
          <a:xfrm>
            <a:off x="838200" y="4095750"/>
            <a:ext cx="6096000" cy="1466850"/>
          </a:xfrm>
          <a:prstGeom prst="roundRect">
            <a:avLst/>
          </a:prstGeom>
          <a:solidFill>
            <a:srgbClr val="FBFFF8">
              <a:alpha val="72000"/>
            </a:srgbClr>
          </a:solidFill>
          <a:ln w="9525">
            <a:solidFill>
              <a:srgbClr val="4E927E">
                <a:alpha val="82000"/>
              </a:srgbClr>
            </a:solidFill>
          </a:ln>
        </p:spPr>
      </p:sp>
      <p:sp>
        <p:nvSpPr>
          <p:cNvPr id="48" name="ls02_chart_title"/>
          <p:cNvSpPr txBox="1"/>
          <p:nvPr/>
        </p:nvSpPr>
        <p:spPr>
          <a:xfrm>
            <a:off x="1009650" y="4171950"/>
            <a:ext cx="57531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0B2B24"/>
                </a:solidFill>
                <a:latin typeface="Aptos Display"/>
                <a:ea typeface="Aptos Display"/>
              </a:rPr>
              <a:t>下半年风险预算路径，占总风险预算比例</a:t>
            </a:r>
          </a:p>
        </p:txBody>
      </p:sp>
      <p:sp>
        <p:nvSpPr>
          <p:cNvPr id="49" name="ls02_chart_legend_swatch_1"/>
          <p:cNvSpPr/>
          <p:nvPr/>
        </p:nvSpPr>
        <p:spPr>
          <a:xfrm>
            <a:off x="1009650" y="4400550"/>
            <a:ext cx="95250" cy="95250"/>
          </a:xfrm>
          <a:prstGeom prst="rect">
            <a:avLst/>
          </a:prstGeom>
          <a:solidFill>
            <a:srgbClr val="1457A8">
              <a:alpha val="92000"/>
            </a:srgbClr>
          </a:solidFill>
          <a:ln>
            <a:noFill/>
          </a:ln>
        </p:spPr>
      </p:sp>
      <p:sp>
        <p:nvSpPr>
          <p:cNvPr id="50" name="ls02_chart_legend_label_1"/>
          <p:cNvSpPr txBox="1"/>
          <p:nvPr/>
        </p:nvSpPr>
        <p:spPr>
          <a:xfrm>
            <a:off x="1152525" y="4371975"/>
            <a:ext cx="5143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权益</a:t>
            </a:r>
          </a:p>
        </p:txBody>
      </p:sp>
      <p:sp>
        <p:nvSpPr>
          <p:cNvPr id="51" name="ls02_chart_legend_swatch_2"/>
          <p:cNvSpPr/>
          <p:nvPr/>
        </p:nvSpPr>
        <p:spPr>
          <a:xfrm>
            <a:off x="1695450" y="4400550"/>
            <a:ext cx="95250" cy="95250"/>
          </a:xfrm>
          <a:prstGeom prst="rect">
            <a:avLst/>
          </a:prstGeom>
          <a:solidFill>
            <a:srgbClr val="187956">
              <a:alpha val="92000"/>
            </a:srgbClr>
          </a:solidFill>
          <a:ln>
            <a:noFill/>
          </a:ln>
        </p:spPr>
      </p:sp>
      <p:sp>
        <p:nvSpPr>
          <p:cNvPr id="52" name="ls02_chart_legend_label_2"/>
          <p:cNvSpPr txBox="1"/>
          <p:nvPr/>
        </p:nvSpPr>
        <p:spPr>
          <a:xfrm>
            <a:off x="1838325" y="4371975"/>
            <a:ext cx="5143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固收</a:t>
            </a:r>
          </a:p>
        </p:txBody>
      </p:sp>
      <p:sp>
        <p:nvSpPr>
          <p:cNvPr id="53" name="ls02_chart_legend_swatch_3"/>
          <p:cNvSpPr/>
          <p:nvPr/>
        </p:nvSpPr>
        <p:spPr>
          <a:xfrm>
            <a:off x="2381250" y="4400550"/>
            <a:ext cx="95250" cy="95250"/>
          </a:xfrm>
          <a:prstGeom prst="rect">
            <a:avLst/>
          </a:prstGeom>
          <a:solidFill>
            <a:srgbClr val="B86414">
              <a:alpha val="92000"/>
            </a:srgbClr>
          </a:solidFill>
          <a:ln>
            <a:noFill/>
          </a:ln>
        </p:spPr>
      </p:sp>
      <p:sp>
        <p:nvSpPr>
          <p:cNvPr id="54" name="ls02_chart_legend_label_3"/>
          <p:cNvSpPr txBox="1"/>
          <p:nvPr/>
        </p:nvSpPr>
        <p:spPr>
          <a:xfrm>
            <a:off x="2524125" y="4371975"/>
            <a:ext cx="5143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另类</a:t>
            </a:r>
          </a:p>
        </p:txBody>
      </p:sp>
      <p:sp>
        <p:nvSpPr>
          <p:cNvPr id="55" name="ls02_chart_grid_0"/>
          <p:cNvSpPr/>
          <p:nvPr/>
        </p:nvSpPr>
        <p:spPr>
          <a:xfrm>
            <a:off x="1257300" y="5086350"/>
            <a:ext cx="5429250" cy="9525"/>
          </a:xfrm>
          <a:prstGeom prst="rect">
            <a:avLst/>
          </a:prstGeom>
          <a:solidFill>
            <a:srgbClr val="4E927E">
              <a:alpha val="46000"/>
            </a:srgbClr>
          </a:solidFill>
          <a:ln>
            <a:noFill/>
          </a:ln>
        </p:spPr>
      </p:sp>
      <p:sp>
        <p:nvSpPr>
          <p:cNvPr id="56" name="ls02_chart_axis_0"/>
          <p:cNvSpPr txBox="1"/>
          <p:nvPr/>
        </p:nvSpPr>
        <p:spPr>
          <a:xfrm>
            <a:off x="914400" y="5019675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800">
                <a:solidFill>
                  <a:srgbClr val="2C5148"/>
                </a:solidFill>
                <a:latin typeface="Aptos"/>
                <a:ea typeface="Aptos"/>
              </a:rPr>
              <a:t>0%</a:t>
            </a:r>
          </a:p>
        </p:txBody>
      </p:sp>
      <p:sp>
        <p:nvSpPr>
          <p:cNvPr id="57" name="ls02_chart_grid_50"/>
          <p:cNvSpPr/>
          <p:nvPr/>
        </p:nvSpPr>
        <p:spPr>
          <a:xfrm>
            <a:off x="1257300" y="4905375"/>
            <a:ext cx="5429250" cy="9525"/>
          </a:xfrm>
          <a:prstGeom prst="rect">
            <a:avLst/>
          </a:prstGeom>
          <a:solidFill>
            <a:srgbClr val="4E927E">
              <a:alpha val="46000"/>
            </a:srgbClr>
          </a:solidFill>
          <a:ln>
            <a:noFill/>
          </a:ln>
        </p:spPr>
      </p:sp>
      <p:sp>
        <p:nvSpPr>
          <p:cNvPr id="58" name="ls02_chart_axis_50"/>
          <p:cNvSpPr txBox="1"/>
          <p:nvPr/>
        </p:nvSpPr>
        <p:spPr>
          <a:xfrm>
            <a:off x="914400" y="483870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800">
                <a:solidFill>
                  <a:srgbClr val="2C5148"/>
                </a:solidFill>
                <a:latin typeface="Aptos"/>
                <a:ea typeface="Aptos"/>
              </a:rPr>
              <a:t>50%</a:t>
            </a:r>
          </a:p>
        </p:txBody>
      </p:sp>
      <p:sp>
        <p:nvSpPr>
          <p:cNvPr id="59" name="ls02_chart_grid_100"/>
          <p:cNvSpPr/>
          <p:nvPr/>
        </p:nvSpPr>
        <p:spPr>
          <a:xfrm>
            <a:off x="1257300" y="4724400"/>
            <a:ext cx="5429250" cy="9525"/>
          </a:xfrm>
          <a:prstGeom prst="rect">
            <a:avLst/>
          </a:prstGeom>
          <a:solidFill>
            <a:srgbClr val="4E927E">
              <a:alpha val="46000"/>
            </a:srgbClr>
          </a:solidFill>
          <a:ln>
            <a:noFill/>
          </a:ln>
        </p:spPr>
      </p:sp>
      <p:sp>
        <p:nvSpPr>
          <p:cNvPr id="60" name="ls02_chart_axis_100"/>
          <p:cNvSpPr txBox="1"/>
          <p:nvPr/>
        </p:nvSpPr>
        <p:spPr>
          <a:xfrm>
            <a:off x="914400" y="4657725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800">
                <a:solidFill>
                  <a:srgbClr val="2C5148"/>
                </a:solidFill>
                <a:latin typeface="Aptos"/>
                <a:ea typeface="Aptos"/>
              </a:rPr>
              <a:t>100%</a:t>
            </a:r>
          </a:p>
        </p:txBody>
      </p:sp>
      <p:sp>
        <p:nvSpPr>
          <p:cNvPr id="61" name="ls02_chart_bar_1_1"/>
          <p:cNvSpPr/>
          <p:nvPr/>
        </p:nvSpPr>
        <p:spPr>
          <a:xfrm>
            <a:off x="1352550" y="4970526"/>
            <a:ext cx="971550" cy="115824"/>
          </a:xfrm>
          <a:prstGeom prst="roundRect">
            <a:avLst/>
          </a:prstGeom>
          <a:solidFill>
            <a:srgbClr val="1457A8">
              <a:alpha val="88000"/>
            </a:srgbClr>
          </a:solidFill>
          <a:ln>
            <a:noFill/>
          </a:ln>
        </p:spPr>
      </p:sp>
      <p:sp>
        <p:nvSpPr>
          <p:cNvPr id="62" name="ls02_chart_bar_1_2"/>
          <p:cNvSpPr/>
          <p:nvPr/>
        </p:nvSpPr>
        <p:spPr>
          <a:xfrm>
            <a:off x="1352550" y="4804029"/>
            <a:ext cx="971550" cy="166497"/>
          </a:xfrm>
          <a:prstGeom prst="roundRect">
            <a:avLst/>
          </a:prstGeom>
          <a:solidFill>
            <a:srgbClr val="187956">
              <a:alpha val="88000"/>
            </a:srgbClr>
          </a:solidFill>
          <a:ln>
            <a:noFill/>
          </a:ln>
        </p:spPr>
      </p:sp>
      <p:sp>
        <p:nvSpPr>
          <p:cNvPr id="63" name="ls02_chart_bar_1_3"/>
          <p:cNvSpPr/>
          <p:nvPr/>
        </p:nvSpPr>
        <p:spPr>
          <a:xfrm>
            <a:off x="1352550" y="4724400"/>
            <a:ext cx="971550" cy="79629"/>
          </a:xfrm>
          <a:prstGeom prst="roundRect">
            <a:avLst/>
          </a:prstGeom>
          <a:solidFill>
            <a:srgbClr val="B86414">
              <a:alpha val="88000"/>
            </a:srgbClr>
          </a:solidFill>
          <a:ln>
            <a:noFill/>
          </a:ln>
        </p:spPr>
      </p:sp>
      <p:sp>
        <p:nvSpPr>
          <p:cNvPr id="64" name="ls02_chart_cat_1"/>
          <p:cNvSpPr txBox="1"/>
          <p:nvPr/>
        </p:nvSpPr>
        <p:spPr>
          <a:xfrm>
            <a:off x="1314450" y="52006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6月</a:t>
            </a:r>
          </a:p>
        </p:txBody>
      </p:sp>
      <p:sp>
        <p:nvSpPr>
          <p:cNvPr id="65" name="ls02_chart_bar_2_1"/>
          <p:cNvSpPr/>
          <p:nvPr/>
        </p:nvSpPr>
        <p:spPr>
          <a:xfrm>
            <a:off x="2419350" y="4959668"/>
            <a:ext cx="971550" cy="126682"/>
          </a:xfrm>
          <a:prstGeom prst="roundRect">
            <a:avLst/>
          </a:prstGeom>
          <a:solidFill>
            <a:srgbClr val="1457A8">
              <a:alpha val="88000"/>
            </a:srgbClr>
          </a:solidFill>
          <a:ln>
            <a:noFill/>
          </a:ln>
        </p:spPr>
      </p:sp>
      <p:sp>
        <p:nvSpPr>
          <p:cNvPr id="66" name="ls02_chart_bar_2_2"/>
          <p:cNvSpPr/>
          <p:nvPr/>
        </p:nvSpPr>
        <p:spPr>
          <a:xfrm>
            <a:off x="2419350" y="4800410"/>
            <a:ext cx="971550" cy="159258"/>
          </a:xfrm>
          <a:prstGeom prst="roundRect">
            <a:avLst/>
          </a:prstGeom>
          <a:solidFill>
            <a:srgbClr val="187956">
              <a:alpha val="88000"/>
            </a:srgbClr>
          </a:solidFill>
          <a:ln>
            <a:noFill/>
          </a:ln>
        </p:spPr>
      </p:sp>
      <p:sp>
        <p:nvSpPr>
          <p:cNvPr id="67" name="ls02_chart_bar_2_3"/>
          <p:cNvSpPr/>
          <p:nvPr/>
        </p:nvSpPr>
        <p:spPr>
          <a:xfrm>
            <a:off x="2419350" y="4724400"/>
            <a:ext cx="971550" cy="76010"/>
          </a:xfrm>
          <a:prstGeom prst="roundRect">
            <a:avLst/>
          </a:prstGeom>
          <a:solidFill>
            <a:srgbClr val="B86414">
              <a:alpha val="88000"/>
            </a:srgbClr>
          </a:solidFill>
          <a:ln>
            <a:noFill/>
          </a:ln>
        </p:spPr>
      </p:sp>
      <p:sp>
        <p:nvSpPr>
          <p:cNvPr id="68" name="ls02_chart_cat_2"/>
          <p:cNvSpPr txBox="1"/>
          <p:nvPr/>
        </p:nvSpPr>
        <p:spPr>
          <a:xfrm>
            <a:off x="2381250" y="52006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7月</a:t>
            </a:r>
          </a:p>
        </p:txBody>
      </p:sp>
      <p:sp>
        <p:nvSpPr>
          <p:cNvPr id="69" name="ls02_chart_bar_3_1"/>
          <p:cNvSpPr/>
          <p:nvPr/>
        </p:nvSpPr>
        <p:spPr>
          <a:xfrm>
            <a:off x="3486150" y="4948809"/>
            <a:ext cx="971550" cy="137541"/>
          </a:xfrm>
          <a:prstGeom prst="roundRect">
            <a:avLst/>
          </a:prstGeom>
          <a:solidFill>
            <a:srgbClr val="1457A8">
              <a:alpha val="88000"/>
            </a:srgbClr>
          </a:solidFill>
          <a:ln>
            <a:noFill/>
          </a:ln>
        </p:spPr>
      </p:sp>
      <p:sp>
        <p:nvSpPr>
          <p:cNvPr id="70" name="ls02_chart_bar_3_2"/>
          <p:cNvSpPr/>
          <p:nvPr/>
        </p:nvSpPr>
        <p:spPr>
          <a:xfrm>
            <a:off x="3486150" y="4796790"/>
            <a:ext cx="971550" cy="152019"/>
          </a:xfrm>
          <a:prstGeom prst="roundRect">
            <a:avLst/>
          </a:prstGeom>
          <a:solidFill>
            <a:srgbClr val="187956">
              <a:alpha val="88000"/>
            </a:srgbClr>
          </a:solidFill>
          <a:ln>
            <a:noFill/>
          </a:ln>
        </p:spPr>
      </p:sp>
      <p:sp>
        <p:nvSpPr>
          <p:cNvPr id="71" name="ls02_chart_bar_3_3"/>
          <p:cNvSpPr/>
          <p:nvPr/>
        </p:nvSpPr>
        <p:spPr>
          <a:xfrm>
            <a:off x="3486150" y="4724400"/>
            <a:ext cx="971550" cy="72390"/>
          </a:xfrm>
          <a:prstGeom prst="roundRect">
            <a:avLst/>
          </a:prstGeom>
          <a:solidFill>
            <a:srgbClr val="B86414">
              <a:alpha val="88000"/>
            </a:srgbClr>
          </a:solidFill>
          <a:ln>
            <a:noFill/>
          </a:ln>
        </p:spPr>
      </p:sp>
      <p:sp>
        <p:nvSpPr>
          <p:cNvPr id="72" name="ls02_chart_cat_3"/>
          <p:cNvSpPr txBox="1"/>
          <p:nvPr/>
        </p:nvSpPr>
        <p:spPr>
          <a:xfrm>
            <a:off x="3448050" y="52006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8月</a:t>
            </a:r>
          </a:p>
        </p:txBody>
      </p:sp>
      <p:sp>
        <p:nvSpPr>
          <p:cNvPr id="73" name="ls02_chart_bar_4_1"/>
          <p:cNvSpPr/>
          <p:nvPr/>
        </p:nvSpPr>
        <p:spPr>
          <a:xfrm>
            <a:off x="4552950" y="4937950"/>
            <a:ext cx="971550" cy="148400"/>
          </a:xfrm>
          <a:prstGeom prst="roundRect">
            <a:avLst/>
          </a:prstGeom>
          <a:solidFill>
            <a:srgbClr val="1457A8">
              <a:alpha val="88000"/>
            </a:srgbClr>
          </a:solidFill>
          <a:ln>
            <a:noFill/>
          </a:ln>
        </p:spPr>
      </p:sp>
      <p:sp>
        <p:nvSpPr>
          <p:cNvPr id="74" name="ls02_chart_bar_4_2"/>
          <p:cNvSpPr/>
          <p:nvPr/>
        </p:nvSpPr>
        <p:spPr>
          <a:xfrm>
            <a:off x="4552950" y="4789551"/>
            <a:ext cx="971550" cy="148400"/>
          </a:xfrm>
          <a:prstGeom prst="roundRect">
            <a:avLst/>
          </a:prstGeom>
          <a:solidFill>
            <a:srgbClr val="187956">
              <a:alpha val="88000"/>
            </a:srgbClr>
          </a:solidFill>
          <a:ln>
            <a:noFill/>
          </a:ln>
        </p:spPr>
      </p:sp>
      <p:sp>
        <p:nvSpPr>
          <p:cNvPr id="75" name="ls02_chart_bar_4_3"/>
          <p:cNvSpPr/>
          <p:nvPr/>
        </p:nvSpPr>
        <p:spPr>
          <a:xfrm>
            <a:off x="4552950" y="4724400"/>
            <a:ext cx="971550" cy="65151"/>
          </a:xfrm>
          <a:prstGeom prst="roundRect">
            <a:avLst/>
          </a:prstGeom>
          <a:solidFill>
            <a:srgbClr val="B86414">
              <a:alpha val="88000"/>
            </a:srgbClr>
          </a:solidFill>
          <a:ln>
            <a:noFill/>
          </a:ln>
        </p:spPr>
      </p:sp>
      <p:sp>
        <p:nvSpPr>
          <p:cNvPr id="76" name="ls02_chart_cat_4"/>
          <p:cNvSpPr txBox="1"/>
          <p:nvPr/>
        </p:nvSpPr>
        <p:spPr>
          <a:xfrm>
            <a:off x="4514850" y="52006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9月</a:t>
            </a:r>
          </a:p>
        </p:txBody>
      </p:sp>
      <p:sp>
        <p:nvSpPr>
          <p:cNvPr id="77" name="ls02_chart_bar_5_1"/>
          <p:cNvSpPr/>
          <p:nvPr/>
        </p:nvSpPr>
        <p:spPr>
          <a:xfrm>
            <a:off x="5619750" y="4927092"/>
            <a:ext cx="971550" cy="159258"/>
          </a:xfrm>
          <a:prstGeom prst="roundRect">
            <a:avLst/>
          </a:prstGeom>
          <a:solidFill>
            <a:srgbClr val="1457A8">
              <a:alpha val="88000"/>
            </a:srgbClr>
          </a:solidFill>
          <a:ln>
            <a:noFill/>
          </a:ln>
        </p:spPr>
      </p:sp>
      <p:sp>
        <p:nvSpPr>
          <p:cNvPr id="78" name="ls02_chart_label_5_1"/>
          <p:cNvSpPr txBox="1"/>
          <p:nvPr/>
        </p:nvSpPr>
        <p:spPr>
          <a:xfrm>
            <a:off x="5619750" y="4949571"/>
            <a:ext cx="97155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800">
                <a:solidFill>
                  <a:srgbClr val="0B2B24"/>
                </a:solidFill>
                <a:latin typeface="Aptos"/>
                <a:ea typeface="Aptos"/>
              </a:rPr>
              <a:t>44</a:t>
            </a:r>
          </a:p>
        </p:txBody>
      </p:sp>
      <p:sp>
        <p:nvSpPr>
          <p:cNvPr id="79" name="ls02_chart_bar_5_2"/>
          <p:cNvSpPr/>
          <p:nvPr/>
        </p:nvSpPr>
        <p:spPr>
          <a:xfrm>
            <a:off x="5619750" y="4782312"/>
            <a:ext cx="971550" cy="144780"/>
          </a:xfrm>
          <a:prstGeom prst="roundRect">
            <a:avLst/>
          </a:prstGeom>
          <a:solidFill>
            <a:srgbClr val="187956">
              <a:alpha val="88000"/>
            </a:srgbClr>
          </a:solidFill>
          <a:ln>
            <a:noFill/>
          </a:ln>
        </p:spPr>
      </p:sp>
      <p:sp>
        <p:nvSpPr>
          <p:cNvPr id="80" name="ls02_chart_label_5_2"/>
          <p:cNvSpPr txBox="1"/>
          <p:nvPr/>
        </p:nvSpPr>
        <p:spPr>
          <a:xfrm>
            <a:off x="5619750" y="4797552"/>
            <a:ext cx="97155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800">
                <a:solidFill>
                  <a:srgbClr val="0B2B24"/>
                </a:solidFill>
                <a:latin typeface="Aptos"/>
                <a:ea typeface="Aptos"/>
              </a:rPr>
              <a:t>40</a:t>
            </a:r>
          </a:p>
        </p:txBody>
      </p:sp>
      <p:sp>
        <p:nvSpPr>
          <p:cNvPr id="81" name="ls02_chart_bar_5_3"/>
          <p:cNvSpPr/>
          <p:nvPr/>
        </p:nvSpPr>
        <p:spPr>
          <a:xfrm>
            <a:off x="5619750" y="4724400"/>
            <a:ext cx="971550" cy="57912"/>
          </a:xfrm>
          <a:prstGeom prst="roundRect">
            <a:avLst/>
          </a:prstGeom>
          <a:solidFill>
            <a:srgbClr val="B86414">
              <a:alpha val="88000"/>
            </a:srgbClr>
          </a:solidFill>
          <a:ln>
            <a:noFill/>
          </a:ln>
        </p:spPr>
      </p:sp>
      <p:sp>
        <p:nvSpPr>
          <p:cNvPr id="82" name="ls02_chart_cat_5"/>
          <p:cNvSpPr txBox="1"/>
          <p:nvPr/>
        </p:nvSpPr>
        <p:spPr>
          <a:xfrm>
            <a:off x="5581650" y="5200650"/>
            <a:ext cx="10477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10月</a:t>
            </a:r>
          </a:p>
        </p:txBody>
      </p:sp>
      <p:sp>
        <p:nvSpPr>
          <p:cNvPr id="83" name="ls02_chart_source"/>
          <p:cNvSpPr txBox="1"/>
          <p:nvPr/>
        </p:nvSpPr>
        <p:spPr>
          <a:xfrm>
            <a:off x="1009650" y="5391150"/>
            <a:ext cx="57531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700">
                <a:solidFill>
                  <a:srgbClr val="2C5148"/>
                </a:solidFill>
                <a:latin typeface="Aptos"/>
                <a:ea typeface="Aptos"/>
              </a:rPr>
              <a:t>来源：投研系统、Wind、Bloomberg 与内部风险模型模拟测算；数据截止202</a:t>
            </a:r>
          </a:p>
        </p:txBody>
      </p:sp>
      <p:sp>
        <p:nvSpPr>
          <p:cNvPr id="84" name="ls02_metric_4_card"/>
          <p:cNvSpPr/>
          <p:nvPr/>
        </p:nvSpPr>
        <p:spPr>
          <a:xfrm>
            <a:off x="9525000" y="34480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1457A8">
                <a:alpha val="88000"/>
              </a:srgbClr>
            </a:solidFill>
          </a:ln>
        </p:spPr>
      </p:sp>
      <p:sp>
        <p:nvSpPr>
          <p:cNvPr id="85" name="ls02_metric_4_node"/>
          <p:cNvSpPr/>
          <p:nvPr/>
        </p:nvSpPr>
        <p:spPr>
          <a:xfrm>
            <a:off x="9620250" y="3562350"/>
            <a:ext cx="133350" cy="133350"/>
          </a:xfrm>
          <a:prstGeom prst="ellipse">
            <a:avLst/>
          </a:prstGeom>
          <a:solidFill>
            <a:srgbClr val="1457A8">
              <a:alpha val="95000"/>
            </a:srgbClr>
          </a:solidFill>
          <a:ln>
            <a:noFill/>
          </a:ln>
        </p:spPr>
      </p:sp>
      <p:sp>
        <p:nvSpPr>
          <p:cNvPr id="86" name="ls02_metric_4_label"/>
          <p:cNvSpPr txBox="1"/>
          <p:nvPr/>
        </p:nvSpPr>
        <p:spPr>
          <a:xfrm>
            <a:off x="9829800" y="35433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政策扰动</a:t>
            </a:r>
          </a:p>
        </p:txBody>
      </p:sp>
      <p:sp>
        <p:nvSpPr>
          <p:cNvPr id="87" name="ls02_metric_4_value"/>
          <p:cNvSpPr txBox="1"/>
          <p:nvPr/>
        </p:nvSpPr>
        <p:spPr>
          <a:xfrm>
            <a:off x="9677400" y="37719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可控</a:t>
            </a:r>
          </a:p>
        </p:txBody>
      </p:sp>
      <p:sp>
        <p:nvSpPr>
          <p:cNvPr id="88" name="ls02_metric_4_delta"/>
          <p:cNvSpPr txBox="1"/>
          <p:nvPr/>
        </p:nvSpPr>
        <p:spPr>
          <a:xfrm>
            <a:off x="9677400" y="41148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1457A8"/>
                </a:solidFill>
                <a:latin typeface="Arial Narrow"/>
                <a:ea typeface="Arial Narrow"/>
              </a:rPr>
              <a:t>窗口期观察</a:t>
            </a:r>
          </a:p>
        </p:txBody>
      </p:sp>
      <p:sp>
        <p:nvSpPr>
          <p:cNvPr id="89" name="ls02_source_band"/>
          <p:cNvSpPr/>
          <p:nvPr/>
        </p:nvSpPr>
        <p:spPr>
          <a:xfrm>
            <a:off x="723900" y="5829300"/>
            <a:ext cx="10744200" cy="57150"/>
          </a:xfrm>
          <a:prstGeom prst="rect">
            <a:avLst/>
          </a:prstGeom>
          <a:solidFill>
            <a:srgbClr val="187956">
              <a:alpha val="34000"/>
            </a:srgbClr>
          </a:solidFill>
          <a:ln>
            <a:noFill/>
          </a:ln>
        </p:spPr>
      </p:sp>
      <p:sp>
        <p:nvSpPr>
          <p:cNvPr id="90" name="ls02_risk_note"/>
          <p:cNvSpPr txBox="1"/>
          <p:nvPr/>
        </p:nvSpPr>
        <p:spPr>
          <a:xfrm>
            <a:off x="800100" y="5981700"/>
            <a:ext cx="10382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8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风险提示：本页观点基于当前宏观、估值、流动性及政策假设形成，不构成收益承诺；市场波动、政策变化、海外利率路径及模型参数变化可能导致配置建议调整。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s03_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CEBE1"/>
          </a:solidFill>
          <a:ln w="9525">
            <a:solidFill>
              <a:srgbClr val="DCEBE1"/>
            </a:solidFill>
          </a:ln>
        </p:spPr>
      </p:sp>
      <p:sp>
        <p:nvSpPr>
          <p:cNvPr id="3" name="ls03_zone_bottom"/>
          <p:cNvSpPr/>
          <p:nvPr/>
        </p:nvSpPr>
        <p:spPr>
          <a:xfrm>
            <a:off x="685800" y="3924300"/>
            <a:ext cx="10839450" cy="1504950"/>
          </a:xfrm>
          <a:prstGeom prst="rect">
            <a:avLst/>
          </a:prstGeom>
          <a:solidFill>
            <a:srgbClr val="BFDCCB">
              <a:alpha val="30000"/>
            </a:srgbClr>
          </a:solidFill>
          <a:ln>
            <a:noFill/>
          </a:ln>
        </p:spPr>
      </p:sp>
      <p:sp>
        <p:nvSpPr>
          <p:cNvPr id="4" name="ls03_zone_left"/>
          <p:cNvSpPr/>
          <p:nvPr/>
        </p:nvSpPr>
        <p:spPr>
          <a:xfrm>
            <a:off x="609600" y="990600"/>
            <a:ext cx="6000750" cy="4762500"/>
          </a:xfrm>
          <a:prstGeom prst="rect">
            <a:avLst/>
          </a:prstGeom>
          <a:solidFill>
            <a:srgbClr val="D2E8DA">
              <a:alpha val="36000"/>
            </a:srgbClr>
          </a:solidFill>
          <a:ln>
            <a:noFill/>
          </a:ln>
        </p:spPr>
      </p:sp>
      <p:sp>
        <p:nvSpPr>
          <p:cNvPr id="5" name="ls03_zone_right"/>
          <p:cNvSpPr/>
          <p:nvPr/>
        </p:nvSpPr>
        <p:spPr>
          <a:xfrm>
            <a:off x="6953250" y="1924050"/>
            <a:ext cx="4476750" cy="3143250"/>
          </a:xfrm>
          <a:prstGeom prst="rect">
            <a:avLst/>
          </a:prstGeom>
          <a:solidFill>
            <a:srgbClr val="FBFFF8">
              <a:alpha val="72000"/>
            </a:srgbClr>
          </a:solidFill>
          <a:ln w="9525">
            <a:solidFill>
              <a:srgbClr val="4E927E">
                <a:alpha val="35000"/>
              </a:srgbClr>
            </a:solidFill>
          </a:ln>
        </p:spPr>
      </p:sp>
      <p:sp>
        <p:nvSpPr>
          <p:cNvPr id="6" name="ls03_grid_h_118"/>
          <p:cNvSpPr/>
          <p:nvPr/>
        </p:nvSpPr>
        <p:spPr>
          <a:xfrm>
            <a:off x="609600" y="1123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7" name="ls03_grid_h_238"/>
          <p:cNvSpPr/>
          <p:nvPr/>
        </p:nvSpPr>
        <p:spPr>
          <a:xfrm>
            <a:off x="609600" y="2266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8" name="ls03_grid_h_358"/>
          <p:cNvSpPr/>
          <p:nvPr/>
        </p:nvSpPr>
        <p:spPr>
          <a:xfrm>
            <a:off x="609600" y="3409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9" name="ls03_grid_h_478"/>
          <p:cNvSpPr/>
          <p:nvPr/>
        </p:nvSpPr>
        <p:spPr>
          <a:xfrm>
            <a:off x="609600" y="4552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10" name="ls03_grid_h_598"/>
          <p:cNvSpPr/>
          <p:nvPr/>
        </p:nvSpPr>
        <p:spPr>
          <a:xfrm>
            <a:off x="609600" y="5695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11" name="ls03_grid_v_1056"/>
          <p:cNvSpPr/>
          <p:nvPr/>
        </p:nvSpPr>
        <p:spPr>
          <a:xfrm>
            <a:off x="10058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2" name="ls03_grid_v_1216"/>
          <p:cNvSpPr/>
          <p:nvPr/>
        </p:nvSpPr>
        <p:spPr>
          <a:xfrm>
            <a:off x="11582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3" name="ls03_grid_v_256"/>
          <p:cNvSpPr/>
          <p:nvPr/>
        </p:nvSpPr>
        <p:spPr>
          <a:xfrm>
            <a:off x="2438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4" name="ls03_grid_v_416"/>
          <p:cNvSpPr/>
          <p:nvPr/>
        </p:nvSpPr>
        <p:spPr>
          <a:xfrm>
            <a:off x="3962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5" name="ls03_grid_v_576"/>
          <p:cNvSpPr/>
          <p:nvPr/>
        </p:nvSpPr>
        <p:spPr>
          <a:xfrm>
            <a:off x="5486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6" name="ls03_grid_v_736"/>
          <p:cNvSpPr/>
          <p:nvPr/>
        </p:nvSpPr>
        <p:spPr>
          <a:xfrm>
            <a:off x="7010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7" name="ls03_grid_v_896"/>
          <p:cNvSpPr/>
          <p:nvPr/>
        </p:nvSpPr>
        <p:spPr>
          <a:xfrm>
            <a:off x="8534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8" name="ls03_grid_v_96"/>
          <p:cNvSpPr/>
          <p:nvPr/>
        </p:nvSpPr>
        <p:spPr>
          <a:xfrm>
            <a:off x="914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9" name="ls03_route_primary"/>
          <p:cNvSpPr/>
          <p:nvPr/>
        </p:nvSpPr>
        <p:spPr>
          <a:xfrm>
            <a:off x="838200" y="2076450"/>
            <a:ext cx="10096500" cy="76200"/>
          </a:xfrm>
          <a:prstGeom prst="rect">
            <a:avLst/>
          </a:prstGeom>
          <a:solidFill>
            <a:srgbClr val="1457A8">
              <a:alpha val="30000"/>
            </a:srgbClr>
          </a:solidFill>
          <a:ln>
            <a:noFill/>
          </a:ln>
        </p:spPr>
      </p:sp>
      <p:sp>
        <p:nvSpPr>
          <p:cNvPr id="20" name="ls03_route_secondary"/>
          <p:cNvSpPr/>
          <p:nvPr/>
        </p:nvSpPr>
        <p:spPr>
          <a:xfrm>
            <a:off x="1809750" y="5143500"/>
            <a:ext cx="8382000" cy="57150"/>
          </a:xfrm>
          <a:prstGeom prst="rect">
            <a:avLst/>
          </a:prstGeom>
          <a:solidFill>
            <a:srgbClr val="187956">
              <a:alpha val="24000"/>
            </a:srgbClr>
          </a:solidFill>
          <a:ln>
            <a:noFill/>
          </a:ln>
        </p:spPr>
      </p:sp>
      <p:sp>
        <p:nvSpPr>
          <p:cNvPr id="21" name="ls03_node_1"/>
          <p:cNvSpPr/>
          <p:nvPr/>
        </p:nvSpPr>
        <p:spPr>
          <a:xfrm>
            <a:off x="6819900" y="2038350"/>
            <a:ext cx="171450" cy="171450"/>
          </a:xfrm>
          <a:prstGeom prst="rect">
            <a:avLst/>
          </a:prstGeom>
          <a:solidFill>
            <a:srgbClr val="1457A8">
              <a:alpha val="76000"/>
            </a:srgbClr>
          </a:solidFill>
          <a:ln>
            <a:noFill/>
          </a:ln>
        </p:spPr>
      </p:sp>
      <p:sp>
        <p:nvSpPr>
          <p:cNvPr id="22" name="ls03_node_2"/>
          <p:cNvSpPr/>
          <p:nvPr/>
        </p:nvSpPr>
        <p:spPr>
          <a:xfrm>
            <a:off x="7124700" y="5105400"/>
            <a:ext cx="171450" cy="171450"/>
          </a:xfrm>
          <a:prstGeom prst="rect">
            <a:avLst/>
          </a:prstGeom>
          <a:solidFill>
            <a:srgbClr val="187956">
              <a:alpha val="76000"/>
            </a:srgbClr>
          </a:solidFill>
          <a:ln>
            <a:noFill/>
          </a:ln>
        </p:spPr>
      </p:sp>
      <p:sp>
        <p:nvSpPr>
          <p:cNvPr id="23" name="ls03_node_3"/>
          <p:cNvSpPr/>
          <p:nvPr/>
        </p:nvSpPr>
        <p:spPr>
          <a:xfrm>
            <a:off x="11049000" y="2038350"/>
            <a:ext cx="171450" cy="171450"/>
          </a:xfrm>
          <a:prstGeom prst="rect">
            <a:avLst/>
          </a:prstGeom>
          <a:solidFill>
            <a:srgbClr val="B86414">
              <a:alpha val="76000"/>
            </a:srgbClr>
          </a:solidFill>
          <a:ln>
            <a:noFill/>
          </a:ln>
        </p:spPr>
      </p:sp>
      <p:sp>
        <p:nvSpPr>
          <p:cNvPr id="24" name="ls03_folio"/>
          <p:cNvSpPr txBox="1"/>
          <p:nvPr/>
        </p:nvSpPr>
        <p:spPr>
          <a:xfrm>
            <a:off x="762000" y="5143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2C5148"/>
                </a:solidFill>
                <a:latin typeface="Aptos"/>
                <a:ea typeface="Aptos"/>
              </a:rPr>
              <a:t>MARKET ATLAS / ZONE-03</a:t>
            </a:r>
          </a:p>
        </p:txBody>
      </p:sp>
      <p:sp>
        <p:nvSpPr>
          <p:cNvPr id="25" name="ls03_legend_1"/>
          <p:cNvSpPr txBox="1"/>
          <p:nvPr/>
        </p:nvSpPr>
        <p:spPr>
          <a:xfrm>
            <a:off x="7239000" y="196215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 b="1">
                <a:solidFill>
                  <a:srgbClr val="2C5148"/>
                </a:solidFill>
                <a:latin typeface="Aptos"/>
                <a:ea typeface="Aptos"/>
              </a:rPr>
              <a:t>SIGNAL FIELD</a:t>
            </a:r>
          </a:p>
        </p:txBody>
      </p:sp>
      <p:sp>
        <p:nvSpPr>
          <p:cNvPr id="26" name="ls03_legend_2"/>
          <p:cNvSpPr txBox="1"/>
          <p:nvPr/>
        </p:nvSpPr>
        <p:spPr>
          <a:xfrm>
            <a:off x="876300" y="38290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 b="1">
                <a:solidFill>
                  <a:srgbClr val="187956"/>
                </a:solidFill>
                <a:latin typeface="Aptos"/>
                <a:ea typeface="Aptos"/>
              </a:rPr>
              <a:t>ALLOCATION ROUTE</a:t>
            </a:r>
          </a:p>
        </p:txBody>
      </p:sp>
      <p:sp>
        <p:nvSpPr>
          <p:cNvPr id="27" name="ls03_kicker"/>
          <p:cNvSpPr txBox="1"/>
          <p:nvPr/>
        </p:nvSpPr>
        <p:spPr>
          <a:xfrm>
            <a:off x="781050" y="8001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100" b="1">
                <a:solidFill>
                  <a:srgbClr val="1457A8"/>
                </a:solidFill>
                <a:latin typeface="Aptos Display"/>
                <a:ea typeface="Aptos Display"/>
              </a:rPr>
              <a:t>Asset Allocation / visual-language-demo</a:t>
            </a:r>
          </a:p>
        </p:txBody>
      </p:sp>
      <p:sp>
        <p:nvSpPr>
          <p:cNvPr id="28" name="ls03_title"/>
          <p:cNvSpPr txBox="1"/>
          <p:nvPr/>
        </p:nvSpPr>
        <p:spPr>
          <a:xfrm>
            <a:off x="781050" y="1066800"/>
            <a:ext cx="5715000" cy="801338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2300" b="1">
                <a:solidFill>
                  <a:srgbClr val="0B2B24"/>
                </a:solidFill>
                <a:latin typeface="Aptos Display"/>
                <a:ea typeface="Aptos Display"/>
              </a:rPr>
              <a:t>资产配置建议：提高权益弹性，但保留固收稳定器</a:t>
            </a:r>
          </a:p>
        </p:txBody>
      </p:sp>
      <p:sp>
        <p:nvSpPr>
          <p:cNvPr id="29" name="ls03_subtitle"/>
          <p:cNvSpPr txBox="1"/>
          <p:nvPr/>
        </p:nvSpPr>
        <p:spPr>
          <a:xfrm>
            <a:off x="800100" y="1944338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200">
                <a:solidFill>
                  <a:srgbClr val="2C5148"/>
                </a:solidFill>
                <a:latin typeface="Aptos"/>
                <a:ea typeface="Aptos"/>
              </a:rPr>
              <a:t>从仓位表述转向风险贡献表述，避免单一资产波动掩盖组合真实风险。</a:t>
            </a:r>
          </a:p>
        </p:txBody>
      </p:sp>
      <p:sp>
        <p:nvSpPr>
          <p:cNvPr id="30" name="ls03_body_1"/>
          <p:cNvSpPr txBox="1"/>
          <p:nvPr/>
        </p:nvSpPr>
        <p:spPr>
          <a:xfrm>
            <a:off x="838200" y="2266950"/>
            <a:ext cx="44767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400">
                <a:solidFill>
                  <a:srgbClr val="0B2B24"/>
                </a:solidFill>
                <a:latin typeface="Aptos"/>
                <a:ea typeface="Aptos"/>
              </a:rPr>
              <a:t>权益主要来自成长与出海，红利转为稳定配置。</a:t>
            </a:r>
          </a:p>
        </p:txBody>
      </p:sp>
      <p:sp>
        <p:nvSpPr>
          <p:cNvPr id="31" name="ls03_body_2"/>
          <p:cNvSpPr txBox="1"/>
          <p:nvPr/>
        </p:nvSpPr>
        <p:spPr>
          <a:xfrm>
            <a:off x="838200" y="2724150"/>
            <a:ext cx="4476750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400">
                <a:solidFill>
                  <a:srgbClr val="0B2B24"/>
                </a:solidFill>
                <a:latin typeface="Aptos"/>
                <a:ea typeface="Aptos"/>
              </a:rPr>
              <a:t>固收不追久期；商品与黄金用于尾部对冲。</a:t>
            </a:r>
          </a:p>
        </p:txBody>
      </p:sp>
      <p:sp>
        <p:nvSpPr>
          <p:cNvPr id="32" name="ls03_metric_1_card"/>
          <p:cNvSpPr/>
          <p:nvPr/>
        </p:nvSpPr>
        <p:spPr>
          <a:xfrm>
            <a:off x="7239000" y="21907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1457A8">
                <a:alpha val="88000"/>
              </a:srgbClr>
            </a:solidFill>
          </a:ln>
        </p:spPr>
      </p:sp>
      <p:sp>
        <p:nvSpPr>
          <p:cNvPr id="33" name="ls03_metric_1_node"/>
          <p:cNvSpPr/>
          <p:nvPr/>
        </p:nvSpPr>
        <p:spPr>
          <a:xfrm>
            <a:off x="7334250" y="2305050"/>
            <a:ext cx="133350" cy="133350"/>
          </a:xfrm>
          <a:prstGeom prst="ellipse">
            <a:avLst/>
          </a:prstGeom>
          <a:solidFill>
            <a:srgbClr val="1457A8">
              <a:alpha val="95000"/>
            </a:srgbClr>
          </a:solidFill>
          <a:ln>
            <a:noFill/>
          </a:ln>
        </p:spPr>
      </p:sp>
      <p:sp>
        <p:nvSpPr>
          <p:cNvPr id="34" name="ls03_metric_1_label"/>
          <p:cNvSpPr txBox="1"/>
          <p:nvPr/>
        </p:nvSpPr>
        <p:spPr>
          <a:xfrm>
            <a:off x="7543800" y="22860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权益</a:t>
            </a:r>
          </a:p>
        </p:txBody>
      </p:sp>
      <p:sp>
        <p:nvSpPr>
          <p:cNvPr id="35" name="ls03_metric_1_value"/>
          <p:cNvSpPr txBox="1"/>
          <p:nvPr/>
        </p:nvSpPr>
        <p:spPr>
          <a:xfrm>
            <a:off x="7391400" y="25146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55%</a:t>
            </a:r>
          </a:p>
        </p:txBody>
      </p:sp>
      <p:sp>
        <p:nvSpPr>
          <p:cNvPr id="36" name="ls03_metric_1_delta"/>
          <p:cNvSpPr txBox="1"/>
          <p:nvPr/>
        </p:nvSpPr>
        <p:spPr>
          <a:xfrm>
            <a:off x="7391400" y="28575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1457A8"/>
                </a:solidFill>
                <a:latin typeface="Arial Narrow"/>
                <a:ea typeface="Arial Narrow"/>
              </a:rPr>
              <a:t>+5pct</a:t>
            </a:r>
          </a:p>
        </p:txBody>
      </p:sp>
      <p:sp>
        <p:nvSpPr>
          <p:cNvPr id="37" name="ls03_metric_2_card"/>
          <p:cNvSpPr/>
          <p:nvPr/>
        </p:nvSpPr>
        <p:spPr>
          <a:xfrm>
            <a:off x="9525000" y="21907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187956">
                <a:alpha val="88000"/>
              </a:srgbClr>
            </a:solidFill>
          </a:ln>
        </p:spPr>
      </p:sp>
      <p:sp>
        <p:nvSpPr>
          <p:cNvPr id="38" name="ls03_metric_2_node"/>
          <p:cNvSpPr/>
          <p:nvPr/>
        </p:nvSpPr>
        <p:spPr>
          <a:xfrm>
            <a:off x="9620250" y="2305050"/>
            <a:ext cx="133350" cy="133350"/>
          </a:xfrm>
          <a:prstGeom prst="ellipse">
            <a:avLst/>
          </a:prstGeom>
          <a:solidFill>
            <a:srgbClr val="187956">
              <a:alpha val="95000"/>
            </a:srgbClr>
          </a:solidFill>
          <a:ln>
            <a:noFill/>
          </a:ln>
        </p:spPr>
      </p:sp>
      <p:sp>
        <p:nvSpPr>
          <p:cNvPr id="39" name="ls03_metric_2_label"/>
          <p:cNvSpPr txBox="1"/>
          <p:nvPr/>
        </p:nvSpPr>
        <p:spPr>
          <a:xfrm>
            <a:off x="9829800" y="22860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固收</a:t>
            </a:r>
          </a:p>
        </p:txBody>
      </p:sp>
      <p:sp>
        <p:nvSpPr>
          <p:cNvPr id="40" name="ls03_metric_2_value"/>
          <p:cNvSpPr txBox="1"/>
          <p:nvPr/>
        </p:nvSpPr>
        <p:spPr>
          <a:xfrm>
            <a:off x="9677400" y="25146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32%</a:t>
            </a:r>
          </a:p>
        </p:txBody>
      </p:sp>
      <p:sp>
        <p:nvSpPr>
          <p:cNvPr id="41" name="ls03_metric_2_delta"/>
          <p:cNvSpPr txBox="1"/>
          <p:nvPr/>
        </p:nvSpPr>
        <p:spPr>
          <a:xfrm>
            <a:off x="9677400" y="28575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187956"/>
                </a:solidFill>
                <a:latin typeface="Arial Narrow"/>
                <a:ea typeface="Arial Narrow"/>
              </a:rPr>
              <a:t>-4pct</a:t>
            </a:r>
          </a:p>
        </p:txBody>
      </p:sp>
      <p:sp>
        <p:nvSpPr>
          <p:cNvPr id="42" name="ls03_metric_3_card"/>
          <p:cNvSpPr/>
          <p:nvPr/>
        </p:nvSpPr>
        <p:spPr>
          <a:xfrm>
            <a:off x="7239000" y="34480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B86414">
                <a:alpha val="88000"/>
              </a:srgbClr>
            </a:solidFill>
          </a:ln>
        </p:spPr>
      </p:sp>
      <p:sp>
        <p:nvSpPr>
          <p:cNvPr id="43" name="ls03_metric_3_node"/>
          <p:cNvSpPr/>
          <p:nvPr/>
        </p:nvSpPr>
        <p:spPr>
          <a:xfrm>
            <a:off x="7334250" y="3562350"/>
            <a:ext cx="133350" cy="133350"/>
          </a:xfrm>
          <a:prstGeom prst="ellipse">
            <a:avLst/>
          </a:prstGeom>
          <a:solidFill>
            <a:srgbClr val="B86414">
              <a:alpha val="95000"/>
            </a:srgbClr>
          </a:solidFill>
          <a:ln>
            <a:noFill/>
          </a:ln>
        </p:spPr>
      </p:sp>
      <p:sp>
        <p:nvSpPr>
          <p:cNvPr id="44" name="ls03_metric_3_label"/>
          <p:cNvSpPr txBox="1"/>
          <p:nvPr/>
        </p:nvSpPr>
        <p:spPr>
          <a:xfrm>
            <a:off x="7543800" y="35433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另类现金</a:t>
            </a:r>
          </a:p>
        </p:txBody>
      </p:sp>
      <p:sp>
        <p:nvSpPr>
          <p:cNvPr id="45" name="ls03_metric_3_value"/>
          <p:cNvSpPr txBox="1"/>
          <p:nvPr/>
        </p:nvSpPr>
        <p:spPr>
          <a:xfrm>
            <a:off x="7391400" y="37719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13%</a:t>
            </a:r>
          </a:p>
        </p:txBody>
      </p:sp>
      <p:sp>
        <p:nvSpPr>
          <p:cNvPr id="46" name="ls03_metric_3_delta"/>
          <p:cNvSpPr txBox="1"/>
          <p:nvPr/>
        </p:nvSpPr>
        <p:spPr>
          <a:xfrm>
            <a:off x="7391400" y="41148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B86414"/>
                </a:solidFill>
                <a:latin typeface="Arial Narrow"/>
                <a:ea typeface="Arial Narrow"/>
              </a:rPr>
              <a:t>-1pct</a:t>
            </a:r>
          </a:p>
        </p:txBody>
      </p:sp>
      <p:sp>
        <p:nvSpPr>
          <p:cNvPr id="47" name="ls03_chart_panel"/>
          <p:cNvSpPr/>
          <p:nvPr/>
        </p:nvSpPr>
        <p:spPr>
          <a:xfrm>
            <a:off x="838200" y="4095750"/>
            <a:ext cx="6096000" cy="1466850"/>
          </a:xfrm>
          <a:prstGeom prst="roundRect">
            <a:avLst/>
          </a:prstGeom>
          <a:solidFill>
            <a:srgbClr val="FBFFF8">
              <a:alpha val="72000"/>
            </a:srgbClr>
          </a:solidFill>
          <a:ln w="9525">
            <a:solidFill>
              <a:srgbClr val="4E927E">
                <a:alpha val="82000"/>
              </a:srgbClr>
            </a:solidFill>
          </a:ln>
        </p:spPr>
      </p:sp>
      <p:sp>
        <p:nvSpPr>
          <p:cNvPr id="48" name="ls03_chart_title"/>
          <p:cNvSpPr txBox="1"/>
          <p:nvPr/>
        </p:nvSpPr>
        <p:spPr>
          <a:xfrm>
            <a:off x="1009650" y="4171950"/>
            <a:ext cx="57531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0B2B24"/>
                </a:solidFill>
                <a:latin typeface="Aptos Display"/>
                <a:ea typeface="Aptos Display"/>
              </a:rPr>
              <a:t>建议配置比例，%</a:t>
            </a:r>
          </a:p>
        </p:txBody>
      </p:sp>
      <p:sp>
        <p:nvSpPr>
          <p:cNvPr id="49" name="ls03_chart_legend_swatch_1"/>
          <p:cNvSpPr/>
          <p:nvPr/>
        </p:nvSpPr>
        <p:spPr>
          <a:xfrm>
            <a:off x="1009650" y="4400550"/>
            <a:ext cx="95250" cy="95250"/>
          </a:xfrm>
          <a:prstGeom prst="rect">
            <a:avLst/>
          </a:prstGeom>
          <a:solidFill>
            <a:srgbClr val="1457A8">
              <a:alpha val="92000"/>
            </a:srgbClr>
          </a:solidFill>
          <a:ln>
            <a:noFill/>
          </a:ln>
        </p:spPr>
      </p:sp>
      <p:sp>
        <p:nvSpPr>
          <p:cNvPr id="50" name="ls03_chart_legend_label_1"/>
          <p:cNvSpPr txBox="1"/>
          <p:nvPr/>
        </p:nvSpPr>
        <p:spPr>
          <a:xfrm>
            <a:off x="1152525" y="4371975"/>
            <a:ext cx="5143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权益</a:t>
            </a:r>
          </a:p>
        </p:txBody>
      </p:sp>
      <p:sp>
        <p:nvSpPr>
          <p:cNvPr id="51" name="ls03_chart_legend_swatch_2"/>
          <p:cNvSpPr/>
          <p:nvPr/>
        </p:nvSpPr>
        <p:spPr>
          <a:xfrm>
            <a:off x="1695450" y="4400550"/>
            <a:ext cx="95250" cy="95250"/>
          </a:xfrm>
          <a:prstGeom prst="rect">
            <a:avLst/>
          </a:prstGeom>
          <a:solidFill>
            <a:srgbClr val="187956">
              <a:alpha val="92000"/>
            </a:srgbClr>
          </a:solidFill>
          <a:ln>
            <a:noFill/>
          </a:ln>
        </p:spPr>
      </p:sp>
      <p:sp>
        <p:nvSpPr>
          <p:cNvPr id="52" name="ls03_chart_legend_label_2"/>
          <p:cNvSpPr txBox="1"/>
          <p:nvPr/>
        </p:nvSpPr>
        <p:spPr>
          <a:xfrm>
            <a:off x="1838325" y="4371975"/>
            <a:ext cx="5143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固收</a:t>
            </a:r>
          </a:p>
        </p:txBody>
      </p:sp>
      <p:sp>
        <p:nvSpPr>
          <p:cNvPr id="53" name="ls03_chart_legend_swatch_3"/>
          <p:cNvSpPr/>
          <p:nvPr/>
        </p:nvSpPr>
        <p:spPr>
          <a:xfrm>
            <a:off x="2381250" y="4400550"/>
            <a:ext cx="95250" cy="95250"/>
          </a:xfrm>
          <a:prstGeom prst="rect">
            <a:avLst/>
          </a:prstGeom>
          <a:solidFill>
            <a:srgbClr val="B86414">
              <a:alpha val="92000"/>
            </a:srgbClr>
          </a:solidFill>
          <a:ln>
            <a:noFill/>
          </a:ln>
        </p:spPr>
      </p:sp>
      <p:sp>
        <p:nvSpPr>
          <p:cNvPr id="54" name="ls03_chart_legend_label_3"/>
          <p:cNvSpPr txBox="1"/>
          <p:nvPr/>
        </p:nvSpPr>
        <p:spPr>
          <a:xfrm>
            <a:off x="2524125" y="4371975"/>
            <a:ext cx="5143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另类现金</a:t>
            </a:r>
          </a:p>
        </p:txBody>
      </p:sp>
      <p:sp>
        <p:nvSpPr>
          <p:cNvPr id="55" name="ls03_chart_grid_0"/>
          <p:cNvSpPr/>
          <p:nvPr/>
        </p:nvSpPr>
        <p:spPr>
          <a:xfrm>
            <a:off x="1257300" y="5086350"/>
            <a:ext cx="5429250" cy="9525"/>
          </a:xfrm>
          <a:prstGeom prst="rect">
            <a:avLst/>
          </a:prstGeom>
          <a:solidFill>
            <a:srgbClr val="4E927E">
              <a:alpha val="46000"/>
            </a:srgbClr>
          </a:solidFill>
          <a:ln>
            <a:noFill/>
          </a:ln>
        </p:spPr>
      </p:sp>
      <p:sp>
        <p:nvSpPr>
          <p:cNvPr id="56" name="ls03_chart_axis_0"/>
          <p:cNvSpPr txBox="1"/>
          <p:nvPr/>
        </p:nvSpPr>
        <p:spPr>
          <a:xfrm>
            <a:off x="914400" y="5019675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800">
                <a:solidFill>
                  <a:srgbClr val="2C5148"/>
                </a:solidFill>
                <a:latin typeface="Aptos"/>
                <a:ea typeface="Aptos"/>
              </a:rPr>
              <a:t>0%</a:t>
            </a:r>
          </a:p>
        </p:txBody>
      </p:sp>
      <p:sp>
        <p:nvSpPr>
          <p:cNvPr id="57" name="ls03_chart_grid_50"/>
          <p:cNvSpPr/>
          <p:nvPr/>
        </p:nvSpPr>
        <p:spPr>
          <a:xfrm>
            <a:off x="1257300" y="4905375"/>
            <a:ext cx="5429250" cy="9525"/>
          </a:xfrm>
          <a:prstGeom prst="rect">
            <a:avLst/>
          </a:prstGeom>
          <a:solidFill>
            <a:srgbClr val="4E927E">
              <a:alpha val="46000"/>
            </a:srgbClr>
          </a:solidFill>
          <a:ln>
            <a:noFill/>
          </a:ln>
        </p:spPr>
      </p:sp>
      <p:sp>
        <p:nvSpPr>
          <p:cNvPr id="58" name="ls03_chart_axis_50"/>
          <p:cNvSpPr txBox="1"/>
          <p:nvPr/>
        </p:nvSpPr>
        <p:spPr>
          <a:xfrm>
            <a:off x="914400" y="4838700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800">
                <a:solidFill>
                  <a:srgbClr val="2C5148"/>
                </a:solidFill>
                <a:latin typeface="Aptos"/>
                <a:ea typeface="Aptos"/>
              </a:rPr>
              <a:t>50%</a:t>
            </a:r>
          </a:p>
        </p:txBody>
      </p:sp>
      <p:sp>
        <p:nvSpPr>
          <p:cNvPr id="59" name="ls03_chart_grid_100"/>
          <p:cNvSpPr/>
          <p:nvPr/>
        </p:nvSpPr>
        <p:spPr>
          <a:xfrm>
            <a:off x="1257300" y="4724400"/>
            <a:ext cx="5429250" cy="9525"/>
          </a:xfrm>
          <a:prstGeom prst="rect">
            <a:avLst/>
          </a:prstGeom>
          <a:solidFill>
            <a:srgbClr val="4E927E">
              <a:alpha val="46000"/>
            </a:srgbClr>
          </a:solidFill>
          <a:ln>
            <a:noFill/>
          </a:ln>
        </p:spPr>
      </p:sp>
      <p:sp>
        <p:nvSpPr>
          <p:cNvPr id="60" name="ls03_chart_axis_100"/>
          <p:cNvSpPr txBox="1"/>
          <p:nvPr/>
        </p:nvSpPr>
        <p:spPr>
          <a:xfrm>
            <a:off x="914400" y="4657725"/>
            <a:ext cx="3048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800">
                <a:solidFill>
                  <a:srgbClr val="2C5148"/>
                </a:solidFill>
                <a:latin typeface="Aptos"/>
                <a:ea typeface="Aptos"/>
              </a:rPr>
              <a:t>100%</a:t>
            </a:r>
          </a:p>
        </p:txBody>
      </p:sp>
      <p:sp>
        <p:nvSpPr>
          <p:cNvPr id="61" name="ls03_chart_bar_1_1"/>
          <p:cNvSpPr/>
          <p:nvPr/>
        </p:nvSpPr>
        <p:spPr>
          <a:xfrm>
            <a:off x="1352550" y="4905375"/>
            <a:ext cx="1682750" cy="180975"/>
          </a:xfrm>
          <a:prstGeom prst="roundRect">
            <a:avLst/>
          </a:prstGeom>
          <a:solidFill>
            <a:srgbClr val="1457A8">
              <a:alpha val="88000"/>
            </a:srgbClr>
          </a:solidFill>
          <a:ln>
            <a:noFill/>
          </a:ln>
        </p:spPr>
      </p:sp>
      <p:sp>
        <p:nvSpPr>
          <p:cNvPr id="62" name="ls03_chart_bar_1_2"/>
          <p:cNvSpPr/>
          <p:nvPr/>
        </p:nvSpPr>
        <p:spPr>
          <a:xfrm>
            <a:off x="1352550" y="4775073"/>
            <a:ext cx="1682750" cy="130302"/>
          </a:xfrm>
          <a:prstGeom prst="roundRect">
            <a:avLst/>
          </a:prstGeom>
          <a:solidFill>
            <a:srgbClr val="187956">
              <a:alpha val="88000"/>
            </a:srgbClr>
          </a:solidFill>
          <a:ln>
            <a:noFill/>
          </a:ln>
        </p:spPr>
      </p:sp>
      <p:sp>
        <p:nvSpPr>
          <p:cNvPr id="63" name="ls03_chart_bar_1_3"/>
          <p:cNvSpPr/>
          <p:nvPr/>
        </p:nvSpPr>
        <p:spPr>
          <a:xfrm>
            <a:off x="1352550" y="4724400"/>
            <a:ext cx="1682750" cy="50673"/>
          </a:xfrm>
          <a:prstGeom prst="roundRect">
            <a:avLst/>
          </a:prstGeom>
          <a:solidFill>
            <a:srgbClr val="B86414">
              <a:alpha val="88000"/>
            </a:srgbClr>
          </a:solidFill>
          <a:ln>
            <a:noFill/>
          </a:ln>
        </p:spPr>
      </p:sp>
      <p:sp>
        <p:nvSpPr>
          <p:cNvPr id="64" name="ls03_chart_cat_1"/>
          <p:cNvSpPr txBox="1"/>
          <p:nvPr/>
        </p:nvSpPr>
        <p:spPr>
          <a:xfrm>
            <a:off x="1314450" y="5200650"/>
            <a:ext cx="17589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当前</a:t>
            </a:r>
          </a:p>
        </p:txBody>
      </p:sp>
      <p:sp>
        <p:nvSpPr>
          <p:cNvPr id="65" name="ls03_chart_bar_2_1"/>
          <p:cNvSpPr/>
          <p:nvPr/>
        </p:nvSpPr>
        <p:spPr>
          <a:xfrm>
            <a:off x="3130550" y="4887278"/>
            <a:ext cx="1682750" cy="199072"/>
          </a:xfrm>
          <a:prstGeom prst="roundRect">
            <a:avLst/>
          </a:prstGeom>
          <a:solidFill>
            <a:srgbClr val="1457A8">
              <a:alpha val="88000"/>
            </a:srgbClr>
          </a:solidFill>
          <a:ln>
            <a:noFill/>
          </a:ln>
        </p:spPr>
      </p:sp>
      <p:sp>
        <p:nvSpPr>
          <p:cNvPr id="66" name="ls03_chart_bar_2_2"/>
          <p:cNvSpPr/>
          <p:nvPr/>
        </p:nvSpPr>
        <p:spPr>
          <a:xfrm>
            <a:off x="3130550" y="4771454"/>
            <a:ext cx="1682750" cy="115824"/>
          </a:xfrm>
          <a:prstGeom prst="roundRect">
            <a:avLst/>
          </a:prstGeom>
          <a:solidFill>
            <a:srgbClr val="187956">
              <a:alpha val="88000"/>
            </a:srgbClr>
          </a:solidFill>
          <a:ln>
            <a:noFill/>
          </a:ln>
        </p:spPr>
      </p:sp>
      <p:sp>
        <p:nvSpPr>
          <p:cNvPr id="67" name="ls03_chart_bar_2_3"/>
          <p:cNvSpPr/>
          <p:nvPr/>
        </p:nvSpPr>
        <p:spPr>
          <a:xfrm>
            <a:off x="3130550" y="4724400"/>
            <a:ext cx="1682750" cy="47054"/>
          </a:xfrm>
          <a:prstGeom prst="roundRect">
            <a:avLst/>
          </a:prstGeom>
          <a:solidFill>
            <a:srgbClr val="B86414">
              <a:alpha val="88000"/>
            </a:srgbClr>
          </a:solidFill>
          <a:ln>
            <a:noFill/>
          </a:ln>
        </p:spPr>
      </p:sp>
      <p:sp>
        <p:nvSpPr>
          <p:cNvPr id="68" name="ls03_chart_cat_2"/>
          <p:cNvSpPr txBox="1"/>
          <p:nvPr/>
        </p:nvSpPr>
        <p:spPr>
          <a:xfrm>
            <a:off x="3092450" y="5200650"/>
            <a:ext cx="17589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建议</a:t>
            </a:r>
          </a:p>
        </p:txBody>
      </p:sp>
      <p:sp>
        <p:nvSpPr>
          <p:cNvPr id="69" name="ls03_chart_bar_3_1"/>
          <p:cNvSpPr/>
          <p:nvPr/>
        </p:nvSpPr>
        <p:spPr>
          <a:xfrm>
            <a:off x="4908550" y="4861941"/>
            <a:ext cx="1682750" cy="224409"/>
          </a:xfrm>
          <a:prstGeom prst="roundRect">
            <a:avLst/>
          </a:prstGeom>
          <a:solidFill>
            <a:srgbClr val="1457A8">
              <a:alpha val="88000"/>
            </a:srgbClr>
          </a:solidFill>
          <a:ln>
            <a:noFill/>
          </a:ln>
        </p:spPr>
      </p:sp>
      <p:sp>
        <p:nvSpPr>
          <p:cNvPr id="70" name="ls03_chart_label_3_1"/>
          <p:cNvSpPr txBox="1"/>
          <p:nvPr/>
        </p:nvSpPr>
        <p:spPr>
          <a:xfrm>
            <a:off x="4908550" y="4916996"/>
            <a:ext cx="168275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800">
                <a:solidFill>
                  <a:srgbClr val="0B2B24"/>
                </a:solidFill>
                <a:latin typeface="Aptos"/>
                <a:ea typeface="Aptos"/>
              </a:rPr>
              <a:t>62</a:t>
            </a:r>
          </a:p>
        </p:txBody>
      </p:sp>
      <p:sp>
        <p:nvSpPr>
          <p:cNvPr id="71" name="ls03_chart_bar_3_2"/>
          <p:cNvSpPr/>
          <p:nvPr/>
        </p:nvSpPr>
        <p:spPr>
          <a:xfrm>
            <a:off x="4908550" y="4753356"/>
            <a:ext cx="1682750" cy="108585"/>
          </a:xfrm>
          <a:prstGeom prst="roundRect">
            <a:avLst/>
          </a:prstGeom>
          <a:solidFill>
            <a:srgbClr val="187956">
              <a:alpha val="88000"/>
            </a:srgbClr>
          </a:solidFill>
          <a:ln>
            <a:noFill/>
          </a:ln>
        </p:spPr>
      </p:sp>
      <p:sp>
        <p:nvSpPr>
          <p:cNvPr id="72" name="ls03_chart_bar_3_3"/>
          <p:cNvSpPr/>
          <p:nvPr/>
        </p:nvSpPr>
        <p:spPr>
          <a:xfrm>
            <a:off x="4908550" y="4724400"/>
            <a:ext cx="1682750" cy="28956"/>
          </a:xfrm>
          <a:prstGeom prst="roundRect">
            <a:avLst/>
          </a:prstGeom>
          <a:solidFill>
            <a:srgbClr val="B86414">
              <a:alpha val="88000"/>
            </a:srgbClr>
          </a:solidFill>
          <a:ln>
            <a:noFill/>
          </a:ln>
        </p:spPr>
      </p:sp>
      <p:sp>
        <p:nvSpPr>
          <p:cNvPr id="73" name="ls03_chart_cat_3"/>
          <p:cNvSpPr txBox="1"/>
          <p:nvPr/>
        </p:nvSpPr>
        <p:spPr>
          <a:xfrm>
            <a:off x="4870450" y="5200650"/>
            <a:ext cx="1758950" cy="1333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上限</a:t>
            </a:r>
          </a:p>
        </p:txBody>
      </p:sp>
      <p:sp>
        <p:nvSpPr>
          <p:cNvPr id="74" name="ls03_chart_source"/>
          <p:cNvSpPr txBox="1"/>
          <p:nvPr/>
        </p:nvSpPr>
        <p:spPr>
          <a:xfrm>
            <a:off x="1009650" y="5391150"/>
            <a:ext cx="5753100" cy="1143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700">
                <a:solidFill>
                  <a:srgbClr val="2C5148"/>
                </a:solidFill>
                <a:latin typeface="Aptos"/>
                <a:ea typeface="Aptos"/>
              </a:rPr>
              <a:t>来源：投研系统、Wind、Bloomberg 与内部风险模型模拟测算；数据截止202</a:t>
            </a:r>
          </a:p>
        </p:txBody>
      </p:sp>
      <p:sp>
        <p:nvSpPr>
          <p:cNvPr id="75" name="ls03_source_band"/>
          <p:cNvSpPr/>
          <p:nvPr/>
        </p:nvSpPr>
        <p:spPr>
          <a:xfrm>
            <a:off x="723900" y="5829300"/>
            <a:ext cx="10744200" cy="57150"/>
          </a:xfrm>
          <a:prstGeom prst="rect">
            <a:avLst/>
          </a:prstGeom>
          <a:solidFill>
            <a:srgbClr val="187956">
              <a:alpha val="34000"/>
            </a:srgbClr>
          </a:solidFill>
          <a:ln>
            <a:noFill/>
          </a:ln>
        </p:spPr>
      </p:sp>
      <p:sp>
        <p:nvSpPr>
          <p:cNvPr id="76" name="ls03_risk_note"/>
          <p:cNvSpPr txBox="1"/>
          <p:nvPr/>
        </p:nvSpPr>
        <p:spPr>
          <a:xfrm>
            <a:off x="800100" y="5981700"/>
            <a:ext cx="10382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8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风险提示：本页观点基于当前宏观、估值、流动性及政策假设形成，不构成收益承诺；市场波动、政策变化、海外利率路径及模型参数变化可能导致配置建议调整。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s04_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CEBE1"/>
          </a:solidFill>
          <a:ln w="9525">
            <a:solidFill>
              <a:srgbClr val="DCEBE1"/>
            </a:solidFill>
          </a:ln>
        </p:spPr>
      </p:sp>
      <p:sp>
        <p:nvSpPr>
          <p:cNvPr id="3" name="ls04_zone_bottom"/>
          <p:cNvSpPr/>
          <p:nvPr/>
        </p:nvSpPr>
        <p:spPr>
          <a:xfrm>
            <a:off x="685800" y="3924300"/>
            <a:ext cx="10839450" cy="1504950"/>
          </a:xfrm>
          <a:prstGeom prst="rect">
            <a:avLst/>
          </a:prstGeom>
          <a:solidFill>
            <a:srgbClr val="BFDCCB">
              <a:alpha val="30000"/>
            </a:srgbClr>
          </a:solidFill>
          <a:ln>
            <a:noFill/>
          </a:ln>
        </p:spPr>
      </p:sp>
      <p:sp>
        <p:nvSpPr>
          <p:cNvPr id="4" name="ls04_zone_left"/>
          <p:cNvSpPr/>
          <p:nvPr/>
        </p:nvSpPr>
        <p:spPr>
          <a:xfrm>
            <a:off x="609600" y="990600"/>
            <a:ext cx="6000750" cy="4762500"/>
          </a:xfrm>
          <a:prstGeom prst="rect">
            <a:avLst/>
          </a:prstGeom>
          <a:solidFill>
            <a:srgbClr val="D2E8DA">
              <a:alpha val="36000"/>
            </a:srgbClr>
          </a:solidFill>
          <a:ln>
            <a:noFill/>
          </a:ln>
        </p:spPr>
      </p:sp>
      <p:sp>
        <p:nvSpPr>
          <p:cNvPr id="5" name="ls04_zone_right"/>
          <p:cNvSpPr/>
          <p:nvPr/>
        </p:nvSpPr>
        <p:spPr>
          <a:xfrm>
            <a:off x="6953250" y="1924050"/>
            <a:ext cx="4476750" cy="3143250"/>
          </a:xfrm>
          <a:prstGeom prst="rect">
            <a:avLst/>
          </a:prstGeom>
          <a:solidFill>
            <a:srgbClr val="FBFFF8">
              <a:alpha val="72000"/>
            </a:srgbClr>
          </a:solidFill>
          <a:ln w="9525">
            <a:solidFill>
              <a:srgbClr val="4E927E">
                <a:alpha val="35000"/>
              </a:srgbClr>
            </a:solidFill>
          </a:ln>
        </p:spPr>
      </p:sp>
      <p:sp>
        <p:nvSpPr>
          <p:cNvPr id="6" name="ls04_grid_h_118"/>
          <p:cNvSpPr/>
          <p:nvPr/>
        </p:nvSpPr>
        <p:spPr>
          <a:xfrm>
            <a:off x="609600" y="1123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7" name="ls04_grid_h_238"/>
          <p:cNvSpPr/>
          <p:nvPr/>
        </p:nvSpPr>
        <p:spPr>
          <a:xfrm>
            <a:off x="609600" y="2266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8" name="ls04_grid_h_358"/>
          <p:cNvSpPr/>
          <p:nvPr/>
        </p:nvSpPr>
        <p:spPr>
          <a:xfrm>
            <a:off x="609600" y="3409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9" name="ls04_grid_h_478"/>
          <p:cNvSpPr/>
          <p:nvPr/>
        </p:nvSpPr>
        <p:spPr>
          <a:xfrm>
            <a:off x="609600" y="4552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10" name="ls04_grid_h_598"/>
          <p:cNvSpPr/>
          <p:nvPr/>
        </p:nvSpPr>
        <p:spPr>
          <a:xfrm>
            <a:off x="609600" y="5695950"/>
            <a:ext cx="10972800" cy="9525"/>
          </a:xfrm>
          <a:prstGeom prst="rect">
            <a:avLst/>
          </a:prstGeom>
          <a:solidFill>
            <a:srgbClr val="579A86">
              <a:alpha val="20000"/>
            </a:srgbClr>
          </a:solidFill>
          <a:ln>
            <a:noFill/>
          </a:ln>
        </p:spPr>
      </p:sp>
      <p:sp>
        <p:nvSpPr>
          <p:cNvPr id="11" name="ls04_grid_v_1056"/>
          <p:cNvSpPr/>
          <p:nvPr/>
        </p:nvSpPr>
        <p:spPr>
          <a:xfrm>
            <a:off x="10058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2" name="ls04_grid_v_1216"/>
          <p:cNvSpPr/>
          <p:nvPr/>
        </p:nvSpPr>
        <p:spPr>
          <a:xfrm>
            <a:off x="11582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3" name="ls04_grid_v_256"/>
          <p:cNvSpPr/>
          <p:nvPr/>
        </p:nvSpPr>
        <p:spPr>
          <a:xfrm>
            <a:off x="2438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4" name="ls04_grid_v_416"/>
          <p:cNvSpPr/>
          <p:nvPr/>
        </p:nvSpPr>
        <p:spPr>
          <a:xfrm>
            <a:off x="3962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5" name="ls04_grid_v_576"/>
          <p:cNvSpPr/>
          <p:nvPr/>
        </p:nvSpPr>
        <p:spPr>
          <a:xfrm>
            <a:off x="5486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6" name="ls04_grid_v_736"/>
          <p:cNvSpPr/>
          <p:nvPr/>
        </p:nvSpPr>
        <p:spPr>
          <a:xfrm>
            <a:off x="7010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7" name="ls04_grid_v_896"/>
          <p:cNvSpPr/>
          <p:nvPr/>
        </p:nvSpPr>
        <p:spPr>
          <a:xfrm>
            <a:off x="8534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8" name="ls04_grid_v_96"/>
          <p:cNvSpPr/>
          <p:nvPr/>
        </p:nvSpPr>
        <p:spPr>
          <a:xfrm>
            <a:off x="914400" y="495300"/>
            <a:ext cx="9525" cy="5619750"/>
          </a:xfrm>
          <a:prstGeom prst="rect">
            <a:avLst/>
          </a:prstGeom>
          <a:solidFill>
            <a:srgbClr val="579A86">
              <a:alpha val="22000"/>
            </a:srgbClr>
          </a:solidFill>
          <a:ln>
            <a:noFill/>
          </a:ln>
        </p:spPr>
      </p:sp>
      <p:sp>
        <p:nvSpPr>
          <p:cNvPr id="19" name="ls04_route_primary"/>
          <p:cNvSpPr/>
          <p:nvPr/>
        </p:nvSpPr>
        <p:spPr>
          <a:xfrm>
            <a:off x="838200" y="2076450"/>
            <a:ext cx="10096500" cy="76200"/>
          </a:xfrm>
          <a:prstGeom prst="rect">
            <a:avLst/>
          </a:prstGeom>
          <a:solidFill>
            <a:srgbClr val="1457A8">
              <a:alpha val="30000"/>
            </a:srgbClr>
          </a:solidFill>
          <a:ln>
            <a:noFill/>
          </a:ln>
        </p:spPr>
      </p:sp>
      <p:sp>
        <p:nvSpPr>
          <p:cNvPr id="20" name="ls04_route_secondary"/>
          <p:cNvSpPr/>
          <p:nvPr/>
        </p:nvSpPr>
        <p:spPr>
          <a:xfrm>
            <a:off x="1809750" y="5143500"/>
            <a:ext cx="8382000" cy="57150"/>
          </a:xfrm>
          <a:prstGeom prst="rect">
            <a:avLst/>
          </a:prstGeom>
          <a:solidFill>
            <a:srgbClr val="187956">
              <a:alpha val="24000"/>
            </a:srgbClr>
          </a:solidFill>
          <a:ln>
            <a:noFill/>
          </a:ln>
        </p:spPr>
      </p:sp>
      <p:sp>
        <p:nvSpPr>
          <p:cNvPr id="21" name="ls04_node_1"/>
          <p:cNvSpPr/>
          <p:nvPr/>
        </p:nvSpPr>
        <p:spPr>
          <a:xfrm>
            <a:off x="6819900" y="2038350"/>
            <a:ext cx="171450" cy="171450"/>
          </a:xfrm>
          <a:prstGeom prst="rect">
            <a:avLst/>
          </a:prstGeom>
          <a:solidFill>
            <a:srgbClr val="1457A8">
              <a:alpha val="76000"/>
            </a:srgbClr>
          </a:solidFill>
          <a:ln>
            <a:noFill/>
          </a:ln>
        </p:spPr>
      </p:sp>
      <p:sp>
        <p:nvSpPr>
          <p:cNvPr id="22" name="ls04_node_2"/>
          <p:cNvSpPr/>
          <p:nvPr/>
        </p:nvSpPr>
        <p:spPr>
          <a:xfrm>
            <a:off x="7124700" y="5105400"/>
            <a:ext cx="171450" cy="171450"/>
          </a:xfrm>
          <a:prstGeom prst="rect">
            <a:avLst/>
          </a:prstGeom>
          <a:solidFill>
            <a:srgbClr val="187956">
              <a:alpha val="76000"/>
            </a:srgbClr>
          </a:solidFill>
          <a:ln>
            <a:noFill/>
          </a:ln>
        </p:spPr>
      </p:sp>
      <p:sp>
        <p:nvSpPr>
          <p:cNvPr id="23" name="ls04_node_3"/>
          <p:cNvSpPr/>
          <p:nvPr/>
        </p:nvSpPr>
        <p:spPr>
          <a:xfrm>
            <a:off x="11049000" y="2038350"/>
            <a:ext cx="171450" cy="171450"/>
          </a:xfrm>
          <a:prstGeom prst="rect">
            <a:avLst/>
          </a:prstGeom>
          <a:solidFill>
            <a:srgbClr val="B86414">
              <a:alpha val="76000"/>
            </a:srgbClr>
          </a:solidFill>
          <a:ln>
            <a:noFill/>
          </a:ln>
        </p:spPr>
      </p:sp>
      <p:sp>
        <p:nvSpPr>
          <p:cNvPr id="24" name="ls04_folio"/>
          <p:cNvSpPr txBox="1"/>
          <p:nvPr/>
        </p:nvSpPr>
        <p:spPr>
          <a:xfrm>
            <a:off x="762000" y="5143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2C5148"/>
                </a:solidFill>
                <a:latin typeface="Aptos"/>
                <a:ea typeface="Aptos"/>
              </a:rPr>
              <a:t>MARKET ATLAS / ZONE-04</a:t>
            </a:r>
          </a:p>
        </p:txBody>
      </p:sp>
      <p:sp>
        <p:nvSpPr>
          <p:cNvPr id="25" name="ls04_legend_1"/>
          <p:cNvSpPr txBox="1"/>
          <p:nvPr/>
        </p:nvSpPr>
        <p:spPr>
          <a:xfrm>
            <a:off x="7239000" y="196215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 b="1">
                <a:solidFill>
                  <a:srgbClr val="2C5148"/>
                </a:solidFill>
                <a:latin typeface="Aptos"/>
                <a:ea typeface="Aptos"/>
              </a:rPr>
              <a:t>SIGNAL FIELD</a:t>
            </a:r>
          </a:p>
        </p:txBody>
      </p:sp>
      <p:sp>
        <p:nvSpPr>
          <p:cNvPr id="26" name="ls04_legend_2"/>
          <p:cNvSpPr txBox="1"/>
          <p:nvPr/>
        </p:nvSpPr>
        <p:spPr>
          <a:xfrm>
            <a:off x="876300" y="38290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 b="1">
                <a:solidFill>
                  <a:srgbClr val="187956"/>
                </a:solidFill>
                <a:latin typeface="Aptos"/>
                <a:ea typeface="Aptos"/>
              </a:rPr>
              <a:t>ALLOCATION ROUTE</a:t>
            </a:r>
          </a:p>
        </p:txBody>
      </p:sp>
      <p:sp>
        <p:nvSpPr>
          <p:cNvPr id="27" name="ls04_kicker"/>
          <p:cNvSpPr txBox="1"/>
          <p:nvPr/>
        </p:nvSpPr>
        <p:spPr>
          <a:xfrm>
            <a:off x="781050" y="8001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100" b="1">
                <a:solidFill>
                  <a:srgbClr val="1457A8"/>
                </a:solidFill>
                <a:latin typeface="Aptos Display"/>
                <a:ea typeface="Aptos Display"/>
              </a:rPr>
              <a:t>Scenario Stress / visual-language-demo</a:t>
            </a:r>
          </a:p>
        </p:txBody>
      </p:sp>
      <p:sp>
        <p:nvSpPr>
          <p:cNvPr id="28" name="ls04_title"/>
          <p:cNvSpPr txBox="1"/>
          <p:nvPr/>
        </p:nvSpPr>
        <p:spPr>
          <a:xfrm>
            <a:off x="781050" y="1066800"/>
            <a:ext cx="5715000" cy="76981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2200" b="1">
                <a:solidFill>
                  <a:srgbClr val="0B2B24"/>
                </a:solidFill>
                <a:latin typeface="Aptos Display"/>
                <a:ea typeface="Aptos Display"/>
              </a:rPr>
              <a:t>三种情景压力测试：核心不是预测，而是准备触发器</a:t>
            </a:r>
          </a:p>
        </p:txBody>
      </p:sp>
      <p:sp>
        <p:nvSpPr>
          <p:cNvPr id="29" name="ls04_subtitle"/>
          <p:cNvSpPr txBox="1"/>
          <p:nvPr/>
        </p:nvSpPr>
        <p:spPr>
          <a:xfrm>
            <a:off x="800100" y="191281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200">
                <a:solidFill>
                  <a:srgbClr val="2C5148"/>
                </a:solidFill>
                <a:latin typeface="Aptos"/>
                <a:ea typeface="Aptos"/>
              </a:rPr>
              <a:t>测试情景卡片和压力测试数字的呈现。</a:t>
            </a:r>
          </a:p>
        </p:txBody>
      </p:sp>
      <p:sp>
        <p:nvSpPr>
          <p:cNvPr id="30" name="ls04_body_1"/>
          <p:cNvSpPr txBox="1"/>
          <p:nvPr/>
        </p:nvSpPr>
        <p:spPr>
          <a:xfrm>
            <a:off x="838200" y="2266950"/>
            <a:ext cx="4476750" cy="4632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400">
                <a:solidFill>
                  <a:srgbClr val="0B2B24"/>
                </a:solidFill>
                <a:latin typeface="Aptos"/>
                <a:ea typeface="Aptos"/>
              </a:rPr>
              <a:t>基准情景下权益贡献上升；紧缩情景下黄金和现金缓冲回撤；衰退情景下减少权益贝塔。</a:t>
            </a:r>
          </a:p>
        </p:txBody>
      </p:sp>
      <p:sp>
        <p:nvSpPr>
          <p:cNvPr id="31" name="ls04_metric_1_card"/>
          <p:cNvSpPr/>
          <p:nvPr/>
        </p:nvSpPr>
        <p:spPr>
          <a:xfrm>
            <a:off x="7239000" y="21907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187956">
                <a:alpha val="88000"/>
              </a:srgbClr>
            </a:solidFill>
          </a:ln>
        </p:spPr>
      </p:sp>
      <p:sp>
        <p:nvSpPr>
          <p:cNvPr id="32" name="ls04_metric_1_node"/>
          <p:cNvSpPr/>
          <p:nvPr/>
        </p:nvSpPr>
        <p:spPr>
          <a:xfrm>
            <a:off x="7334250" y="2305050"/>
            <a:ext cx="133350" cy="133350"/>
          </a:xfrm>
          <a:prstGeom prst="ellipse">
            <a:avLst/>
          </a:prstGeom>
          <a:solidFill>
            <a:srgbClr val="187956">
              <a:alpha val="95000"/>
            </a:srgbClr>
          </a:solidFill>
          <a:ln>
            <a:noFill/>
          </a:ln>
        </p:spPr>
      </p:sp>
      <p:sp>
        <p:nvSpPr>
          <p:cNvPr id="33" name="ls04_metric_1_label"/>
          <p:cNvSpPr txBox="1"/>
          <p:nvPr/>
        </p:nvSpPr>
        <p:spPr>
          <a:xfrm>
            <a:off x="7543800" y="22860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基准概率</a:t>
            </a:r>
          </a:p>
        </p:txBody>
      </p:sp>
      <p:sp>
        <p:nvSpPr>
          <p:cNvPr id="34" name="ls04_metric_1_value"/>
          <p:cNvSpPr txBox="1"/>
          <p:nvPr/>
        </p:nvSpPr>
        <p:spPr>
          <a:xfrm>
            <a:off x="7391400" y="25146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55%</a:t>
            </a:r>
          </a:p>
        </p:txBody>
      </p:sp>
      <p:sp>
        <p:nvSpPr>
          <p:cNvPr id="35" name="ls04_metric_1_delta"/>
          <p:cNvSpPr txBox="1"/>
          <p:nvPr/>
        </p:nvSpPr>
        <p:spPr>
          <a:xfrm>
            <a:off x="7391400" y="28575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187956"/>
                </a:solidFill>
                <a:latin typeface="Arial Narrow"/>
                <a:ea typeface="Arial Narrow"/>
              </a:rPr>
              <a:t>温和修复</a:t>
            </a:r>
          </a:p>
        </p:txBody>
      </p:sp>
      <p:sp>
        <p:nvSpPr>
          <p:cNvPr id="36" name="ls04_metric_2_card"/>
          <p:cNvSpPr/>
          <p:nvPr/>
        </p:nvSpPr>
        <p:spPr>
          <a:xfrm>
            <a:off x="9525000" y="21907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B86414">
                <a:alpha val="88000"/>
              </a:srgbClr>
            </a:solidFill>
          </a:ln>
        </p:spPr>
      </p:sp>
      <p:sp>
        <p:nvSpPr>
          <p:cNvPr id="37" name="ls04_metric_2_node"/>
          <p:cNvSpPr/>
          <p:nvPr/>
        </p:nvSpPr>
        <p:spPr>
          <a:xfrm>
            <a:off x="9620250" y="2305050"/>
            <a:ext cx="133350" cy="133350"/>
          </a:xfrm>
          <a:prstGeom prst="ellipse">
            <a:avLst/>
          </a:prstGeom>
          <a:solidFill>
            <a:srgbClr val="B86414">
              <a:alpha val="95000"/>
            </a:srgbClr>
          </a:solidFill>
          <a:ln>
            <a:noFill/>
          </a:ln>
        </p:spPr>
      </p:sp>
      <p:sp>
        <p:nvSpPr>
          <p:cNvPr id="38" name="ls04_metric_2_label"/>
          <p:cNvSpPr txBox="1"/>
          <p:nvPr/>
        </p:nvSpPr>
        <p:spPr>
          <a:xfrm>
            <a:off x="9829800" y="22860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紧缩概率</a:t>
            </a:r>
          </a:p>
        </p:txBody>
      </p:sp>
      <p:sp>
        <p:nvSpPr>
          <p:cNvPr id="39" name="ls04_metric_2_value"/>
          <p:cNvSpPr txBox="1"/>
          <p:nvPr/>
        </p:nvSpPr>
        <p:spPr>
          <a:xfrm>
            <a:off x="9677400" y="25146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25%</a:t>
            </a:r>
          </a:p>
        </p:txBody>
      </p:sp>
      <p:sp>
        <p:nvSpPr>
          <p:cNvPr id="40" name="ls04_metric_2_delta"/>
          <p:cNvSpPr txBox="1"/>
          <p:nvPr/>
        </p:nvSpPr>
        <p:spPr>
          <a:xfrm>
            <a:off x="9677400" y="28575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B86414"/>
                </a:solidFill>
                <a:latin typeface="Arial Narrow"/>
                <a:ea typeface="Arial Narrow"/>
              </a:rPr>
              <a:t>海外利率扰动</a:t>
            </a:r>
          </a:p>
        </p:txBody>
      </p:sp>
      <p:sp>
        <p:nvSpPr>
          <p:cNvPr id="41" name="ls04_metric_3_card"/>
          <p:cNvSpPr/>
          <p:nvPr/>
        </p:nvSpPr>
        <p:spPr>
          <a:xfrm>
            <a:off x="7239000" y="3448050"/>
            <a:ext cx="1809750" cy="952500"/>
          </a:xfrm>
          <a:prstGeom prst="roundRect">
            <a:avLst/>
          </a:prstGeom>
          <a:solidFill>
            <a:srgbClr val="FBFFF8">
              <a:alpha val="94000"/>
            </a:srgbClr>
          </a:solidFill>
          <a:ln w="9525">
            <a:solidFill>
              <a:srgbClr val="1457A8">
                <a:alpha val="88000"/>
              </a:srgbClr>
            </a:solidFill>
          </a:ln>
        </p:spPr>
      </p:sp>
      <p:sp>
        <p:nvSpPr>
          <p:cNvPr id="42" name="ls04_metric_3_node"/>
          <p:cNvSpPr/>
          <p:nvPr/>
        </p:nvSpPr>
        <p:spPr>
          <a:xfrm>
            <a:off x="7334250" y="3562350"/>
            <a:ext cx="133350" cy="133350"/>
          </a:xfrm>
          <a:prstGeom prst="ellipse">
            <a:avLst/>
          </a:prstGeom>
          <a:solidFill>
            <a:srgbClr val="1457A8">
              <a:alpha val="95000"/>
            </a:srgbClr>
          </a:solidFill>
          <a:ln>
            <a:noFill/>
          </a:ln>
        </p:spPr>
      </p:sp>
      <p:sp>
        <p:nvSpPr>
          <p:cNvPr id="43" name="ls04_metric_3_label"/>
          <p:cNvSpPr txBox="1"/>
          <p:nvPr/>
        </p:nvSpPr>
        <p:spPr>
          <a:xfrm>
            <a:off x="7543800" y="3543300"/>
            <a:ext cx="13906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 b="1">
                <a:solidFill>
                  <a:srgbClr val="2C5148"/>
                </a:solidFill>
                <a:latin typeface="Arial Narrow"/>
                <a:ea typeface="Arial Narrow"/>
              </a:rPr>
              <a:t>衰退概率</a:t>
            </a:r>
          </a:p>
        </p:txBody>
      </p:sp>
      <p:sp>
        <p:nvSpPr>
          <p:cNvPr id="44" name="ls04_metric_3_value"/>
          <p:cNvSpPr txBox="1"/>
          <p:nvPr/>
        </p:nvSpPr>
        <p:spPr>
          <a:xfrm>
            <a:off x="7391400" y="3771900"/>
            <a:ext cx="154305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2100" b="1">
                <a:solidFill>
                  <a:srgbClr val="0B2B24"/>
                </a:solidFill>
                <a:latin typeface="Arial Narrow"/>
                <a:ea typeface="Arial Narrow"/>
              </a:rPr>
              <a:t>20%</a:t>
            </a:r>
          </a:p>
        </p:txBody>
      </p:sp>
      <p:sp>
        <p:nvSpPr>
          <p:cNvPr id="45" name="ls04_metric_3_delta"/>
          <p:cNvSpPr txBox="1"/>
          <p:nvPr/>
        </p:nvSpPr>
        <p:spPr>
          <a:xfrm>
            <a:off x="7391400" y="4114800"/>
            <a:ext cx="15430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900">
                <a:solidFill>
                  <a:srgbClr val="1457A8"/>
                </a:solidFill>
                <a:latin typeface="Arial Narrow"/>
                <a:ea typeface="Arial Narrow"/>
              </a:rPr>
              <a:t>盈利下修</a:t>
            </a:r>
          </a:p>
        </p:txBody>
      </p:sp>
      <p:sp>
        <p:nvSpPr>
          <p:cNvPr id="46" name="ls04_scenario_1"/>
          <p:cNvSpPr/>
          <p:nvPr/>
        </p:nvSpPr>
        <p:spPr>
          <a:xfrm>
            <a:off x="5810250" y="4095750"/>
            <a:ext cx="1619250" cy="1143000"/>
          </a:xfrm>
          <a:prstGeom prst="rect">
            <a:avLst/>
          </a:prstGeom>
          <a:solidFill>
            <a:srgbClr val="FBFFF8">
              <a:alpha val="96000"/>
            </a:srgbClr>
          </a:solidFill>
          <a:ln w="9525">
            <a:solidFill>
              <a:srgbClr val="187956">
                <a:alpha val="88000"/>
              </a:srgbClr>
            </a:solidFill>
          </a:ln>
        </p:spPr>
      </p:sp>
      <p:sp>
        <p:nvSpPr>
          <p:cNvPr id="47" name="ls04_scenario_2"/>
          <p:cNvSpPr/>
          <p:nvPr/>
        </p:nvSpPr>
        <p:spPr>
          <a:xfrm>
            <a:off x="7620000" y="4095750"/>
            <a:ext cx="1619250" cy="1143000"/>
          </a:xfrm>
          <a:prstGeom prst="rect">
            <a:avLst/>
          </a:prstGeom>
          <a:solidFill>
            <a:srgbClr val="FBFFF8">
              <a:alpha val="96000"/>
            </a:srgbClr>
          </a:solidFill>
          <a:ln w="9525">
            <a:solidFill>
              <a:srgbClr val="B86414">
                <a:alpha val="88000"/>
              </a:srgbClr>
            </a:solidFill>
          </a:ln>
        </p:spPr>
      </p:sp>
      <p:sp>
        <p:nvSpPr>
          <p:cNvPr id="48" name="ls04_scenario_3"/>
          <p:cNvSpPr/>
          <p:nvPr/>
        </p:nvSpPr>
        <p:spPr>
          <a:xfrm>
            <a:off x="9429750" y="4095750"/>
            <a:ext cx="1619250" cy="1143000"/>
          </a:xfrm>
          <a:prstGeom prst="rect">
            <a:avLst/>
          </a:prstGeom>
          <a:solidFill>
            <a:srgbClr val="FBFFF8">
              <a:alpha val="96000"/>
            </a:srgbClr>
          </a:solidFill>
          <a:ln w="9525">
            <a:solidFill>
              <a:srgbClr val="1457A8">
                <a:alpha val="88000"/>
              </a:srgbClr>
            </a:solidFill>
          </a:ln>
        </p:spPr>
      </p:sp>
      <p:sp>
        <p:nvSpPr>
          <p:cNvPr id="49" name="ls04_scenario_1_name"/>
          <p:cNvSpPr txBox="1"/>
          <p:nvPr/>
        </p:nvSpPr>
        <p:spPr>
          <a:xfrm>
            <a:off x="5924550" y="4229100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457A8"/>
                </a:solidFill>
                <a:latin typeface="Aptos"/>
                <a:ea typeface="Aptos"/>
              </a:rPr>
              <a:t>基准</a:t>
            </a:r>
          </a:p>
        </p:txBody>
      </p:sp>
      <p:sp>
        <p:nvSpPr>
          <p:cNvPr id="50" name="ls04_scenario_2_name"/>
          <p:cNvSpPr txBox="1"/>
          <p:nvPr/>
        </p:nvSpPr>
        <p:spPr>
          <a:xfrm>
            <a:off x="7734300" y="4229100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457A8"/>
                </a:solidFill>
                <a:latin typeface="Aptos"/>
                <a:ea typeface="Aptos"/>
              </a:rPr>
              <a:t>紧缩</a:t>
            </a:r>
          </a:p>
        </p:txBody>
      </p:sp>
      <p:sp>
        <p:nvSpPr>
          <p:cNvPr id="51" name="ls04_scenario_3_name"/>
          <p:cNvSpPr txBox="1"/>
          <p:nvPr/>
        </p:nvSpPr>
        <p:spPr>
          <a:xfrm>
            <a:off x="9544050" y="4229100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200" b="1">
                <a:solidFill>
                  <a:srgbClr val="1457A8"/>
                </a:solidFill>
                <a:latin typeface="Aptos"/>
                <a:ea typeface="Aptos"/>
              </a:rPr>
              <a:t>衰退</a:t>
            </a:r>
          </a:p>
        </p:txBody>
      </p:sp>
      <p:sp>
        <p:nvSpPr>
          <p:cNvPr id="52" name="ls04_scenario_1_impact"/>
          <p:cNvSpPr txBox="1"/>
          <p:nvPr/>
        </p:nvSpPr>
        <p:spPr>
          <a:xfrm>
            <a:off x="5924550" y="4400550"/>
            <a:ext cx="139065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1500" b="1">
                <a:solidFill>
                  <a:srgbClr val="0B2B24"/>
                </a:solidFill>
                <a:latin typeface="Arial Narrow"/>
                <a:ea typeface="Arial Narrow"/>
              </a:rPr>
              <a:t>组合收益 +3.8%</a:t>
            </a:r>
          </a:p>
        </p:txBody>
      </p:sp>
      <p:sp>
        <p:nvSpPr>
          <p:cNvPr id="53" name="ls04_scenario_2_impact"/>
          <p:cNvSpPr txBox="1"/>
          <p:nvPr/>
        </p:nvSpPr>
        <p:spPr>
          <a:xfrm>
            <a:off x="7734300" y="4400550"/>
            <a:ext cx="139065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1500" b="1">
                <a:solidFill>
                  <a:srgbClr val="0B2B24"/>
                </a:solidFill>
                <a:latin typeface="Arial Narrow"/>
                <a:ea typeface="Arial Narrow"/>
              </a:rPr>
              <a:t>回撤 -3.2%</a:t>
            </a:r>
          </a:p>
        </p:txBody>
      </p:sp>
      <p:sp>
        <p:nvSpPr>
          <p:cNvPr id="54" name="ls04_scenario_3_impact"/>
          <p:cNvSpPr txBox="1"/>
          <p:nvPr/>
        </p:nvSpPr>
        <p:spPr>
          <a:xfrm>
            <a:off x="9544050" y="4400550"/>
            <a:ext cx="139065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1500" b="1">
                <a:solidFill>
                  <a:srgbClr val="0B2B24"/>
                </a:solidFill>
                <a:latin typeface="Arial Narrow"/>
                <a:ea typeface="Arial Narrow"/>
              </a:rPr>
              <a:t>回撤 -4.4%</a:t>
            </a:r>
          </a:p>
        </p:txBody>
      </p:sp>
      <p:sp>
        <p:nvSpPr>
          <p:cNvPr id="55" name="ls04_scenario_1_action"/>
          <p:cNvSpPr txBox="1"/>
          <p:nvPr/>
        </p:nvSpPr>
        <p:spPr>
          <a:xfrm>
            <a:off x="5924550" y="5010150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权益分层加仓</a:t>
            </a:r>
          </a:p>
        </p:txBody>
      </p:sp>
      <p:sp>
        <p:nvSpPr>
          <p:cNvPr id="56" name="ls04_scenario_2_action"/>
          <p:cNvSpPr txBox="1"/>
          <p:nvPr/>
        </p:nvSpPr>
        <p:spPr>
          <a:xfrm>
            <a:off x="7734300" y="5010150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黄金+现金对冲</a:t>
            </a:r>
          </a:p>
        </p:txBody>
      </p:sp>
      <p:sp>
        <p:nvSpPr>
          <p:cNvPr id="57" name="ls04_scenario_3_action"/>
          <p:cNvSpPr txBox="1"/>
          <p:nvPr/>
        </p:nvSpPr>
        <p:spPr>
          <a:xfrm>
            <a:off x="9544050" y="5010150"/>
            <a:ext cx="139065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降贝塔回久期</a:t>
            </a:r>
          </a:p>
        </p:txBody>
      </p:sp>
      <p:sp>
        <p:nvSpPr>
          <p:cNvPr id="58" name="ls04_source_band"/>
          <p:cNvSpPr/>
          <p:nvPr/>
        </p:nvSpPr>
        <p:spPr>
          <a:xfrm>
            <a:off x="723900" y="5829300"/>
            <a:ext cx="10744200" cy="57150"/>
          </a:xfrm>
          <a:prstGeom prst="rect">
            <a:avLst/>
          </a:prstGeom>
          <a:solidFill>
            <a:srgbClr val="187956">
              <a:alpha val="34000"/>
            </a:srgbClr>
          </a:solidFill>
          <a:ln>
            <a:noFill/>
          </a:ln>
        </p:spPr>
      </p:sp>
      <p:sp>
        <p:nvSpPr>
          <p:cNvPr id="59" name="ls04_risk_note"/>
          <p:cNvSpPr txBox="1"/>
          <p:nvPr/>
        </p:nvSpPr>
        <p:spPr>
          <a:xfrm>
            <a:off x="800100" y="5981700"/>
            <a:ext cx="10382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8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风险提示：本页观点基于当前宏观、估值、流动性及政策假设形成，不构成收益承诺；市场波动、政策变化、海外利率路径及模型参数变化可能导致配置建议调整。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s05_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CEBE1"/>
          </a:solidFill>
          <a:ln w="9525">
            <a:solidFill>
              <a:srgbClr val="DCEBE1"/>
            </a:solidFill>
          </a:ln>
        </p:spPr>
      </p:sp>
      <p:sp>
        <p:nvSpPr>
          <p:cNvPr id="3" name="ls05_zone_bottom"/>
          <p:cNvSpPr/>
          <p:nvPr/>
        </p:nvSpPr>
        <p:spPr>
          <a:xfrm>
            <a:off x="685800" y="3924300"/>
            <a:ext cx="10839450" cy="1504950"/>
          </a:xfrm>
          <a:prstGeom prst="rect">
            <a:avLst/>
          </a:prstGeom>
          <a:solidFill>
            <a:srgbClr val="BFDCCB">
              <a:alpha val="30000"/>
            </a:srgbClr>
          </a:solidFill>
          <a:ln>
            <a:noFill/>
          </a:ln>
        </p:spPr>
      </p:sp>
      <p:sp>
        <p:nvSpPr>
          <p:cNvPr id="4" name="ls05_zone_left"/>
          <p:cNvSpPr/>
          <p:nvPr/>
        </p:nvSpPr>
        <p:spPr>
          <a:xfrm>
            <a:off x="609600" y="990600"/>
            <a:ext cx="6000750" cy="4762500"/>
          </a:xfrm>
          <a:prstGeom prst="rect">
            <a:avLst/>
          </a:prstGeom>
          <a:solidFill>
            <a:srgbClr val="D2E8DA">
              <a:alpha val="36000"/>
            </a:srgbClr>
          </a:solidFill>
          <a:ln>
            <a:noFill/>
          </a:ln>
        </p:spPr>
      </p:sp>
      <p:sp>
        <p:nvSpPr>
          <p:cNvPr id="5" name="ls05_zone_right"/>
          <p:cNvSpPr/>
          <p:nvPr/>
        </p:nvSpPr>
        <p:spPr>
          <a:xfrm>
            <a:off x="6953250" y="1924050"/>
            <a:ext cx="4476750" cy="3143250"/>
          </a:xfrm>
          <a:prstGeom prst="rect">
            <a:avLst/>
          </a:prstGeom>
          <a:solidFill>
            <a:srgbClr val="FBFFF8">
              <a:alpha val="72000"/>
            </a:srgbClr>
          </a:solidFill>
          <a:ln w="9525">
            <a:solidFill>
              <a:srgbClr val="4E927E">
                <a:alpha val="35000"/>
              </a:srgbClr>
            </a:solidFill>
          </a:ln>
        </p:spPr>
      </p:sp>
      <p:sp>
        <p:nvSpPr>
          <p:cNvPr id="6" name="ls05_grid_h_118"/>
          <p:cNvSpPr/>
          <p:nvPr/>
        </p:nvSpPr>
        <p:spPr>
          <a:xfrm>
            <a:off x="609600" y="1123950"/>
            <a:ext cx="10972800" cy="9525"/>
          </a:xfrm>
          <a:prstGeom prst="rect">
            <a:avLst/>
          </a:prstGeom>
          <a:solidFill>
            <a:srgbClr val="579A86">
              <a:alpha val="9000"/>
            </a:srgbClr>
          </a:solidFill>
          <a:ln>
            <a:noFill/>
          </a:ln>
        </p:spPr>
      </p:sp>
      <p:sp>
        <p:nvSpPr>
          <p:cNvPr id="7" name="ls05_grid_h_238"/>
          <p:cNvSpPr/>
          <p:nvPr/>
        </p:nvSpPr>
        <p:spPr>
          <a:xfrm>
            <a:off x="609600" y="2266950"/>
            <a:ext cx="10972800" cy="9525"/>
          </a:xfrm>
          <a:prstGeom prst="rect">
            <a:avLst/>
          </a:prstGeom>
          <a:solidFill>
            <a:srgbClr val="579A86">
              <a:alpha val="9000"/>
            </a:srgbClr>
          </a:solidFill>
          <a:ln>
            <a:noFill/>
          </a:ln>
        </p:spPr>
      </p:sp>
      <p:sp>
        <p:nvSpPr>
          <p:cNvPr id="8" name="ls05_grid_h_358"/>
          <p:cNvSpPr/>
          <p:nvPr/>
        </p:nvSpPr>
        <p:spPr>
          <a:xfrm>
            <a:off x="609600" y="3409950"/>
            <a:ext cx="10972800" cy="9525"/>
          </a:xfrm>
          <a:prstGeom prst="rect">
            <a:avLst/>
          </a:prstGeom>
          <a:solidFill>
            <a:srgbClr val="579A86">
              <a:alpha val="9000"/>
            </a:srgbClr>
          </a:solidFill>
          <a:ln>
            <a:noFill/>
          </a:ln>
        </p:spPr>
      </p:sp>
      <p:sp>
        <p:nvSpPr>
          <p:cNvPr id="9" name="ls05_grid_h_478"/>
          <p:cNvSpPr/>
          <p:nvPr/>
        </p:nvSpPr>
        <p:spPr>
          <a:xfrm>
            <a:off x="609600" y="4552950"/>
            <a:ext cx="10972800" cy="9525"/>
          </a:xfrm>
          <a:prstGeom prst="rect">
            <a:avLst/>
          </a:prstGeom>
          <a:solidFill>
            <a:srgbClr val="579A86">
              <a:alpha val="9000"/>
            </a:srgbClr>
          </a:solidFill>
          <a:ln>
            <a:noFill/>
          </a:ln>
        </p:spPr>
      </p:sp>
      <p:sp>
        <p:nvSpPr>
          <p:cNvPr id="10" name="ls05_grid_h_598"/>
          <p:cNvSpPr/>
          <p:nvPr/>
        </p:nvSpPr>
        <p:spPr>
          <a:xfrm>
            <a:off x="609600" y="5695950"/>
            <a:ext cx="10972800" cy="9525"/>
          </a:xfrm>
          <a:prstGeom prst="rect">
            <a:avLst/>
          </a:prstGeom>
          <a:solidFill>
            <a:srgbClr val="579A86">
              <a:alpha val="9000"/>
            </a:srgbClr>
          </a:solidFill>
          <a:ln>
            <a:noFill/>
          </a:ln>
        </p:spPr>
      </p:sp>
      <p:sp>
        <p:nvSpPr>
          <p:cNvPr id="11" name="ls05_grid_v_1056"/>
          <p:cNvSpPr/>
          <p:nvPr/>
        </p:nvSpPr>
        <p:spPr>
          <a:xfrm>
            <a:off x="10058400" y="495300"/>
            <a:ext cx="9525" cy="5619750"/>
          </a:xfrm>
          <a:prstGeom prst="rect">
            <a:avLst/>
          </a:prstGeom>
          <a:solidFill>
            <a:srgbClr val="579A86">
              <a:alpha val="10000"/>
            </a:srgbClr>
          </a:solidFill>
          <a:ln>
            <a:noFill/>
          </a:ln>
        </p:spPr>
      </p:sp>
      <p:sp>
        <p:nvSpPr>
          <p:cNvPr id="12" name="ls05_grid_v_1216"/>
          <p:cNvSpPr/>
          <p:nvPr/>
        </p:nvSpPr>
        <p:spPr>
          <a:xfrm>
            <a:off x="11582400" y="495300"/>
            <a:ext cx="9525" cy="5619750"/>
          </a:xfrm>
          <a:prstGeom prst="rect">
            <a:avLst/>
          </a:prstGeom>
          <a:solidFill>
            <a:srgbClr val="579A86">
              <a:alpha val="10000"/>
            </a:srgbClr>
          </a:solidFill>
          <a:ln>
            <a:noFill/>
          </a:ln>
        </p:spPr>
      </p:sp>
      <p:sp>
        <p:nvSpPr>
          <p:cNvPr id="13" name="ls05_grid_v_256"/>
          <p:cNvSpPr/>
          <p:nvPr/>
        </p:nvSpPr>
        <p:spPr>
          <a:xfrm>
            <a:off x="2438400" y="495300"/>
            <a:ext cx="9525" cy="5619750"/>
          </a:xfrm>
          <a:prstGeom prst="rect">
            <a:avLst/>
          </a:prstGeom>
          <a:solidFill>
            <a:srgbClr val="579A86">
              <a:alpha val="10000"/>
            </a:srgbClr>
          </a:solidFill>
          <a:ln>
            <a:noFill/>
          </a:ln>
        </p:spPr>
      </p:sp>
      <p:sp>
        <p:nvSpPr>
          <p:cNvPr id="14" name="ls05_grid_v_416"/>
          <p:cNvSpPr/>
          <p:nvPr/>
        </p:nvSpPr>
        <p:spPr>
          <a:xfrm>
            <a:off x="3962400" y="495300"/>
            <a:ext cx="9525" cy="5619750"/>
          </a:xfrm>
          <a:prstGeom prst="rect">
            <a:avLst/>
          </a:prstGeom>
          <a:solidFill>
            <a:srgbClr val="579A86">
              <a:alpha val="10000"/>
            </a:srgbClr>
          </a:solidFill>
          <a:ln>
            <a:noFill/>
          </a:ln>
        </p:spPr>
      </p:sp>
      <p:sp>
        <p:nvSpPr>
          <p:cNvPr id="15" name="ls05_grid_v_576"/>
          <p:cNvSpPr/>
          <p:nvPr/>
        </p:nvSpPr>
        <p:spPr>
          <a:xfrm>
            <a:off x="5486400" y="495300"/>
            <a:ext cx="9525" cy="5619750"/>
          </a:xfrm>
          <a:prstGeom prst="rect">
            <a:avLst/>
          </a:prstGeom>
          <a:solidFill>
            <a:srgbClr val="579A86">
              <a:alpha val="10000"/>
            </a:srgbClr>
          </a:solidFill>
          <a:ln>
            <a:noFill/>
          </a:ln>
        </p:spPr>
      </p:sp>
      <p:sp>
        <p:nvSpPr>
          <p:cNvPr id="16" name="ls05_grid_v_736"/>
          <p:cNvSpPr/>
          <p:nvPr/>
        </p:nvSpPr>
        <p:spPr>
          <a:xfrm>
            <a:off x="7010400" y="495300"/>
            <a:ext cx="9525" cy="5619750"/>
          </a:xfrm>
          <a:prstGeom prst="rect">
            <a:avLst/>
          </a:prstGeom>
          <a:solidFill>
            <a:srgbClr val="579A86">
              <a:alpha val="10000"/>
            </a:srgbClr>
          </a:solidFill>
          <a:ln>
            <a:noFill/>
          </a:ln>
        </p:spPr>
      </p:sp>
      <p:sp>
        <p:nvSpPr>
          <p:cNvPr id="17" name="ls05_grid_v_896"/>
          <p:cNvSpPr/>
          <p:nvPr/>
        </p:nvSpPr>
        <p:spPr>
          <a:xfrm>
            <a:off x="8534400" y="495300"/>
            <a:ext cx="9525" cy="5619750"/>
          </a:xfrm>
          <a:prstGeom prst="rect">
            <a:avLst/>
          </a:prstGeom>
          <a:solidFill>
            <a:srgbClr val="579A86">
              <a:alpha val="10000"/>
            </a:srgbClr>
          </a:solidFill>
          <a:ln>
            <a:noFill/>
          </a:ln>
        </p:spPr>
      </p:sp>
      <p:sp>
        <p:nvSpPr>
          <p:cNvPr id="18" name="ls05_grid_v_96"/>
          <p:cNvSpPr/>
          <p:nvPr/>
        </p:nvSpPr>
        <p:spPr>
          <a:xfrm>
            <a:off x="914400" y="495300"/>
            <a:ext cx="9525" cy="5619750"/>
          </a:xfrm>
          <a:prstGeom prst="rect">
            <a:avLst/>
          </a:prstGeom>
          <a:solidFill>
            <a:srgbClr val="579A86">
              <a:alpha val="10000"/>
            </a:srgbClr>
          </a:solidFill>
          <a:ln>
            <a:noFill/>
          </a:ln>
        </p:spPr>
      </p:sp>
      <p:sp>
        <p:nvSpPr>
          <p:cNvPr id="19" name="ls05_folio"/>
          <p:cNvSpPr txBox="1"/>
          <p:nvPr/>
        </p:nvSpPr>
        <p:spPr>
          <a:xfrm>
            <a:off x="762000" y="514350"/>
            <a:ext cx="2857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2C5148"/>
                </a:solidFill>
                <a:latin typeface="Aptos"/>
                <a:ea typeface="Aptos"/>
              </a:rPr>
              <a:t>MARKET ATLAS / ZONE-05</a:t>
            </a:r>
          </a:p>
        </p:txBody>
      </p:sp>
      <p:sp>
        <p:nvSpPr>
          <p:cNvPr id="20" name="ls05_legend_1"/>
          <p:cNvSpPr txBox="1"/>
          <p:nvPr/>
        </p:nvSpPr>
        <p:spPr>
          <a:xfrm>
            <a:off x="7239000" y="1962150"/>
            <a:ext cx="15240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 b="1">
                <a:solidFill>
                  <a:srgbClr val="2C5148"/>
                </a:solidFill>
                <a:latin typeface="Aptos"/>
                <a:ea typeface="Aptos"/>
              </a:rPr>
              <a:t>SIGNAL FIELD</a:t>
            </a:r>
          </a:p>
        </p:txBody>
      </p:sp>
      <p:sp>
        <p:nvSpPr>
          <p:cNvPr id="21" name="ls05_legend_2"/>
          <p:cNvSpPr txBox="1"/>
          <p:nvPr/>
        </p:nvSpPr>
        <p:spPr>
          <a:xfrm>
            <a:off x="876300" y="3829050"/>
            <a:ext cx="209550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26000"/>
              </a:lnSpc>
            </a:pPr>
            <a:r>
              <a:rPr lang="zh-CN" sz="900" b="1">
                <a:solidFill>
                  <a:srgbClr val="187956"/>
                </a:solidFill>
                <a:latin typeface="Aptos"/>
                <a:ea typeface="Aptos"/>
              </a:rPr>
              <a:t>ALLOCATION ROUTE</a:t>
            </a:r>
          </a:p>
        </p:txBody>
      </p:sp>
      <p:sp>
        <p:nvSpPr>
          <p:cNvPr id="22" name="ls05_kicker"/>
          <p:cNvSpPr txBox="1"/>
          <p:nvPr/>
        </p:nvSpPr>
        <p:spPr>
          <a:xfrm>
            <a:off x="781050" y="8001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100" b="1">
                <a:solidFill>
                  <a:srgbClr val="1457A8"/>
                </a:solidFill>
                <a:latin typeface="Aptos Display"/>
                <a:ea typeface="Aptos Display"/>
              </a:rPr>
              <a:t>Execution Path / visual-language-demo</a:t>
            </a:r>
          </a:p>
        </p:txBody>
      </p:sp>
      <p:sp>
        <p:nvSpPr>
          <p:cNvPr id="23" name="ls05_title"/>
          <p:cNvSpPr txBox="1"/>
          <p:nvPr/>
        </p:nvSpPr>
        <p:spPr>
          <a:xfrm>
            <a:off x="781050" y="1066800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0B2B24"/>
                </a:solidFill>
                <a:latin typeface="Aptos Display"/>
                <a:ea typeface="Aptos Display"/>
              </a:rPr>
              <a:t>执行路径四步：观察、加仓、对冲、再平衡</a:t>
            </a:r>
          </a:p>
        </p:txBody>
      </p:sp>
      <p:sp>
        <p:nvSpPr>
          <p:cNvPr id="24" name="ls05_subtitle"/>
          <p:cNvSpPr txBox="1"/>
          <p:nvPr/>
        </p:nvSpPr>
        <p:spPr>
          <a:xfrm>
            <a:off x="800100" y="1809750"/>
            <a:ext cx="533400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200">
                <a:solidFill>
                  <a:srgbClr val="2C5148"/>
                </a:solidFill>
                <a:latin typeface="Aptos"/>
                <a:ea typeface="Aptos"/>
              </a:rPr>
              <a:t>每一步绑定触发条件、风险预算和复盘节奏，避免把观点直接等同于交易。</a:t>
            </a:r>
          </a:p>
        </p:txBody>
      </p:sp>
      <p:sp>
        <p:nvSpPr>
          <p:cNvPr id="25" name="ls05_body_1"/>
          <p:cNvSpPr txBox="1"/>
          <p:nvPr/>
        </p:nvSpPr>
        <p:spPr>
          <a:xfrm>
            <a:off x="838200" y="2266950"/>
            <a:ext cx="4476750" cy="463296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400">
                <a:solidFill>
                  <a:srgbClr val="0B2B24"/>
                </a:solidFill>
                <a:latin typeface="Aptos"/>
                <a:ea typeface="Aptos"/>
              </a:rPr>
              <a:t>每一步都必须绑定触发条件，避免把观点直接等同于交易。</a:t>
            </a:r>
          </a:p>
        </p:txBody>
      </p:sp>
      <p:sp>
        <p:nvSpPr>
          <p:cNvPr id="26" name="ls05_metric_1_chip"/>
          <p:cNvSpPr/>
          <p:nvPr/>
        </p:nvSpPr>
        <p:spPr>
          <a:xfrm>
            <a:off x="7067550" y="2209800"/>
            <a:ext cx="1314450" cy="781050"/>
          </a:xfrm>
          <a:prstGeom prst="roundRect">
            <a:avLst/>
          </a:prstGeom>
          <a:solidFill>
            <a:srgbClr val="FBFFF8">
              <a:alpha val="72000"/>
            </a:srgbClr>
          </a:solidFill>
          <a:ln w="9525">
            <a:solidFill>
              <a:srgbClr val="187956">
                <a:alpha val="58000"/>
              </a:srgbClr>
            </a:solidFill>
          </a:ln>
        </p:spPr>
      </p:sp>
      <p:sp>
        <p:nvSpPr>
          <p:cNvPr id="27" name="ls05_metric_1_label"/>
          <p:cNvSpPr txBox="1"/>
          <p:nvPr/>
        </p:nvSpPr>
        <p:spPr>
          <a:xfrm>
            <a:off x="7181850" y="22860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800" b="1">
                <a:solidFill>
                  <a:srgbClr val="2C5148"/>
                </a:solidFill>
                <a:latin typeface="Arial Narrow"/>
                <a:ea typeface="Arial Narrow"/>
              </a:rPr>
              <a:t>观察期</a:t>
            </a:r>
          </a:p>
        </p:txBody>
      </p:sp>
      <p:sp>
        <p:nvSpPr>
          <p:cNvPr id="28" name="ls05_metric_1_value"/>
          <p:cNvSpPr txBox="1"/>
          <p:nvPr/>
        </p:nvSpPr>
        <p:spPr>
          <a:xfrm>
            <a:off x="7181850" y="2476500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1700" b="1">
                <a:solidFill>
                  <a:srgbClr val="0B2B24"/>
                </a:solidFill>
                <a:latin typeface="Arial Narrow"/>
                <a:ea typeface="Arial Narrow"/>
              </a:rPr>
              <a:t>2周</a:t>
            </a:r>
          </a:p>
        </p:txBody>
      </p:sp>
      <p:sp>
        <p:nvSpPr>
          <p:cNvPr id="29" name="ls05_metric_1_delta"/>
          <p:cNvSpPr txBox="1"/>
          <p:nvPr/>
        </p:nvSpPr>
        <p:spPr>
          <a:xfrm>
            <a:off x="7181850" y="2724150"/>
            <a:ext cx="10858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800">
                <a:solidFill>
                  <a:srgbClr val="187956"/>
                </a:solidFill>
                <a:latin typeface="Arial Narrow"/>
                <a:ea typeface="Arial Narrow"/>
              </a:rPr>
              <a:t>PMI/社融/盈利验证</a:t>
            </a:r>
          </a:p>
        </p:txBody>
      </p:sp>
      <p:sp>
        <p:nvSpPr>
          <p:cNvPr id="30" name="ls05_metric_2_chip"/>
          <p:cNvSpPr/>
          <p:nvPr/>
        </p:nvSpPr>
        <p:spPr>
          <a:xfrm>
            <a:off x="8553450" y="2209800"/>
            <a:ext cx="1314450" cy="781050"/>
          </a:xfrm>
          <a:prstGeom prst="roundRect">
            <a:avLst/>
          </a:prstGeom>
          <a:solidFill>
            <a:srgbClr val="FBFFF8">
              <a:alpha val="72000"/>
            </a:srgbClr>
          </a:solidFill>
          <a:ln w="9525">
            <a:solidFill>
              <a:srgbClr val="1457A8">
                <a:alpha val="58000"/>
              </a:srgbClr>
            </a:solidFill>
          </a:ln>
        </p:spPr>
      </p:sp>
      <p:sp>
        <p:nvSpPr>
          <p:cNvPr id="31" name="ls05_metric_2_label"/>
          <p:cNvSpPr txBox="1"/>
          <p:nvPr/>
        </p:nvSpPr>
        <p:spPr>
          <a:xfrm>
            <a:off x="8667750" y="22860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800" b="1">
                <a:solidFill>
                  <a:srgbClr val="2C5148"/>
                </a:solidFill>
                <a:latin typeface="Arial Narrow"/>
                <a:ea typeface="Arial Narrow"/>
              </a:rPr>
              <a:t>加仓期</a:t>
            </a:r>
          </a:p>
        </p:txBody>
      </p:sp>
      <p:sp>
        <p:nvSpPr>
          <p:cNvPr id="32" name="ls05_metric_2_value"/>
          <p:cNvSpPr txBox="1"/>
          <p:nvPr/>
        </p:nvSpPr>
        <p:spPr>
          <a:xfrm>
            <a:off x="8667750" y="2476500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1700" b="1">
                <a:solidFill>
                  <a:srgbClr val="0B2B24"/>
                </a:solidFill>
                <a:latin typeface="Arial Narrow"/>
                <a:ea typeface="Arial Narrow"/>
              </a:rPr>
              <a:t>4周</a:t>
            </a:r>
          </a:p>
        </p:txBody>
      </p:sp>
      <p:sp>
        <p:nvSpPr>
          <p:cNvPr id="33" name="ls05_metric_2_delta"/>
          <p:cNvSpPr txBox="1"/>
          <p:nvPr/>
        </p:nvSpPr>
        <p:spPr>
          <a:xfrm>
            <a:off x="8667750" y="2724150"/>
            <a:ext cx="10858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800">
                <a:solidFill>
                  <a:srgbClr val="1457A8"/>
                </a:solidFill>
                <a:latin typeface="Arial Narrow"/>
                <a:ea typeface="Arial Narrow"/>
              </a:rPr>
              <a:t>单周风险预算≤8%</a:t>
            </a:r>
          </a:p>
        </p:txBody>
      </p:sp>
      <p:sp>
        <p:nvSpPr>
          <p:cNvPr id="34" name="ls05_metric_3_chip"/>
          <p:cNvSpPr/>
          <p:nvPr/>
        </p:nvSpPr>
        <p:spPr>
          <a:xfrm>
            <a:off x="10039350" y="2209800"/>
            <a:ext cx="1314450" cy="781050"/>
          </a:xfrm>
          <a:prstGeom prst="roundRect">
            <a:avLst/>
          </a:prstGeom>
          <a:solidFill>
            <a:srgbClr val="FBFFF8">
              <a:alpha val="72000"/>
            </a:srgbClr>
          </a:solidFill>
          <a:ln w="9525">
            <a:solidFill>
              <a:srgbClr val="B86414">
                <a:alpha val="58000"/>
              </a:srgbClr>
            </a:solidFill>
          </a:ln>
        </p:spPr>
      </p:sp>
      <p:sp>
        <p:nvSpPr>
          <p:cNvPr id="35" name="ls05_metric_3_label"/>
          <p:cNvSpPr txBox="1"/>
          <p:nvPr/>
        </p:nvSpPr>
        <p:spPr>
          <a:xfrm>
            <a:off x="10153650" y="2286000"/>
            <a:ext cx="108585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800" b="1">
                <a:solidFill>
                  <a:srgbClr val="2C5148"/>
                </a:solidFill>
                <a:latin typeface="Arial Narrow"/>
                <a:ea typeface="Arial Narrow"/>
              </a:rPr>
              <a:t>对冲/再平衡</a:t>
            </a:r>
          </a:p>
        </p:txBody>
      </p:sp>
      <p:sp>
        <p:nvSpPr>
          <p:cNvPr id="36" name="ls05_metric_3_value"/>
          <p:cNvSpPr txBox="1"/>
          <p:nvPr/>
        </p:nvSpPr>
        <p:spPr>
          <a:xfrm>
            <a:off x="10153650" y="2476500"/>
            <a:ext cx="10858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1700" b="1">
                <a:solidFill>
                  <a:srgbClr val="0B2B24"/>
                </a:solidFill>
                <a:latin typeface="Arial Narrow"/>
                <a:ea typeface="Arial Narrow"/>
              </a:rPr>
              <a:t>月度</a:t>
            </a:r>
          </a:p>
        </p:txBody>
      </p:sp>
      <p:sp>
        <p:nvSpPr>
          <p:cNvPr id="37" name="ls05_metric_3_delta"/>
          <p:cNvSpPr txBox="1"/>
          <p:nvPr/>
        </p:nvSpPr>
        <p:spPr>
          <a:xfrm>
            <a:off x="10153650" y="2724150"/>
            <a:ext cx="10858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2000"/>
              </a:lnSpc>
            </a:pPr>
            <a:r>
              <a:rPr lang="zh-CN" sz="800">
                <a:solidFill>
                  <a:srgbClr val="B86414"/>
                </a:solidFill>
                <a:latin typeface="Arial Narrow"/>
                <a:ea typeface="Arial Narrow"/>
              </a:rPr>
              <a:t>偏离阈值即调整</a:t>
            </a:r>
          </a:p>
        </p:txBody>
      </p:sp>
      <p:sp>
        <p:nvSpPr>
          <p:cNvPr id="38" name="ls05_process_route_1"/>
          <p:cNvSpPr/>
          <p:nvPr/>
        </p:nvSpPr>
        <p:spPr>
          <a:xfrm>
            <a:off x="1581150" y="3771900"/>
            <a:ext cx="2514600" cy="47625"/>
          </a:xfrm>
          <a:prstGeom prst="rect">
            <a:avLst/>
          </a:prstGeom>
          <a:solidFill>
            <a:srgbClr val="187956">
              <a:alpha val="24000"/>
            </a:srgbClr>
          </a:solidFill>
          <a:ln>
            <a:noFill/>
          </a:ln>
        </p:spPr>
      </p:sp>
      <p:sp>
        <p:nvSpPr>
          <p:cNvPr id="39" name="ls05_process_route_2"/>
          <p:cNvSpPr/>
          <p:nvPr/>
        </p:nvSpPr>
        <p:spPr>
          <a:xfrm>
            <a:off x="3581400" y="3771900"/>
            <a:ext cx="2514600" cy="47625"/>
          </a:xfrm>
          <a:prstGeom prst="rect">
            <a:avLst/>
          </a:prstGeom>
          <a:solidFill>
            <a:srgbClr val="187956">
              <a:alpha val="24000"/>
            </a:srgbClr>
          </a:solidFill>
          <a:ln>
            <a:noFill/>
          </a:ln>
        </p:spPr>
      </p:sp>
      <p:sp>
        <p:nvSpPr>
          <p:cNvPr id="40" name="ls05_process_route_3"/>
          <p:cNvSpPr/>
          <p:nvPr/>
        </p:nvSpPr>
        <p:spPr>
          <a:xfrm>
            <a:off x="5581650" y="3771900"/>
            <a:ext cx="2514600" cy="47625"/>
          </a:xfrm>
          <a:prstGeom prst="rect">
            <a:avLst/>
          </a:prstGeom>
          <a:solidFill>
            <a:srgbClr val="187956">
              <a:alpha val="24000"/>
            </a:srgbClr>
          </a:solidFill>
          <a:ln>
            <a:noFill/>
          </a:ln>
        </p:spPr>
      </p:sp>
      <p:sp>
        <p:nvSpPr>
          <p:cNvPr id="41" name="ls05_process_1_tile"/>
          <p:cNvSpPr/>
          <p:nvPr/>
        </p:nvSpPr>
        <p:spPr>
          <a:xfrm>
            <a:off x="876300" y="3429000"/>
            <a:ext cx="1752600" cy="1257300"/>
          </a:xfrm>
          <a:prstGeom prst="roundRect">
            <a:avLst/>
          </a:prstGeom>
          <a:solidFill>
            <a:srgbClr val="FBFFF8">
              <a:alpha val="96000"/>
            </a:srgbClr>
          </a:solidFill>
          <a:ln w="9525">
            <a:solidFill>
              <a:srgbClr val="579A86">
                <a:alpha val="78000"/>
              </a:srgbClr>
            </a:solidFill>
          </a:ln>
        </p:spPr>
      </p:sp>
      <p:sp>
        <p:nvSpPr>
          <p:cNvPr id="42" name="ls05_process_2_tile"/>
          <p:cNvSpPr/>
          <p:nvPr/>
        </p:nvSpPr>
        <p:spPr>
          <a:xfrm>
            <a:off x="2876550" y="4171950"/>
            <a:ext cx="1752600" cy="1257300"/>
          </a:xfrm>
          <a:prstGeom prst="roundRect">
            <a:avLst/>
          </a:prstGeom>
          <a:solidFill>
            <a:srgbClr val="FBFFF8">
              <a:alpha val="96000"/>
            </a:srgbClr>
          </a:solidFill>
          <a:ln w="9525">
            <a:solidFill>
              <a:srgbClr val="579A86">
                <a:alpha val="78000"/>
              </a:srgbClr>
            </a:solidFill>
          </a:ln>
        </p:spPr>
      </p:sp>
      <p:sp>
        <p:nvSpPr>
          <p:cNvPr id="43" name="ls05_process_1_node"/>
          <p:cNvSpPr/>
          <p:nvPr/>
        </p:nvSpPr>
        <p:spPr>
          <a:xfrm>
            <a:off x="990600" y="3543300"/>
            <a:ext cx="152400" cy="152400"/>
          </a:xfrm>
          <a:prstGeom prst="ellipse">
            <a:avLst/>
          </a:prstGeom>
          <a:solidFill>
            <a:srgbClr val="1457A8">
              <a:alpha val="90000"/>
            </a:srgbClr>
          </a:solidFill>
          <a:ln>
            <a:noFill/>
          </a:ln>
        </p:spPr>
      </p:sp>
      <p:sp>
        <p:nvSpPr>
          <p:cNvPr id="44" name="ls05_process_3_tile"/>
          <p:cNvSpPr/>
          <p:nvPr/>
        </p:nvSpPr>
        <p:spPr>
          <a:xfrm>
            <a:off x="4876800" y="3429000"/>
            <a:ext cx="1752600" cy="1257300"/>
          </a:xfrm>
          <a:prstGeom prst="roundRect">
            <a:avLst/>
          </a:prstGeom>
          <a:solidFill>
            <a:srgbClr val="FBFFF8">
              <a:alpha val="96000"/>
            </a:srgbClr>
          </a:solidFill>
          <a:ln w="9525">
            <a:solidFill>
              <a:srgbClr val="579A86">
                <a:alpha val="78000"/>
              </a:srgbClr>
            </a:solidFill>
          </a:ln>
        </p:spPr>
      </p:sp>
      <p:sp>
        <p:nvSpPr>
          <p:cNvPr id="45" name="ls05_process_2_node"/>
          <p:cNvSpPr/>
          <p:nvPr/>
        </p:nvSpPr>
        <p:spPr>
          <a:xfrm>
            <a:off x="2990850" y="4286250"/>
            <a:ext cx="152400" cy="152400"/>
          </a:xfrm>
          <a:prstGeom prst="ellipse">
            <a:avLst/>
          </a:prstGeom>
          <a:solidFill>
            <a:srgbClr val="1457A8">
              <a:alpha val="90000"/>
            </a:srgbClr>
          </a:solidFill>
          <a:ln>
            <a:noFill/>
          </a:ln>
        </p:spPr>
      </p:sp>
      <p:sp>
        <p:nvSpPr>
          <p:cNvPr id="46" name="ls05_process_4_tile"/>
          <p:cNvSpPr/>
          <p:nvPr/>
        </p:nvSpPr>
        <p:spPr>
          <a:xfrm>
            <a:off x="6877050" y="4171950"/>
            <a:ext cx="1752600" cy="1257300"/>
          </a:xfrm>
          <a:prstGeom prst="roundRect">
            <a:avLst/>
          </a:prstGeom>
          <a:solidFill>
            <a:srgbClr val="FBFFF8">
              <a:alpha val="96000"/>
            </a:srgbClr>
          </a:solidFill>
          <a:ln w="9525">
            <a:solidFill>
              <a:srgbClr val="579A86">
                <a:alpha val="78000"/>
              </a:srgbClr>
            </a:solidFill>
          </a:ln>
        </p:spPr>
      </p:sp>
      <p:sp>
        <p:nvSpPr>
          <p:cNvPr id="47" name="ls05_process_1_num"/>
          <p:cNvSpPr txBox="1"/>
          <p:nvPr/>
        </p:nvSpPr>
        <p:spPr>
          <a:xfrm>
            <a:off x="1219200" y="3524250"/>
            <a:ext cx="3238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1457A8"/>
                </a:solidFill>
                <a:latin typeface="Aptos"/>
                <a:ea typeface="Aptos"/>
              </a:rPr>
              <a:t>01</a:t>
            </a:r>
          </a:p>
        </p:txBody>
      </p:sp>
      <p:sp>
        <p:nvSpPr>
          <p:cNvPr id="48" name="ls05_process_3_node"/>
          <p:cNvSpPr/>
          <p:nvPr/>
        </p:nvSpPr>
        <p:spPr>
          <a:xfrm>
            <a:off x="4991100" y="3543300"/>
            <a:ext cx="152400" cy="152400"/>
          </a:xfrm>
          <a:prstGeom prst="ellipse">
            <a:avLst/>
          </a:prstGeom>
          <a:solidFill>
            <a:srgbClr val="1457A8">
              <a:alpha val="90000"/>
            </a:srgbClr>
          </a:solidFill>
          <a:ln>
            <a:noFill/>
          </a:ln>
        </p:spPr>
      </p:sp>
      <p:sp>
        <p:nvSpPr>
          <p:cNvPr id="49" name="ls05_process_2_num"/>
          <p:cNvSpPr txBox="1"/>
          <p:nvPr/>
        </p:nvSpPr>
        <p:spPr>
          <a:xfrm>
            <a:off x="3219450" y="4267200"/>
            <a:ext cx="3238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1457A8"/>
                </a:solidFill>
                <a:latin typeface="Aptos"/>
                <a:ea typeface="Aptos"/>
              </a:rPr>
              <a:t>02</a:t>
            </a:r>
          </a:p>
        </p:txBody>
      </p:sp>
      <p:sp>
        <p:nvSpPr>
          <p:cNvPr id="50" name="ls05_process_4_node"/>
          <p:cNvSpPr/>
          <p:nvPr/>
        </p:nvSpPr>
        <p:spPr>
          <a:xfrm>
            <a:off x="6991350" y="4286250"/>
            <a:ext cx="152400" cy="152400"/>
          </a:xfrm>
          <a:prstGeom prst="ellipse">
            <a:avLst/>
          </a:prstGeom>
          <a:solidFill>
            <a:srgbClr val="1457A8">
              <a:alpha val="90000"/>
            </a:srgbClr>
          </a:solidFill>
          <a:ln>
            <a:noFill/>
          </a:ln>
        </p:spPr>
      </p:sp>
      <p:sp>
        <p:nvSpPr>
          <p:cNvPr id="51" name="ls05_process_1_title"/>
          <p:cNvSpPr txBox="1"/>
          <p:nvPr/>
        </p:nvSpPr>
        <p:spPr>
          <a:xfrm>
            <a:off x="1600200" y="3524250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0B2B24"/>
                </a:solidFill>
                <a:latin typeface="Aptos"/>
                <a:ea typeface="Aptos"/>
              </a:rPr>
              <a:t>观察</a:t>
            </a:r>
          </a:p>
        </p:txBody>
      </p:sp>
      <p:sp>
        <p:nvSpPr>
          <p:cNvPr id="52" name="ls05_process_3_num"/>
          <p:cNvSpPr txBox="1"/>
          <p:nvPr/>
        </p:nvSpPr>
        <p:spPr>
          <a:xfrm>
            <a:off x="5219700" y="3524250"/>
            <a:ext cx="3238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1457A8"/>
                </a:solidFill>
                <a:latin typeface="Aptos"/>
                <a:ea typeface="Aptos"/>
              </a:rPr>
              <a:t>03</a:t>
            </a:r>
          </a:p>
        </p:txBody>
      </p:sp>
      <p:sp>
        <p:nvSpPr>
          <p:cNvPr id="53" name="ls05_process_2_title"/>
          <p:cNvSpPr txBox="1"/>
          <p:nvPr/>
        </p:nvSpPr>
        <p:spPr>
          <a:xfrm>
            <a:off x="3600450" y="4267200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0B2B24"/>
                </a:solidFill>
                <a:latin typeface="Aptos"/>
                <a:ea typeface="Aptos"/>
              </a:rPr>
              <a:t>加仓</a:t>
            </a:r>
          </a:p>
        </p:txBody>
      </p:sp>
      <p:sp>
        <p:nvSpPr>
          <p:cNvPr id="54" name="ls05_process_4_num"/>
          <p:cNvSpPr txBox="1"/>
          <p:nvPr/>
        </p:nvSpPr>
        <p:spPr>
          <a:xfrm>
            <a:off x="7219950" y="4267200"/>
            <a:ext cx="323850" cy="1714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1457A8"/>
                </a:solidFill>
                <a:latin typeface="Aptos"/>
                <a:ea typeface="Aptos"/>
              </a:rPr>
              <a:t>04</a:t>
            </a:r>
          </a:p>
        </p:txBody>
      </p:sp>
      <p:sp>
        <p:nvSpPr>
          <p:cNvPr id="55" name="ls05_process_3_title"/>
          <p:cNvSpPr txBox="1"/>
          <p:nvPr/>
        </p:nvSpPr>
        <p:spPr>
          <a:xfrm>
            <a:off x="5600700" y="3524250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0B2B24"/>
                </a:solidFill>
                <a:latin typeface="Aptos"/>
                <a:ea typeface="Aptos"/>
              </a:rPr>
              <a:t>对冲</a:t>
            </a:r>
          </a:p>
        </p:txBody>
      </p:sp>
      <p:sp>
        <p:nvSpPr>
          <p:cNvPr id="56" name="ls05_process_4_title"/>
          <p:cNvSpPr txBox="1"/>
          <p:nvPr/>
        </p:nvSpPr>
        <p:spPr>
          <a:xfrm>
            <a:off x="7600950" y="4267200"/>
            <a:ext cx="876300" cy="190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 b="1">
                <a:solidFill>
                  <a:srgbClr val="0B2B24"/>
                </a:solidFill>
                <a:latin typeface="Aptos"/>
                <a:ea typeface="Aptos"/>
              </a:rPr>
              <a:t>再平衡</a:t>
            </a:r>
          </a:p>
        </p:txBody>
      </p:sp>
      <p:sp>
        <p:nvSpPr>
          <p:cNvPr id="57" name="ls05_process_1_text"/>
          <p:cNvSpPr txBox="1"/>
          <p:nvPr/>
        </p:nvSpPr>
        <p:spPr>
          <a:xfrm>
            <a:off x="1009650" y="3829050"/>
            <a:ext cx="150495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>
                <a:solidFill>
                  <a:srgbClr val="2C5148"/>
                </a:solidFill>
                <a:latin typeface="Aptos"/>
                <a:ea typeface="Aptos"/>
              </a:rPr>
              <a:t>PMI连续两月&gt;50、社融增速回升、盈利预告上修比例改善。</a:t>
            </a:r>
          </a:p>
        </p:txBody>
      </p:sp>
      <p:sp>
        <p:nvSpPr>
          <p:cNvPr id="58" name="ls05_process_2_text"/>
          <p:cNvSpPr txBox="1"/>
          <p:nvPr/>
        </p:nvSpPr>
        <p:spPr>
          <a:xfrm>
            <a:off x="3009900" y="4572000"/>
            <a:ext cx="150495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>
                <a:solidFill>
                  <a:srgbClr val="2C5148"/>
                </a:solidFill>
                <a:latin typeface="Aptos"/>
                <a:ea typeface="Aptos"/>
              </a:rPr>
              <a:t>盈利确认后分批加仓，单周新增风险预算不超过8%。</a:t>
            </a:r>
          </a:p>
        </p:txBody>
      </p:sp>
      <p:sp>
        <p:nvSpPr>
          <p:cNvPr id="59" name="ls05_process_3_text"/>
          <p:cNvSpPr txBox="1"/>
          <p:nvPr/>
        </p:nvSpPr>
        <p:spPr>
          <a:xfrm>
            <a:off x="5010150" y="3829050"/>
            <a:ext cx="150495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>
                <a:solidFill>
                  <a:srgbClr val="2C5148"/>
                </a:solidFill>
                <a:latin typeface="Aptos"/>
                <a:ea typeface="Aptos"/>
              </a:rPr>
              <a:t>美元利率/政策扰动触发时，用黄金和现金缓冲组合回撤。</a:t>
            </a:r>
          </a:p>
        </p:txBody>
      </p:sp>
      <p:sp>
        <p:nvSpPr>
          <p:cNvPr id="60" name="ls05_process_4_text"/>
          <p:cNvSpPr txBox="1"/>
          <p:nvPr/>
        </p:nvSpPr>
        <p:spPr>
          <a:xfrm>
            <a:off x="7010400" y="4572000"/>
            <a:ext cx="1504950" cy="628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30000"/>
              </a:lnSpc>
            </a:pPr>
            <a:r>
              <a:rPr lang="zh-CN" sz="1000">
                <a:solidFill>
                  <a:srgbClr val="2C5148"/>
                </a:solidFill>
                <a:latin typeface="Aptos"/>
                <a:ea typeface="Aptos"/>
              </a:rPr>
              <a:t>月度检查风险贡献，单资产偏离目标5ppt即再平衡。</a:t>
            </a:r>
          </a:p>
        </p:txBody>
      </p:sp>
      <p:sp>
        <p:nvSpPr>
          <p:cNvPr id="61" name="ls05_source_band"/>
          <p:cNvSpPr/>
          <p:nvPr/>
        </p:nvSpPr>
        <p:spPr>
          <a:xfrm>
            <a:off x="723900" y="5829300"/>
            <a:ext cx="10744200" cy="57150"/>
          </a:xfrm>
          <a:prstGeom prst="rect">
            <a:avLst/>
          </a:prstGeom>
          <a:solidFill>
            <a:srgbClr val="187956">
              <a:alpha val="34000"/>
            </a:srgbClr>
          </a:solidFill>
          <a:ln>
            <a:noFill/>
          </a:ln>
        </p:spPr>
      </p:sp>
      <p:sp>
        <p:nvSpPr>
          <p:cNvPr id="62" name="ls05_risk_note"/>
          <p:cNvSpPr txBox="1"/>
          <p:nvPr/>
        </p:nvSpPr>
        <p:spPr>
          <a:xfrm>
            <a:off x="800100" y="5981700"/>
            <a:ext cx="10382250" cy="24765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>
              <a:lnSpc>
                <a:spcPct val="118000"/>
              </a:lnSpc>
            </a:pPr>
            <a:r>
              <a:rPr lang="zh-CN" sz="900">
                <a:solidFill>
                  <a:srgbClr val="2C5148"/>
                </a:solidFill>
                <a:latin typeface="Aptos"/>
                <a:ea typeface="Aptos"/>
              </a:rPr>
              <a:t>风险提示：本页观点基于当前宏观、估值、流动性及政策假设形成，不构成收益承诺；市场波动、政策变化、海外利率路径及模型参数变化可能导致配置建议调整。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ltimate PPTX Theme">
  <a:themeElements>
    <a:clrScheme name="Office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0891B2"/>
      </a:accent5>
      <a:accent6>
        <a:srgbClr val="DC2626"/>
      </a:accent6>
      <a:hlink>
        <a:srgbClr val="2563EB"/>
      </a:hlink>
      <a:folHlink>
        <a:srgbClr val="7C3AED"/>
      </a:folHlink>
    </a:clrScheme>
    <a:fontScheme name="Ultimate PPTX Fonts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Ultimate PPTX Forma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ultimate-pptx-builder</Application>
  <PresentationFormat>On-screen Show (16:9)</PresentationFormat>
  <Slides>5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multi-system-market-atlas-infographic</dc:title>
  <dc:creator>ultimate-pptx-builder</dc:creator>
</cp:coreProperties>
</file>